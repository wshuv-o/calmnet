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82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965960"/>
            <a:ext cx="112745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800"/>
              </a:spcAft>
            </a:pPr>
            <a:r>
              <a:rPr sz="5400" b="1" i="0">
                <a:solidFill>
                  <a:srgbClr val="111111"/>
                </a:solidFill>
                <a:latin typeface="Times New Roman"/>
              </a:rPr>
              <a:t>CALM-Net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041648" y="3035808"/>
            <a:ext cx="411480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3246120"/>
            <a:ext cx="962863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0" i="0">
                <a:solidFill>
                  <a:srgbClr val="111111"/>
                </a:solidFill>
                <a:latin typeface="Times New Roman"/>
              </a:rPr>
              <a:t>A Calibrated, Abstaining, Longitudinal EEG Decoder for Safe Lower-Limb Exoskeleton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5440680"/>
            <a:ext cx="96286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500" b="0" i="0">
                <a:solidFill>
                  <a:srgbClr val="555555"/>
                </a:solidFill>
                <a:latin typeface="Times New Roman"/>
              </a:rPr>
              <a:t>Md Wahiduzzaman Suva  [26-94088-2]</a:t>
            </a:r>
          </a:p>
          <a:p>
            <a:pPr algn="ctr">
              <a:lnSpc>
                <a:spcPct val="110000"/>
              </a:lnSpc>
              <a:spcAft>
                <a:spcPts val="800"/>
              </a:spcAft>
            </a:pPr>
            <a:r>
              <a:rPr sz="1500" b="0" i="0">
                <a:solidFill>
                  <a:srgbClr val="555555"/>
                </a:solidFill>
                <a:latin typeface="Times New Roman"/>
              </a:rPr>
              <a:t>Esme Moula Chowdhury Abha  [26-94089-2]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000" b="0" i="0">
                <a:solidFill>
                  <a:srgbClr val="111111"/>
                </a:solidFill>
                <a:latin typeface="Times New Roman"/>
              </a:rPr>
              <a:t>For someone who cannot walk after a spinal cord injury or stroke, an exoskeleton driven by their own brain activity restores mobility. Only non-invasive EEG requires no surgery, so it is the only version most patients could ever use.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429000"/>
            <a:ext cx="10908792" cy="1234440"/>
          </a:xfrm>
          <a:prstGeom prst="rect">
            <a:avLst/>
          </a:prstGeom>
          <a:solidFill>
            <a:srgbClr val="FFFFFF"/>
          </a:solidFill>
          <a:ln w="1651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tlCol="0" anchor="ctr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 i="0">
                <a:solidFill>
                  <a:srgbClr val="111111"/>
                </a:solidFill>
                <a:latin typeface="Times New Roman"/>
              </a:rPr>
              <a:t>A confident wrong “walk” command at the top of a staircase is a fall, not a rounding error.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Accuracy is the wrong target. 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A machine that moves your legs needs honest confidence and the ability to stop.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Key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360273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28600" rIns="203200" rtlCol="0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1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Times New Roman"/>
              </a:rPr>
              <a:t>What is actually decoded?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The exoskeleton moves the wearer during walking, so accuracy can reflect movement rather than neural intent.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4548" y="1691640"/>
            <a:ext cx="360273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28600" rIns="203200" rtlCol="0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2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Times New Roman"/>
              </a:rPr>
              <a:t>The signal drifts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EEG is non-stationary; a decoder calibrated one day is miscalibrated the next, over weeks of use.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9016" y="1691640"/>
            <a:ext cx="360273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28600" rIns="203200" rtlCol="0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3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Times New Roman"/>
              </a:rPr>
              <a:t>No reject option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Deployed decoders must guess every input; they cannot abstain to a safe stop when unsure.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  <a:spcAft>
                <a:spcPts val="800"/>
              </a:spcAft>
            </a:pPr>
            <a:r>
              <a:rPr sz="2400" b="1" i="0">
                <a:solidFill>
                  <a:srgbClr val="111111"/>
                </a:solidFill>
                <a:latin typeface="Times New Roman"/>
              </a:rPr>
              <a:t>O1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664208"/>
            <a:ext cx="9692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100" b="1" i="0">
                <a:solidFill>
                  <a:srgbClr val="111111"/>
                </a:solidFill>
                <a:latin typeface="Times New Roman"/>
              </a:rPr>
              <a:t>Movement-invariant intent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Decode neural intent provably invariant to the exoskeleton’s own motion.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35224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  <a:spcAft>
                <a:spcPts val="800"/>
              </a:spcAft>
            </a:pPr>
            <a:r>
              <a:rPr sz="2400" b="1" i="0">
                <a:solidFill>
                  <a:srgbClr val="111111"/>
                </a:solidFill>
                <a:latin typeface="Times New Roman"/>
              </a:rPr>
              <a:t>O2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907792"/>
            <a:ext cx="9692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100" b="1" i="0">
                <a:solidFill>
                  <a:srgbClr val="111111"/>
                </a:solidFill>
                <a:latin typeface="Times New Roman"/>
              </a:rPr>
              <a:t>Calibrated across time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Stay honestly calibrated across weeks of drift, without full retraining.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178808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  <a:spcAft>
                <a:spcPts val="800"/>
              </a:spcAft>
            </a:pPr>
            <a:r>
              <a:rPr sz="2400" b="1" i="0">
                <a:solidFill>
                  <a:srgbClr val="111111"/>
                </a:solidFill>
                <a:latin typeface="Times New Roman"/>
              </a:rPr>
              <a:t>O3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4151376"/>
            <a:ext cx="9692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100" b="1" i="0">
                <a:solidFill>
                  <a:srgbClr val="111111"/>
                </a:solidFill>
                <a:latin typeface="Times New Roman"/>
              </a:rPr>
              <a:t>Abstain with a guarantee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Reject low-confidence inputs to a safe stop, with a distribution-free guarantee.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235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1" i="0">
                <a:solidFill>
                  <a:srgbClr val="111111"/>
                </a:solidFill>
                <a:latin typeface="Times New Roman"/>
              </a:rPr>
              <a:t>Overarching question:  </a:t>
            </a:r>
            <a:r>
              <a:rPr sz="1700" b="0" i="1">
                <a:solidFill>
                  <a:srgbClr val="555555"/>
                </a:solidFill>
                <a:latin typeface="Times New Roman"/>
              </a:rPr>
              <a:t>can we trade inflated accuracy for trustworthy, verifiable closed-loop control?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Literature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9700" tIns="165100" rIns="114300" rtlCol="0" anchor="t"/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111111"/>
                </a:solidFill>
                <a:latin typeface="Times New Roman"/>
              </a:rPr>
              <a:t>Lower-limb exoskeleton BCI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NeuroRex dataset  [Sarkar 2026]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Deep-learning control  [Ferrero 2024]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Exo error potentials  [Soriano 2025]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Robot-assisted gait  [Tortora 2023]</a:t>
            </a:r>
          </a:p>
        </p:txBody>
      </p:sp>
      <p:sp>
        <p:nvSpPr>
          <p:cNvPr id="6" name="Rectangle 5"/>
          <p:cNvSpPr/>
          <p:nvPr/>
        </p:nvSpPr>
        <p:spPr>
          <a:xfrm>
            <a:off x="3395167" y="150876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9700" tIns="165100" rIns="114300" rtlCol="0" anchor="t"/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111111"/>
                </a:solidFill>
                <a:latin typeface="Times New Roman"/>
              </a:rPr>
              <a:t>Motor-imagery decoders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EEG-Conformer  [Song 2023]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EEGNet  [Lawhern 2018]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Riemannian geom.  [Barachant 2012]</a:t>
            </a:r>
          </a:p>
        </p:txBody>
      </p:sp>
      <p:sp>
        <p:nvSpPr>
          <p:cNvPr id="7" name="Rectangle 6"/>
          <p:cNvSpPr/>
          <p:nvPr/>
        </p:nvSpPr>
        <p:spPr>
          <a:xfrm>
            <a:off x="6150254" y="150876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9700" tIns="165100" rIns="114300" rtlCol="0" anchor="t"/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111111"/>
                </a:solidFill>
                <a:latin typeface="Times New Roman"/>
              </a:rPr>
              <a:t>Calibration, uncertainty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Adaptive conformal  [Gibbs 2021]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Conformal pred.  [Angelopoulos 2023]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EEG uncertainty  [Tveter 2024]</a:t>
            </a:r>
          </a:p>
        </p:txBody>
      </p:sp>
      <p:sp>
        <p:nvSpPr>
          <p:cNvPr id="8" name="Rectangle 7"/>
          <p:cNvSpPr/>
          <p:nvPr/>
        </p:nvSpPr>
        <p:spPr>
          <a:xfrm>
            <a:off x="8905341" y="150876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9700" tIns="165100" rIns="114300" rtlCol="0" anchor="t"/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111111"/>
                </a:solidFill>
                <a:latin typeface="Times New Roman"/>
              </a:rPr>
              <a:t>Drift and abstention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Deep adaptation  [Zhang 2023]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Reject-option  [Hendrickx 2024]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</a:rPr>
              <a:t>Selective class.  [Geifman 2017]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343400"/>
            <a:ext cx="10908792" cy="1463040"/>
          </a:xfrm>
          <a:prstGeom prst="rect">
            <a:avLst/>
          </a:prstGeom>
          <a:solidFill>
            <a:srgbClr val="FFFFFF"/>
          </a:solidFill>
          <a:ln w="2032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0" rIns="254000" rtlCol="0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Times New Roman"/>
              </a:rPr>
              <a:t>RESEARCH GAP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Times New Roman"/>
              </a:rPr>
              <a:t>Rich multimodal exoskeleton datasets now exist, yet no prior work joins movement disentanglement, cross-session calibration, and safety-asymmetric abstention in one closed-loop decoder.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050" b="0" i="1">
                <a:solidFill>
                  <a:srgbClr val="555555"/>
                </a:solidFill>
                <a:latin typeface="Times New Roman"/>
              </a:rPr>
              <a:t>Citations shown as [first author, year]; the paper cites 11 lower-limb exoskeleton BCI works and 41 references in total.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Proposed Method: CALM-Net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alm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371600"/>
            <a:ext cx="10607040" cy="43012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064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A multimodal pipeline: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a neuro-kinematic encoder, motion-invariant disentanglement, longitudinal self-calibration, and a safety-asymmetric decision that defaults to Stop.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Proposed Method: Core Idea and Hypothesis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Record movement alongside EEG: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the head and exoskeleton IMUs give a 12-D motion signal.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Adversarial disentanglement (MID):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force the neural code to be statistically independent of that motion.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Decide from the invariant part only: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the classifier never sees the movement-coupled features.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Add honesty and safety: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temperature scaling with adaptive conformal, then abstain to Stop when unsure.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892040"/>
            <a:ext cx="10908792" cy="1325880"/>
          </a:xfrm>
          <a:prstGeom prst="rect">
            <a:avLst/>
          </a:prstGeom>
          <a:solidFill>
            <a:srgbClr val="FFFFFF"/>
          </a:solidFill>
          <a:ln w="1651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111111"/>
                </a:solidFill>
                <a:latin typeface="Times New Roman"/>
              </a:rPr>
              <a:t>HYPOTHESIS   </a:t>
            </a:r>
            <a:r>
              <a:rPr sz="1800" b="0" i="1">
                <a:solidFill>
                  <a:srgbClr val="111111"/>
                </a:solidFill>
                <a:latin typeface="Times New Roman"/>
              </a:rPr>
              <a:t>Disentangling movement, calibrating across sessions, and abstaining under uncertainty yields an honest, safe decoder that trades inflated accuracy for trustworthy control.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Preliminary Analysis: Movement Confound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hook_b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19"/>
            <a:ext cx="5760720" cy="42016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37960" y="1737360"/>
            <a:ext cx="521208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1" i="0">
                <a:solidFill>
                  <a:srgbClr val="111111"/>
                </a:solidFill>
                <a:latin typeface="Times New Roman"/>
              </a:rPr>
              <a:t>The exoskeleton physically moves the wearer during walk.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700" b="0" i="0">
                <a:solidFill>
                  <a:srgbClr val="555555"/>
                </a:solidFill>
                <a:latin typeface="Times New Roman"/>
              </a:rPr>
              <a:t>A motion sensor with </a:t>
            </a:r>
            <a:r>
              <a:rPr sz="1700" b="1" i="0">
                <a:solidFill>
                  <a:srgbClr val="111111"/>
                </a:solidFill>
                <a:latin typeface="Times New Roman"/>
              </a:rPr>
              <a:t>no brain data</a:t>
            </a:r>
            <a:r>
              <a:rPr sz="1700" b="0" i="0">
                <a:solidFill>
                  <a:srgbClr val="555555"/>
                </a:solidFill>
                <a:latin typeface="Times New Roman"/>
              </a:rPr>
              <a:t> scores </a:t>
            </a:r>
            <a:r>
              <a:rPr sz="1700" b="1" i="0">
                <a:solidFill>
                  <a:srgbClr val="111111"/>
                </a:solidFill>
                <a:latin typeface="Times New Roman"/>
              </a:rPr>
              <a:t>0.92</a:t>
            </a:r>
            <a:r>
              <a:rPr sz="1700" b="0" i="0">
                <a:solidFill>
                  <a:srgbClr val="555555"/>
                </a:solidFill>
                <a:latin typeface="Times New Roman"/>
              </a:rPr>
              <a:t>, above the best EEG decoder (0.84).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800" b="1" i="0">
                <a:solidFill>
                  <a:srgbClr val="111111"/>
                </a:solidFill>
                <a:latin typeface="Times New Roman"/>
              </a:rPr>
              <a:t>So the reported accuracy is largely the confound. This is exactly why we decode a movement-invariant signal.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Preliminary Results: Architectures Compared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0" i="1">
                <a:solidFill>
                  <a:srgbClr val="555555"/>
                </a:solidFill>
                <a:latin typeface="Times New Roman"/>
              </a:rPr>
              <a:t>Balanced accuracy, mean over 7 subjects, identical longitudinal protocol. For reference, an IMU sensor with no brain data scores 0.84.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74519"/>
          <a:ext cx="10908792" cy="2377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70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Times New Roman"/>
                        </a:rPr>
                        <a:t>EEGNet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Times New Roman"/>
                        </a:rPr>
                        <a:t>Band-power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Times New Roman"/>
                        </a:rPr>
                        <a:t>Riemannian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Times New Roman"/>
                        </a:rPr>
                        <a:t>Graph net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Times New Roman"/>
                        </a:rPr>
                        <a:t>Conformer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111111"/>
                          </a:solidFill>
                          <a:latin typeface="Times New Roman"/>
                        </a:rPr>
                        <a:t>Parameters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</a:rPr>
                        <a:t>4.8 k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</a:rPr>
                        <a:t>4.0 k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</a:rPr>
                        <a:t>8.4 k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</a:rPr>
                        <a:t>341 k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111111"/>
                          </a:solidFill>
                          <a:latin typeface="Times New Roman"/>
                        </a:rPr>
                        <a:t>Standard protocol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</a:rPr>
                        <a:t>0.81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</a:rPr>
                        <a:t>0.81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</a:rPr>
                        <a:t>0.81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</a:rPr>
                        <a:t>0.84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</a:rPr>
                        <a:t>0.83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111111"/>
                          </a:solidFill>
                          <a:latin typeface="Times New Roman"/>
                        </a:rPr>
                        <a:t>Movement-invariant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Times New Roman"/>
                        </a:rPr>
                        <a:t>0.65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Times New Roman"/>
                        </a:rPr>
                        <a:t>0.65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Times New Roman"/>
                        </a:rPr>
                        <a:t>0.65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Times New Roman"/>
                        </a:rPr>
                        <a:t>0.69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111111"/>
                          </a:solidFill>
                          <a:latin typeface="Times New Roman"/>
                        </a:rPr>
                        <a:t>Motion recoverable  R²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</a:rPr>
                        <a:t>−0.38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</a:rPr>
                        <a:t>−0.31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</a:rPr>
                        <a:t>−0.47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</a:rPr>
                        <a:t>−0.04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1874519"/>
            <a:ext cx="10908792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350008"/>
            <a:ext cx="10908792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4251960"/>
            <a:ext cx="10908792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4553712"/>
            <a:ext cx="10908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 i="1">
                <a:solidFill>
                  <a:srgbClr val="555555"/>
                </a:solidFill>
                <a:latin typeface="Times New Roman"/>
              </a:rPr>
              <a:t>Motion R² below zero means the exoskeleton’s motion is no longer recoverable from the neural code.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56048"/>
            <a:ext cx="1090879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Takeaway: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every neural architecture collapses to about 0.65 once movement is removed, and none clearly wins.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The contribution is the framework, not raw accuracy: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adaptive-conformal coverage held at 0.90 (7 / 7) and wrong-walk error fell from 0.14 to 0.05.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Per-Subject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0" i="1">
                <a:solidFill>
                  <a:srgbClr val="555555"/>
                </a:solidFill>
                <a:latin typeface="Times New Roman"/>
              </a:rPr>
              <a:t>Full CALM-Net pipeline, longitudinal (train on sessions 1 to 3, test on the later 6). Coverage target 0.90.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10908792" cy="36758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0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08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408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111111"/>
                          </a:solidFill>
                          <a:latin typeface="Times New Roman"/>
                        </a:rPr>
                        <a:t>Subject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111111"/>
                          </a:solidFill>
                          <a:latin typeface="Times New Roman"/>
                        </a:rPr>
                        <a:t>Span (days)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111111"/>
                          </a:solidFill>
                          <a:latin typeface="Times New Roman"/>
                        </a:rPr>
                        <a:t>IMU-only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111111"/>
                          </a:solidFill>
                          <a:latin typeface="Times New Roman"/>
                        </a:rPr>
                        <a:t>Invariant acc.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111111"/>
                          </a:solidFill>
                          <a:latin typeface="Times New Roman"/>
                        </a:rPr>
                        <a:t>Coverage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Times New Roman"/>
                        </a:rPr>
                        <a:t>S01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Times New Roman"/>
                        </a:rPr>
                        <a:t>21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Times New Roman"/>
                        </a:rPr>
                        <a:t>0.86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Times New Roman"/>
                        </a:rPr>
                        <a:t>0.79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Times New Roman"/>
                        </a:rPr>
                        <a:t>0.90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Times New Roman"/>
                        </a:rPr>
                        <a:t>S02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Times New Roman"/>
                        </a:rPr>
                        <a:t>15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Times New Roman"/>
                        </a:rPr>
                        <a:t>0.79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Times New Roman"/>
                        </a:rPr>
                        <a:t>0.52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Times New Roman"/>
                        </a:rPr>
                        <a:t>0.90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Times New Roman"/>
                        </a:rPr>
                        <a:t>S03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Times New Roman"/>
                        </a:rPr>
                        <a:t>14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Times New Roman"/>
                        </a:rPr>
                        <a:t>0.98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Times New Roman"/>
                        </a:rPr>
                        <a:t>0.77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Times New Roman"/>
                        </a:rPr>
                        <a:t>0.91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Times New Roman"/>
                        </a:rPr>
                        <a:t>S04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Times New Roman"/>
                        </a:rPr>
                        <a:t>35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Times New Roman"/>
                        </a:rPr>
                        <a:t>0.96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Times New Roman"/>
                        </a:rPr>
                        <a:t>0.70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Times New Roman"/>
                        </a:rPr>
                        <a:t>0.90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Times New Roman"/>
                        </a:rPr>
                        <a:t>S05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Times New Roman"/>
                        </a:rPr>
                        <a:t>44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Times New Roman"/>
                        </a:rPr>
                        <a:t>0.89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Times New Roman"/>
                        </a:rPr>
                        <a:t>0.66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Times New Roman"/>
                        </a:rPr>
                        <a:t>0.90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Times New Roman"/>
                        </a:rPr>
                        <a:t>S06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Times New Roman"/>
                        </a:rPr>
                        <a:t>80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Times New Roman"/>
                        </a:rPr>
                        <a:t>0.56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Times New Roman"/>
                        </a:rPr>
                        <a:t>0.70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Times New Roman"/>
                        </a:rPr>
                        <a:t>0.91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Times New Roman"/>
                        </a:rPr>
                        <a:t>S07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Times New Roman"/>
                        </a:rPr>
                        <a:t>39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Times New Roman"/>
                        </a:rPr>
                        <a:t>0.83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Times New Roman"/>
                        </a:rPr>
                        <a:t>0.73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Times New Roman"/>
                        </a:rPr>
                        <a:t>0.90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Times New Roman"/>
                        </a:rPr>
                        <a:t>Mean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11111"/>
                          </a:solidFill>
                          <a:latin typeface="Times New Roman"/>
                        </a:rPr>
                        <a:t>0.84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11111"/>
                          </a:solidFill>
                          <a:latin typeface="Times New Roman"/>
                        </a:rPr>
                        <a:t>0.69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11111"/>
                          </a:solidFill>
                          <a:latin typeface="Times New Roman"/>
                        </a:rPr>
                        <a:t>0.90</a:t>
                      </a:r>
                    </a:p>
                  </a:txBody>
                  <a:tcPr marL="127000" marR="76200" marT="25400" marB="254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1828800"/>
            <a:ext cx="10908792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10908792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5102352"/>
            <a:ext cx="10908792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5504688"/>
            <a:ext cx="10908792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5532120"/>
            <a:ext cx="1090879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 i="0">
                <a:solidFill>
                  <a:srgbClr val="111111"/>
                </a:solidFill>
                <a:latin typeface="Times New Roman"/>
              </a:rPr>
              <a:t>S03: </a:t>
            </a:r>
            <a:r>
              <a:rPr sz="1500" b="0" i="0">
                <a:solidFill>
                  <a:srgbClr val="555555"/>
                </a:solidFill>
                <a:latin typeface="Times New Roman"/>
              </a:rPr>
              <a:t>a motion sensor alone scores 0.98, yet the movement-invariant decode is 0.77; the gap is the confound being removed.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 i="0">
                <a:solidFill>
                  <a:srgbClr val="111111"/>
                </a:solidFill>
                <a:latin typeface="Times New Roman"/>
              </a:rPr>
              <a:t>S06: </a:t>
            </a:r>
            <a:r>
              <a:rPr sz="1500" b="0" i="0">
                <a:solidFill>
                  <a:srgbClr val="555555"/>
                </a:solidFill>
                <a:latin typeface="Times New Roman"/>
              </a:rPr>
              <a:t>motion is uninformative (0.56), yet EEG still decodes 0.70, genuine neural signal. Coverage holds near 0.90 for every subject, across spans up to 80 days.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0" i="1">
                <a:solidFill>
                  <a:srgbClr val="555555"/>
                </a:solidFill>
                <a:latin typeface="Times New Roman"/>
              </a:rPr>
              <a:t>Works cited in the literature review, keyed to the [author, year] tags on slide 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44068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[Sarkar 2026]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S. Sarkar et al., “EEG-controlled exoskeleton for walking and standing: a longitudinal multimodal dataset,” Sci. Data, 2026. (OpenNeuro ds007788)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[Ferrero 2024]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L. Ferrero et al., “Brain-machine interface based on deep learning to control a lower-limb robotic exoskeleton,” J. NeuroEng. Rehabil., 21(48), 2024.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[Soriano 2025]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P. Soriano-Segura, M. Ortiz et al., “Characterization of error-related potentials during exoskeleton command via deep learning,” J. NeuroEng. Rehabil., 2025.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[Tortora 2023]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S. Tortora et al., “Cortical and muscular activity under robot-assisted gait modes during exoskeleton walking,” 2023.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[Song 2023]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Y. Song et al., “EEG Conformer: convolutional transformer for EEG decoding and visualization,” IEEE TNSRE, 31:710-719, 2023.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[Lawhern 2018]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V. J. Lawhern et al., “EEGNet: a compact CNN for EEG-based brain-computer interfaces,” J. Neural Eng., 15(5), 2018.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[Barachant 2012]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A. Barachant et al., “Multiclass brain-computer interface classification by Riemannian geometry,” IEEE TBME, 59(4), 2012.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83080"/>
            <a:ext cx="525780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[Gibbs 2021]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I. Gibbs and E. Candès, “Adaptive conformal inference under distribution shift,” NeurIPS, 2021.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[Angelopoulos 2023]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A. N. Angelopoulos and S. Bates, “Conformal prediction: a gentle introduction,” Found. Trends Mach. Learn., 16(4), 2023.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[Tveter 2024]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M. Tveter et al., “Advancing EEG prediction with deep learning and uncertainty estimation,” Brain Inform., 11(27), 2024.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[Zhang 2023]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X. Zhang et al., “Priming cross-session motor-imagery classification with a universal deep domain-adaptation framework,” Neurocomputing, 556, 2023.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[Hendrickx 2024]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K. Hendrickx et al., “Machine learning with a reject option: a survey,” Mach. Learn., 113(5), 2024.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[Geifman 2017]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Y. Geifman and R. El-Yaniv, “Selective classification for deep neural networks,” NeurIPS, 2017.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1241</Words>
  <Application>Microsoft Office PowerPoint</Application>
  <PresentationFormat>Widescreen</PresentationFormat>
  <Paragraphs>159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Shuvo</dc:creator>
  <cp:keywords/>
  <dc:description>generated using python-pptx</dc:description>
  <cp:lastModifiedBy>Wahiduzzaman Suva</cp:lastModifiedBy>
  <cp:revision>1</cp:revision>
  <dcterms:created xsi:type="dcterms:W3CDTF">2013-01-27T09:14:16Z</dcterms:created>
  <dcterms:modified xsi:type="dcterms:W3CDTF">2026-09-17T13:50:22Z</dcterms:modified>
  <cp:category/>
</cp:coreProperties>
</file>