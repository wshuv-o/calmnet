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2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65960"/>
            <a:ext cx="112745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5400" b="1" i="0">
                <a:solidFill>
                  <a:srgbClr val="111111"/>
                </a:solidFill>
                <a:latin typeface="Times New Roman"/>
              </a:rPr>
              <a:t>CALM-Net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41648" y="3035808"/>
            <a:ext cx="411480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62863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400" b="0" i="0">
                <a:solidFill>
                  <a:srgbClr val="111111"/>
                </a:solidFill>
                <a:latin typeface="Times New Roman"/>
              </a:rPr>
              <a:t>Label-Free Covariance Alignment for Longitudinal EEG Decoding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555555"/>
                </a:solidFill>
                <a:latin typeface="Times New Roman"/>
              </a:rPr>
              <a:t>Midterm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440680"/>
            <a:ext cx="96286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Md Wahiduzzaman Suva  [26-94088-2]</a:t>
            </a:r>
          </a:p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Esme Moula Chowdhury Abha  [26-94089-2]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Times New Roman"/>
              </a:rPr>
              <a:t>Supervisor: Dr. Muhammad Hasibur Rashid Chayon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Lower-limb exoskeletons controlled by non-invasive EEG can restore walking for people with spinal cord injury or stroke. A decoder is trained once but must operate across sessions recorded over several weeks.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Changes in electrode placement and impedance between sessions alter the EEG signal statistics that a trained decoder relies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This work: 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a compact EEG decoder that adapts to each new session without labels, evaluated on three EEG 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Research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Session drift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Electrode position and impedance change between sessions, shifting the signal statistics a trained decoder depends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Movement artefact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Walking produces motion and muscle activity that can mix with the EEG recording.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Reliable decisions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Exoskeleton control needs consistent accuracy across sessions and well-calibrated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664208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Adaptive alignment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Design an alignment layer that corrects session drift without labels, during training and at test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35224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07792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Accurate and calibrated decoding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Achieve accuracy comparable to published decoders with a compact model and calibrated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78808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400" b="1" i="0">
                <a:solidFill>
                  <a:srgbClr val="111111"/>
                </a:solidFill>
                <a:latin typeface="Times New Roman"/>
              </a:rPr>
              <a:t>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151376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100" b="1" i="0">
                <a:solidFill>
                  <a:srgbClr val="111111"/>
                </a:solidFill>
                <a:latin typeface="Times New Roman"/>
              </a:rPr>
              <a:t>A design rule for adaptation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Derive and validate a rule, read from the recording protocol, that sets the adaptation rate of the alignment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Research question:  </a:t>
            </a:r>
            <a:r>
              <a:rPr sz="1700" b="0" i="1">
                <a:solidFill>
                  <a:srgbClr val="555555"/>
                </a:solidFill>
                <a:latin typeface="Times New Roman"/>
              </a:rPr>
              <a:t>can a compact decoder adapt to session drift without labels while remaining accurate and reliable?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04104" cy="32461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Exoskeleton BCI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Released a longitudinal dataset of seven healthy participants walking and standing with an EEG-controlled exoskeleton over nine sessions, with synchronised EEG, EOG, inertial and exoskeleton recordings.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Achieved closed-loop, asynchronous walk and stop control of a lower-limb exoskeleton with a deep-learning decoder; transfer learning shortened the calibration recorded in each session.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Characterised error-related potentials evoked while commanding a lower-limb exoskeleton and detected them with deep learning, as a safety signal for the interface.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Examined how cortical and muscular activity change across robot-assisted gait modes during exoskeleton walking.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463040"/>
            <a:ext cx="5404104" cy="32461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EEG decoding models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[Schirrmeister 2017]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Showed that deep and shallow convolutional networks decode movement-related EEG, with the shallow network learning the band-power features of filter-bank common spatial patterns.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Introduced EEGNet, which uses depthwise and separable convolutions to reduce the parameter count by an order of magnitude and performs well across four BCI paradigms.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EEG Conformer, which adds a transformer encoder to a convolutional stem so that local and long-range temporal features are learned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37176"/>
            <a:ext cx="10908792" cy="1014984"/>
          </a:xfrm>
          <a:prstGeom prst="rect">
            <a:avLst/>
          </a:prstGeom>
          <a:solidFill>
            <a:srgbClr val="FFFFFF"/>
          </a:solidFill>
          <a:ln w="2032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SUMMARY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Exoskeleton control from EEG is well established, and compact convolutional decoders are the standard models. Their spatial filters are learned during training and stay fixed in later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full entries are listed on the References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Literature Review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04104" cy="30175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Covariance-based alignment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Represented each EEG trial by its spatial covariance matrix and classified trials by Riemannian distance to the mean covariance of each class.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[He 2020]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Euclidean alignment, which whitens the trials of each subject or session by the inverse square root of their mean covariance, so that recordings become comparable without labels.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[Rodrigues 2019]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Riemannian Procrustes analysis, which re-centres, stretches and rotates covariance distributions to transfer a classifier between subjects and sessions.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463040"/>
            <a:ext cx="5404104" cy="30175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65100" rIns="114300" rtlCol="0" anchor="t"/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Test-time adaptation and selective prediction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[Wang 2021]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Tent, which updates the normalisation parameters of a network on unlabelled test data by minimising the entropy of its predictions.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[Gong 2022]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NOTE for temporally correlated test streams, combining instance-aware batch normalisation with a prediction-balanced memory of test samples.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00" b="1" i="0">
                <a:solidFill>
                  <a:srgbClr val="111111"/>
                </a:solidFill>
                <a:latin typeface="Times New Roman"/>
              </a:rPr>
              <a:t>[Geifman 2019]  </a:t>
            </a:r>
            <a:r>
              <a:rPr sz="1300" b="0" i="0">
                <a:solidFill>
                  <a:srgbClr val="555555"/>
                </a:solidFill>
                <a:latin typeface="Times New Roman"/>
              </a:rPr>
              <a:t>Proposed SelectiveNet, which trains a classifier together with a selection head that abstains on uncertain inputs at a chosen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08576"/>
            <a:ext cx="10908792" cy="1243584"/>
          </a:xfrm>
          <a:prstGeom prst="rect">
            <a:avLst/>
          </a:prstGeom>
          <a:solidFill>
            <a:srgbClr val="FFFFFF"/>
          </a:solidFill>
          <a:ln w="2032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rIns="254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Existing alignment methods operate offline on complete recordings. This work places alignment inside the network, adapts it online without labels, and provides a rule for choosing its adaptation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050" b="0" i="1">
                <a:solidFill>
                  <a:srgbClr val="555555"/>
                </a:solidFill>
                <a:latin typeface="Times New Roman"/>
              </a:rPr>
              <a:t>Citations shown as [first author, year]; full entries are listed on the References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Proposed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Proposed decoder (24,181 parameters):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an adaptive alignment layer, a multi-scale power stem, an optional cross-epoch context module and a selective classification head.</a:t>
            </a:r>
          </a:p>
        </p:txBody>
      </p:sp>
      <p:pic>
        <p:nvPicPr>
          <p:cNvPr id="7" name="Picture 6" descr="fig_arch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1006"/>
            <a:ext cx="10607040" cy="3198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Adaptive Alignment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Running covariance estimate: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an exponential moving average of the spatial covariance of incoming EEG windows.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Whitening: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each window is multiplied by the inverse square root of that estimate before feature extraction.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Label-free adaptation: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estimate continues to update on new sessions without labels.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Adaptation rate rule: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estimator memory is set longer than the class block length of the recording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KEY IDEA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Session drift is corrected inside the network, and the recording protocol determines the adaptation rate before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Datasets and 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Exoskeleton EEG  [Sarkar 2026]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7 participants, 9 sessions over several weeks. Trained on sessions 1 to 3 and tested on sessions 4 to 9.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4548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B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Treadmill walking  [Luu 2017]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8 participants with 3 trials each, recorded in an independent laboratory.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9016" y="1691640"/>
            <a:ext cx="3602736" cy="338328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28600" rIns="203200" rtlCol="0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Times New Roman"/>
              </a:rPr>
              <a:t>Motor execution  [Schalk 2004]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Times New Roman"/>
              </a:rPr>
              <a:t>20 participants from PhysioNet EEGMMIDB, with the analysis plan registered before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111111"/>
                </a:solidFill>
                <a:latin typeface="Times New Roman"/>
              </a:rPr>
              <a:t>Protocol:  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8 to 30 Hz filtering, AdamW optimisation with early stopping, and three data-split seeds; seven published decoders trained with identical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Session Drift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Drift reduced in all 15 participants: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the alignment layer reduces the covariance distance between sessions by 45.9 % on cohort A and 62.5 % on cohort B, while a control without updates leaves it unchanged.</a:t>
            </a:r>
          </a:p>
        </p:txBody>
      </p:sp>
      <p:pic>
        <p:nvPicPr>
          <p:cNvPr id="7" name="Picture 6" descr="fig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511" y="1417320"/>
            <a:ext cx="987907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Per-Participant Drift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Riemannian distance between the training-session covariance and the test sessions, before and after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087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A: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38.7 to 51.2 % reduction for each participant.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111"/>
                </a:solidFill>
                <a:latin typeface="Times New Roman"/>
              </a:rPr>
              <a:t>Cohort B:  </a:t>
            </a:r>
            <a:r>
              <a:rPr sz="1500" b="0" i="0">
                <a:solidFill>
                  <a:srgbClr val="555555"/>
                </a:solidFill>
                <a:latin typeface="Times New Roman"/>
              </a:rPr>
              <a:t>43.8 to 82.1 % reduction for each participant.</a:t>
            </a:r>
          </a:p>
        </p:txBody>
      </p:sp>
      <p:pic>
        <p:nvPicPr>
          <p:cNvPr id="12" name="Picture 11" descr="tab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57" y="1783080"/>
            <a:ext cx="374143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Comparison with Baseline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Balanced accuracy (Acc) and expected calibration error (ECE), mean over three data-split seeds; all models trained in the same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† below 0.55 accuracy for at least five of twenty participants on one seed.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38928"/>
            <a:ext cx="10908792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Cohort A: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0.868 balanced accuracy, comparable to the best baseline (0.876), with fewer parameters than six of the seven baselines.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Cohorts C and B: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highest accuracy on cohort C (0.796); on cohort B, with alignment set by the protocol rule, 0.729, second of eight models.</a:t>
            </a:r>
          </a:p>
        </p:txBody>
      </p:sp>
      <p:pic>
        <p:nvPicPr>
          <p:cNvPr id="12" name="Picture 11" descr="tab_compar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15" y="1783080"/>
            <a:ext cx="79663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Alignment Estimate During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Estimate trajectory, one participant per cohort: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with short class blocks (cohort A) the estimate stays between the class covariances; with long class blocks (cohort B) it follows the active class, the case the adaptation rate rule addresses.</a:t>
            </a:r>
          </a:p>
        </p:txBody>
      </p:sp>
      <p:pic>
        <p:nvPicPr>
          <p:cNvPr id="7" name="Picture 6" descr="fig_class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49" y="1325880"/>
            <a:ext cx="639939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Adaptation Rate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B, three data-split seeds: balanced accuracy of align + gate at four adaptation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08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Effect of the rate: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lengthening the estimator memory from 160 to 3200 windows raises accuracy from 0.580 to 0.698, as the adaptation rate rule predicts.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Protocol rule: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when class blocks are longer than the estimator memory, the rule selects the configuration without alignment, which reaches 0.729 on this cohort.</a:t>
            </a:r>
          </a:p>
        </p:txBody>
      </p:sp>
      <p:pic>
        <p:nvPicPr>
          <p:cNvPr id="12" name="Picture 11" descr="tab_ratecurv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752" y="1828800"/>
            <a:ext cx="5178014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Prospective Validation on Cohort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Predictions registered before any model was trained on cohort C; balanced accuracy, seed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08792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Both predictions confirmed: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enabling alignment preserved accuracy (+0.002), and a slower adaptation rate brought no change, as the rule predicts for short class blocks.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Replication: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two additional data-split seeds support the same conclusions.</a:t>
            </a:r>
          </a:p>
        </p:txBody>
      </p:sp>
      <p:pic>
        <p:nvPicPr>
          <p:cNvPr id="12" name="Picture 11" descr="tab_prer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5917"/>
            <a:ext cx="9966960" cy="1606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0" i="1">
                <a:solidFill>
                  <a:srgbClr val="555555"/>
                </a:solidFill>
                <a:latin typeface="Times New Roman"/>
              </a:rPr>
              <a:t>Cohort A, three data-split seeds.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109087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0" i="1">
                <a:solidFill>
                  <a:srgbClr val="555555"/>
                </a:solidFill>
                <a:latin typeface="Times New Roman"/>
              </a:rPr>
              <a:t>FA/min: spurious activations per minute of standing. Acc@90: accuracy at 90 %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10908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Alignment layer: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adding alignment raises balanced accuracy from 0.842 (gate only) to 0.868.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Cross-epoch context: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reduces spurious activations from 1.60 to 1.16 per minute of standing.</a:t>
            </a:r>
          </a:p>
        </p:txBody>
      </p:sp>
      <p:pic>
        <p:nvPicPr>
          <p:cNvPr id="12" name="Picture 11" descr="tab_ablation3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30880"/>
            <a:ext cx="8869680" cy="20818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Artefact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737360"/>
            <a:ext cx="521208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Accuracy after ICA artefact removal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Eye, muscle and other non-neural components were removed with ICLabel [Pion-Tonachini 2019] before retraining the decoder.</a:t>
            </a:r>
          </a:p>
          <a:p>
            <a:pPr algn="l">
              <a:lnSpc>
                <a:spcPct val="118000"/>
              </a:lnSpc>
              <a:spcAft>
                <a:spcPts val="1200"/>
              </a:spcAft>
            </a:pPr>
            <a:r>
              <a:rPr sz="1700" b="0" i="0">
                <a:solidFill>
                  <a:srgbClr val="555555"/>
                </a:solidFill>
                <a:latin typeface="Times New Roman"/>
              </a:rPr>
              <a:t>Mean balanced accuracy remains at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0.785</a:t>
            </a:r>
            <a:r>
              <a:rPr sz="1700" b="0" i="0">
                <a:solidFill>
                  <a:srgbClr val="555555"/>
                </a:solidFill>
                <a:latin typeface="Times New Roman"/>
              </a:rPr>
              <a:t>, well above chance, and the change for each participant is unrelated to the number of muscle components removed.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800" b="1" i="0">
                <a:solidFill>
                  <a:srgbClr val="111111"/>
                </a:solidFill>
                <a:latin typeface="Times New Roman"/>
              </a:rPr>
              <a:t>The results are consistent with decoding from neural EEG activity.</a:t>
            </a:r>
          </a:p>
        </p:txBody>
      </p:sp>
      <p:pic>
        <p:nvPicPr>
          <p:cNvPr id="7" name="Picture 6" descr="tab_arte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8321"/>
            <a:ext cx="5760720" cy="26128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Scalp Topography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One participant, 8 to 30 Hz power:  </a:t>
            </a:r>
            <a:r>
              <a:rPr sz="1600" b="0" i="0">
                <a:solidFill>
                  <a:srgbClr val="555555"/>
                </a:solidFill>
                <a:latin typeface="Times New Roman"/>
              </a:rPr>
              <a:t>power decreases over sensorimotor electrodes during walking, consistent with mu and beta desynchronisation during movement.</a:t>
            </a:r>
          </a:p>
        </p:txBody>
      </p:sp>
      <p:pic>
        <p:nvPicPr>
          <p:cNvPr id="7" name="Picture 6" descr="fig_topogra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88306"/>
            <a:ext cx="10607040" cy="34642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Cohort size: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three datasets include 7, 8 and 20 participants.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Offline evaluation: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all results are from recorded datasets; closed-loop testing is planned.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Architecture development: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architecture is under active development, and further variants will be evaluated.</a:t>
            </a:r>
          </a:p>
          <a:p>
            <a:pPr algn="l">
              <a:lnSpc>
                <a:spcPct val="118000"/>
              </a:lnSpc>
              <a:spcAft>
                <a:spcPts val="13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•  Adaptation rate selection: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 the rate is currently set by a rule and could be learned from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FFFFFF"/>
          </a:solidFill>
          <a:ln w="165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 i="0">
                <a:solidFill>
                  <a:srgbClr val="111111"/>
                </a:solidFill>
                <a:latin typeface="Times New Roman"/>
              </a:rPr>
              <a:t>FUTURE WORK   </a:t>
            </a:r>
            <a:r>
              <a:rPr sz="1800" b="0" i="1">
                <a:solidFill>
                  <a:srgbClr val="111111"/>
                </a:solidFill>
                <a:latin typeface="Times New Roman"/>
              </a:rPr>
              <a:t>Real-time evaluation with an exoskeleton, larger cohorts, and recording protocols designed to refine the adaptation rate rule.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0" i="0">
                <a:solidFill>
                  <a:srgbClr val="111111"/>
                </a:solidFill>
                <a:latin typeface="Times New Roman"/>
              </a:rPr>
              <a:t>This work presents a compact EEG decoder with an adaptive alignment layer that corrects session drift without labels.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908792" cy="1234440"/>
          </a:xfrm>
          <a:prstGeom prst="rect">
            <a:avLst/>
          </a:prstGeom>
          <a:solidFill>
            <a:srgbClr val="FFFFFF"/>
          </a:solidFill>
          <a:ln w="165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>
                <a:solidFill>
                  <a:srgbClr val="111111"/>
                </a:solidFill>
                <a:latin typeface="Times New Roman"/>
              </a:rPr>
              <a:t>The decoder reduces session drift by 46 % to 63 %, achieves accuracy comparable to published decoders, and follows a protocol-based rule confirmed prospectively.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900" b="1" i="0">
                <a:solidFill>
                  <a:srgbClr val="111111"/>
                </a:solidFill>
                <a:latin typeface="Times New Roman"/>
              </a:rPr>
              <a:t>Outlook:  </a:t>
            </a:r>
            <a:r>
              <a:rPr sz="1900" b="0" i="0">
                <a:solidFill>
                  <a:srgbClr val="555555"/>
                </a:solidFill>
                <a:latin typeface="Times New Roman"/>
              </a:rPr>
              <a:t>the approach supports longitudinal use of EEG-controlled exoskeletons with less recalibration.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11111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908792" cy="177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</a:rPr>
              <a:t>Works cited on these slides, keyed to their [author, year]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44068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[Sarkar 2026]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Sarkar et al., “EEG-controlled exoskeleton for walking and standing: a longitudinal multimodal dataset,” Sci. Data, 2026. (OpenNeuro ds007788)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[Ferrero 2024]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Ferrero et al., “Brain-machine interface based on deep learning to control asynchronously a lower-limb robotic exoskeleton,” J. NeuroEng. Rehabil., 21(48), 2024.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[Soriano 2025]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Soriano-Segura, M. Ortiz et al., “Characterization of error-related potentials during the command of a lower-limb exoskeleton based on deep learning,” J. NeuroEng. Rehabil., 2025.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[Tortora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S. Tortora et al., “Cortical and muscular activity under robot-assisted gait modes during exoskeleton walking,”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[Luu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P. Luu et al., “Real-time EEG-based brain-computer interface to a virtual avatar enhances cortical involvement in human treadmill walking,” Sci. Rep., 7:8895, 2017.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[Schalk 2004]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G. Schalk et al., “BCI2000: a general-purpose brain-computer interface (BCI) system,” IEEE TBME, 51(6):1034-1043, 2004.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[Lawhern 2018]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V. J. Lawhern et al., “EEGNet: a compact CNN for EEG-based brain-computer interfaces,” J. Neural Eng., 15(5), 2018.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[Schirrmeister 2017]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R. T. Schirrmeister et al., “Deep learning with convolutional neural networks for EEG decoding and visualization,” Hum. Brain Mapp., 38(11):5391-5420, 2017.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8308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[Song 2023]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Song et al., “EEG Conformer: convolutional transformer for EEG decoding and visualization,” IEEE TNSRE, 31:710-719, 2023.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[He 2020]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H. He and D. Wu, “Transfer learning for brain-computer interfaces: a Euclidean space data alignment approach,” IEEE TBME, 67(2):399-410, 2020.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[Rodrigues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P. L. C. Rodrigues et al., “Riemannian Procrustes analysis: transfer learning for brain-computer interfaces,” IEEE TBME, 66(8):2390-2401,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[Barachant 2012]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A. Barachant et al., “Multiclass brain-computer interface classification by Riemannian geometry,” IEEE TBME, 59(4), 2012.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[Wang 2021]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D. Wang et al., “Tent: fully test-time adaptation by entropy minimization,” ICLR, 2021.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[Gong 2022]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T. Gong et al., “NOTE: robust continual test-time adaptation against temporal correlation,” NeurIPS, 2022.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[Geifman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Y. Geifman and R. El-Yaniv, “SelectiveNet: a deep neural network with an integrated reject option,” ICML, 2019.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100" b="1" i="0">
                <a:solidFill>
                  <a:srgbClr val="111111"/>
                </a:solidFill>
                <a:latin typeface="Times New Roman"/>
              </a:rPr>
              <a:t>[Pion-Tonachini 2019]  </a:t>
            </a:r>
            <a:r>
              <a:rPr sz="1050" b="0" i="0">
                <a:solidFill>
                  <a:srgbClr val="555555"/>
                </a:solidFill>
                <a:latin typeface="Times New Roman"/>
              </a:rPr>
              <a:t>L. Pion-Tonachini et al., “ICLabel: an automated electroencephalographic independent component classifier, dataset, and website,” NeuroImage, 198:181-197,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1241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Shuvo</dc:creator>
  <cp:keywords/>
  <dc:description>generated using python-pptx</dc:description>
  <cp:lastModifiedBy>Wahiduzzaman Suva</cp:lastModifiedBy>
  <cp:revision>1</cp:revision>
  <dcterms:created xsi:type="dcterms:W3CDTF">2013-01-27T09:14:16Z</dcterms:created>
  <dcterms:modified xsi:type="dcterms:W3CDTF">2026-09-17T13:50:22Z</dcterms:modified>
  <cp:category/>
</cp:coreProperties>
</file>