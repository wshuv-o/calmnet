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82" y="31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965960"/>
            <a:ext cx="11274552" cy="1097280"/>
          </a:xfrm>
          <a:prstGeom prst="rect">
            <a:avLst/>
          </a:prstGeom>
          <a:noFill/>
        </p:spPr>
        <p:txBody>
          <a:bodyPr wrap="square" anchor="t">
            <a:spAutoFit/>
          </a:bodyPr>
          <a:lstStyle/>
          <a:p>
            <a:pPr algn="ctr">
              <a:lnSpc>
                <a:spcPct val="110000"/>
              </a:lnSpc>
              <a:spcAft>
                <a:spcPts val="800"/>
              </a:spcAft>
            </a:pPr>
            <a:r>
              <a:rPr sz="5400" b="1" i="0">
                <a:solidFill>
                  <a:srgbClr val="111111"/>
                </a:solidFill>
                <a:latin typeface="Times New Roman"/>
              </a:rPr>
              <a:t>CALM-Net</a:t>
            </a:r>
          </a:p>
        </p:txBody>
      </p:sp>
      <p:sp>
        <p:nvSpPr>
          <p:cNvPr id="4" name="Rectangle 3"/>
          <p:cNvSpPr/>
          <p:nvPr/>
        </p:nvSpPr>
        <p:spPr>
          <a:xfrm>
            <a:off x="4041648" y="3035808"/>
            <a:ext cx="411480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80160" y="3246120"/>
            <a:ext cx="9628632" cy="1280160"/>
          </a:xfrm>
          <a:prstGeom prst="rect">
            <a:avLst/>
          </a:prstGeom>
          <a:noFill/>
        </p:spPr>
        <p:txBody>
          <a:bodyPr wrap="square" anchor="t">
            <a:spAutoFit/>
          </a:bodyPr>
          <a:lstStyle/>
          <a:p>
            <a:pPr algn="ctr">
              <a:lnSpc>
                <a:spcPct val="115000"/>
              </a:lnSpc>
              <a:spcAft>
                <a:spcPts val="800"/>
              </a:spcAft>
            </a:pPr>
            <a:r>
              <a:rPr sz="2400" b="0" i="0">
                <a:solidFill>
                  <a:srgbClr val="111111"/>
                </a:solidFill>
                <a:latin typeface="Times New Roman"/>
              </a:rPr>
              <a:t>Tangent-space features for EEG movement-intent decoding</a:t>
            </a:r>
          </a:p>
          <a:p>
            <a:pPr algn="ctr">
              <a:lnSpc>
                <a:spcPct val="115000"/>
              </a:lnSpc>
              <a:spcAft>
                <a:spcPts val="800"/>
              </a:spcAft>
            </a:pPr>
            <a:r>
              <a:rPr sz="1800" b="0" i="0">
                <a:solidFill>
                  <a:srgbClr val="555555"/>
                </a:solidFill>
                <a:latin typeface="Times New Roman"/>
              </a:rPr>
              <a:t>Final manuscript presentation</a:t>
            </a:r>
          </a:p>
        </p:txBody>
      </p:sp>
      <p:sp>
        <p:nvSpPr>
          <p:cNvPr id="6" name="TextBox 5"/>
          <p:cNvSpPr txBox="1"/>
          <p:nvPr/>
        </p:nvSpPr>
        <p:spPr>
          <a:xfrm>
            <a:off x="1280160" y="5440680"/>
            <a:ext cx="9628632" cy="914400"/>
          </a:xfrm>
          <a:prstGeom prst="rect">
            <a:avLst/>
          </a:prstGeom>
          <a:noFill/>
        </p:spPr>
        <p:txBody>
          <a:bodyPr wrap="square" anchor="t">
            <a:spAutoFit/>
          </a:bodyPr>
          <a:lstStyle/>
          <a:p>
            <a:pPr algn="ctr">
              <a:lnSpc>
                <a:spcPct val="110000"/>
              </a:lnSpc>
              <a:spcAft>
                <a:spcPts val="500"/>
              </a:spcAft>
            </a:pPr>
            <a:r>
              <a:rPr sz="1500" b="0" i="0">
                <a:solidFill>
                  <a:srgbClr val="555555"/>
                </a:solidFill>
                <a:latin typeface="Times New Roman"/>
              </a:rPr>
              <a:t>Md Wahiduzzaman Suva  [26-94088-2]</a:t>
            </a:r>
          </a:p>
          <a:p>
            <a:pPr algn="ctr">
              <a:lnSpc>
                <a:spcPct val="110000"/>
              </a:lnSpc>
              <a:spcAft>
                <a:spcPts val="500"/>
              </a:spcAft>
            </a:pPr>
            <a:r>
              <a:rPr sz="1500" b="0" i="0">
                <a:solidFill>
                  <a:srgbClr val="555555"/>
                </a:solidFill>
                <a:latin typeface="Times New Roman"/>
              </a:rPr>
              <a:t>Esme Moula Chowdhury Abha  [26-94089-2]</a:t>
            </a:r>
          </a:p>
          <a:p>
            <a:pPr algn="ctr">
              <a:lnSpc>
                <a:spcPct val="110000"/>
              </a:lnSpc>
              <a:spcAft>
                <a:spcPts val="800"/>
              </a:spcAft>
            </a:pPr>
            <a:r>
              <a:rPr sz="1500" b="0" i="0">
                <a:solidFill>
                  <a:srgbClr val="555555"/>
                </a:solidFill>
                <a:latin typeface="Times New Roman"/>
              </a:rPr>
              <a:t>Supervisor: Dr. Muhammad Hasibur Rashid Chayon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Problem Statement</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00200"/>
            <a:ext cx="10972800" cy="1463040"/>
          </a:xfrm>
          <a:prstGeom prst="rect">
            <a:avLst/>
          </a:prstGeom>
          <a:noFill/>
        </p:spPr>
        <p:txBody>
          <a:bodyPr wrap="square" anchor="t">
            <a:spAutoFit/>
          </a:bodyPr>
          <a:lstStyle/>
          <a:p>
            <a:pPr algn="l">
              <a:lnSpc>
                <a:spcPct val="120000"/>
              </a:lnSpc>
              <a:spcAft>
                <a:spcPts val="1200"/>
              </a:spcAft>
            </a:pPr>
            <a:r>
              <a:rPr sz="1900" b="0" i="0">
                <a:solidFill>
                  <a:srgbClr val="555555"/>
                </a:solidFill>
                <a:latin typeface="Times New Roman"/>
              </a:rPr>
              <a:t>A convolutional EEG decoder reduces each window to log band power, which is the diagonal of its spatial covariance. Everything off the diagonal, how the channels covary, is discarded before the first layer sees it.</a:t>
            </a:r>
          </a:p>
          <a:p>
            <a:pPr algn="l">
              <a:lnSpc>
                <a:spcPct val="120000"/>
              </a:lnSpc>
              <a:spcAft>
                <a:spcPts val="800"/>
              </a:spcAft>
            </a:pPr>
            <a:r>
              <a:rPr sz="1900" b="0" i="0">
                <a:solidFill>
                  <a:srgbClr val="555555"/>
                </a:solidFill>
                <a:latin typeface="Times New Roman"/>
              </a:rPr>
              <a:t>The question this paper answers is whether that discarded structure carries usable movement-intent information, and what it costs to read it.</a:t>
            </a:r>
          </a:p>
        </p:txBody>
      </p:sp>
      <p:sp>
        <p:nvSpPr>
          <p:cNvPr id="6" name="Rectangle 5"/>
          <p:cNvSpPr/>
          <p:nvPr/>
        </p:nvSpPr>
        <p:spPr>
          <a:xfrm>
            <a:off x="640080" y="3429000"/>
            <a:ext cx="10908792" cy="1234440"/>
          </a:xfrm>
          <a:prstGeom prst="rect">
            <a:avLst/>
          </a:prstGeom>
          <a:solidFill>
            <a:srgbClr val="FFFFFF"/>
          </a:solidFill>
          <a:ln w="16510">
            <a:solidFill>
              <a:srgbClr val="444444"/>
            </a:solidFill>
          </a:ln>
          <a:effectLst/>
        </p:spPr>
        <p:style>
          <a:lnRef idx="1">
            <a:schemeClr val="accent1"/>
          </a:lnRef>
          <a:fillRef idx="3">
            <a:schemeClr val="accent1"/>
          </a:fillRef>
          <a:effectRef idx="2">
            <a:schemeClr val="accent1"/>
          </a:effectRef>
          <a:fontRef idx="minor">
            <a:schemeClr val="lt1"/>
          </a:fontRef>
        </p:style>
        <p:txBody>
          <a:bodyPr wrap="square" lIns="228600" rtlCol="0" anchor="ctr"/>
          <a:lstStyle/>
          <a:p>
            <a:pPr algn="l">
              <a:lnSpc>
                <a:spcPct val="115000"/>
              </a:lnSpc>
              <a:spcAft>
                <a:spcPts val="600"/>
              </a:spcAft>
            </a:pPr>
            <a:r>
              <a:rPr sz="1800" b="1" i="0">
                <a:solidFill>
                  <a:srgbClr val="111111"/>
                </a:solidFill>
                <a:latin typeface="Times New Roman"/>
              </a:rPr>
              <a:t>51 participants, five cohorts, one training pipeline.</a:t>
            </a:r>
          </a:p>
          <a:p>
            <a:pPr algn="l">
              <a:lnSpc>
                <a:spcPct val="118000"/>
              </a:lnSpc>
              <a:spcAft>
                <a:spcPts val="800"/>
              </a:spcAft>
            </a:pPr>
            <a:r>
              <a:rPr sz="1600" b="0" i="0">
                <a:solidFill>
                  <a:srgbClr val="555555"/>
                </a:solidFill>
                <a:latin typeface="Times New Roman"/>
              </a:rPr>
              <a:t>Two lower-limb exoskeleton cohorts, a treadmill cohort, a motor-execution cohort and BCI Competition IV-2a.</a:t>
            </a:r>
          </a:p>
        </p:txBody>
      </p:sp>
      <p:sp>
        <p:nvSpPr>
          <p:cNvPr id="7" name="TextBox 6"/>
          <p:cNvSpPr txBox="1"/>
          <p:nvPr/>
        </p:nvSpPr>
        <p:spPr>
          <a:xfrm>
            <a:off x="640080" y="4937760"/>
            <a:ext cx="10972800" cy="1005840"/>
          </a:xfrm>
          <a:prstGeom prst="rect">
            <a:avLst/>
          </a:prstGeom>
          <a:noFill/>
        </p:spPr>
        <p:txBody>
          <a:bodyPr wrap="square" anchor="t">
            <a:spAutoFit/>
          </a:bodyPr>
          <a:lstStyle/>
          <a:p>
            <a:pPr algn="l">
              <a:lnSpc>
                <a:spcPct val="118000"/>
              </a:lnSpc>
              <a:spcAft>
                <a:spcPts val="800"/>
              </a:spcAft>
            </a:pPr>
            <a:r>
              <a:rPr sz="1800" b="1" i="0">
                <a:solidFill>
                  <a:srgbClr val="111111"/>
                </a:solidFill>
                <a:latin typeface="Times New Roman"/>
              </a:rPr>
              <a:t>The answer is not uniform. </a:t>
            </a:r>
            <a:r>
              <a:rPr sz="1800" b="0" i="0">
                <a:solidFill>
                  <a:srgbClr val="555555"/>
                </a:solidFill>
                <a:latin typeface="Times New Roman"/>
              </a:rPr>
              <a:t>The structure helps on four cohorts and fails on the fifth, and the recording protocol says which case applies before any model is trained.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Key Challenges</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91640"/>
            <a:ext cx="3602736" cy="3383280"/>
          </a:xfrm>
          <a:prstGeom prst="rect">
            <a:avLst/>
          </a:prstGeom>
          <a:solidFill>
            <a:srgbClr val="FFFFFF"/>
          </a:solidFill>
          <a:ln w="12700">
            <a:solidFill>
              <a:srgbClr val="444444"/>
            </a:solidFill>
          </a:ln>
          <a:effectLst/>
        </p:spPr>
        <p:style>
          <a:lnRef idx="1">
            <a:schemeClr val="accent1"/>
          </a:lnRef>
          <a:fillRef idx="3">
            <a:schemeClr val="accent1"/>
          </a:fillRef>
          <a:effectRef idx="2">
            <a:schemeClr val="accent1"/>
          </a:effectRef>
          <a:fontRef idx="minor">
            <a:schemeClr val="lt1"/>
          </a:fontRef>
        </p:style>
        <p:txBody>
          <a:bodyPr wrap="square" lIns="203200" tIns="228600" rIns="203200" rtlCol="0" anchor="t"/>
          <a:lstStyle/>
          <a:p>
            <a:pPr algn="l">
              <a:lnSpc>
                <a:spcPct val="110000"/>
              </a:lnSpc>
              <a:spcAft>
                <a:spcPts val="600"/>
              </a:spcAft>
            </a:pPr>
            <a:r>
              <a:rPr sz="3000" b="1" i="0">
                <a:solidFill>
                  <a:srgbClr val="111111"/>
                </a:solidFill>
                <a:latin typeface="Times New Roman"/>
              </a:rPr>
              <a:t>1</a:t>
            </a:r>
          </a:p>
          <a:p>
            <a:pPr algn="l">
              <a:lnSpc>
                <a:spcPct val="105000"/>
              </a:lnSpc>
              <a:spcAft>
                <a:spcPts val="1000"/>
              </a:spcAft>
            </a:pPr>
            <a:r>
              <a:rPr sz="1900" b="1" i="0">
                <a:solidFill>
                  <a:srgbClr val="111111"/>
                </a:solidFill>
                <a:latin typeface="Times New Roman"/>
              </a:rPr>
              <a:t>Second-order structure is thrown away</a:t>
            </a:r>
          </a:p>
          <a:p>
            <a:pPr algn="l">
              <a:lnSpc>
                <a:spcPct val="122000"/>
              </a:lnSpc>
              <a:spcAft>
                <a:spcPts val="800"/>
              </a:spcAft>
            </a:pPr>
            <a:r>
              <a:rPr sz="1500" b="0" i="0">
                <a:solidFill>
                  <a:srgbClr val="555555"/>
                </a:solidFill>
                <a:latin typeface="Times New Roman"/>
              </a:rPr>
              <a:t>A log-power stem keeps the diagonal of the covariance and discards the rest. Whether that loses anything is an empirical question, not a settled one.</a:t>
            </a:r>
          </a:p>
        </p:txBody>
      </p:sp>
      <p:sp>
        <p:nvSpPr>
          <p:cNvPr id="6" name="Rectangle 5"/>
          <p:cNvSpPr/>
          <p:nvPr/>
        </p:nvSpPr>
        <p:spPr>
          <a:xfrm>
            <a:off x="4384548" y="1691640"/>
            <a:ext cx="3602736" cy="3383280"/>
          </a:xfrm>
          <a:prstGeom prst="rect">
            <a:avLst/>
          </a:prstGeom>
          <a:solidFill>
            <a:srgbClr val="FFFFFF"/>
          </a:solidFill>
          <a:ln w="12700">
            <a:solidFill>
              <a:srgbClr val="444444"/>
            </a:solidFill>
          </a:ln>
          <a:effectLst/>
        </p:spPr>
        <p:style>
          <a:lnRef idx="1">
            <a:schemeClr val="accent1"/>
          </a:lnRef>
          <a:fillRef idx="3">
            <a:schemeClr val="accent1"/>
          </a:fillRef>
          <a:effectRef idx="2">
            <a:schemeClr val="accent1"/>
          </a:effectRef>
          <a:fontRef idx="minor">
            <a:schemeClr val="lt1"/>
          </a:fontRef>
        </p:style>
        <p:txBody>
          <a:bodyPr wrap="square" lIns="203200" tIns="228600" rIns="203200" rtlCol="0" anchor="t"/>
          <a:lstStyle/>
          <a:p>
            <a:pPr algn="l">
              <a:lnSpc>
                <a:spcPct val="110000"/>
              </a:lnSpc>
              <a:spcAft>
                <a:spcPts val="600"/>
              </a:spcAft>
            </a:pPr>
            <a:r>
              <a:rPr sz="3000" b="1" i="0">
                <a:solidFill>
                  <a:srgbClr val="111111"/>
                </a:solidFill>
                <a:latin typeface="Times New Roman"/>
              </a:rPr>
              <a:t>2</a:t>
            </a:r>
          </a:p>
          <a:p>
            <a:pPr algn="l">
              <a:lnSpc>
                <a:spcPct val="105000"/>
              </a:lnSpc>
              <a:spcAft>
                <a:spcPts val="1000"/>
              </a:spcAft>
            </a:pPr>
            <a:r>
              <a:rPr sz="1900" b="1" i="0">
                <a:solidFill>
                  <a:srgbClr val="111111"/>
                </a:solidFill>
                <a:latin typeface="Times New Roman"/>
              </a:rPr>
              <a:t>A reference that adapts can adapt wrongly</a:t>
            </a:r>
          </a:p>
          <a:p>
            <a:pPr algn="l">
              <a:lnSpc>
                <a:spcPct val="122000"/>
              </a:lnSpc>
              <a:spcAft>
                <a:spcPts val="800"/>
              </a:spcAft>
            </a:pPr>
            <a:r>
              <a:rPr sz="1500" b="0" i="0">
                <a:solidFill>
                  <a:srgbClr val="555555"/>
                </a:solidFill>
                <a:latin typeface="Times New Roman"/>
              </a:rPr>
              <a:t>Reading the off-diagonal needs a reference covariance. Updating it on the test stream tracks the session, but it also tracks whichever class is streaming.</a:t>
            </a:r>
          </a:p>
        </p:txBody>
      </p:sp>
      <p:sp>
        <p:nvSpPr>
          <p:cNvPr id="7" name="Rectangle 6"/>
          <p:cNvSpPr/>
          <p:nvPr/>
        </p:nvSpPr>
        <p:spPr>
          <a:xfrm>
            <a:off x="8129016" y="1691640"/>
            <a:ext cx="3602736" cy="3383280"/>
          </a:xfrm>
          <a:prstGeom prst="rect">
            <a:avLst/>
          </a:prstGeom>
          <a:solidFill>
            <a:srgbClr val="FFFFFF"/>
          </a:solidFill>
          <a:ln w="12700">
            <a:solidFill>
              <a:srgbClr val="444444"/>
            </a:solidFill>
          </a:ln>
          <a:effectLst/>
        </p:spPr>
        <p:style>
          <a:lnRef idx="1">
            <a:schemeClr val="accent1"/>
          </a:lnRef>
          <a:fillRef idx="3">
            <a:schemeClr val="accent1"/>
          </a:fillRef>
          <a:effectRef idx="2">
            <a:schemeClr val="accent1"/>
          </a:effectRef>
          <a:fontRef idx="minor">
            <a:schemeClr val="lt1"/>
          </a:fontRef>
        </p:style>
        <p:txBody>
          <a:bodyPr wrap="square" lIns="203200" tIns="228600" rIns="203200" rtlCol="0" anchor="t"/>
          <a:lstStyle/>
          <a:p>
            <a:pPr algn="l">
              <a:lnSpc>
                <a:spcPct val="110000"/>
              </a:lnSpc>
              <a:spcAft>
                <a:spcPts val="600"/>
              </a:spcAft>
            </a:pPr>
            <a:r>
              <a:rPr sz="3000" b="1" i="0">
                <a:solidFill>
                  <a:srgbClr val="111111"/>
                </a:solidFill>
                <a:latin typeface="Times New Roman"/>
              </a:rPr>
              <a:t>3</a:t>
            </a:r>
          </a:p>
          <a:p>
            <a:pPr algn="l">
              <a:lnSpc>
                <a:spcPct val="105000"/>
              </a:lnSpc>
              <a:spcAft>
                <a:spcPts val="1000"/>
              </a:spcAft>
            </a:pPr>
            <a:r>
              <a:rPr sz="1900" b="1" i="0">
                <a:solidFill>
                  <a:srgbClr val="111111"/>
                </a:solidFill>
                <a:latin typeface="Times New Roman"/>
              </a:rPr>
              <a:t>Failure has to be predictable before training</a:t>
            </a:r>
          </a:p>
          <a:p>
            <a:pPr algn="l">
              <a:lnSpc>
                <a:spcPct val="122000"/>
              </a:lnSpc>
              <a:spcAft>
                <a:spcPts val="800"/>
              </a:spcAft>
            </a:pPr>
            <a:r>
              <a:rPr sz="1500" b="0" i="0">
                <a:solidFill>
                  <a:srgbClr val="555555"/>
                </a:solidFill>
                <a:latin typeface="Times New Roman"/>
              </a:rPr>
              <a:t>A component that helps on four cohorts and fails on the fifth is only useful if the protocol says in advance which case applies.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Objectives and Outcomes</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91640"/>
            <a:ext cx="914400" cy="914400"/>
          </a:xfrm>
          <a:prstGeom prst="rect">
            <a:avLst/>
          </a:prstGeom>
          <a:solidFill>
            <a:srgbClr val="FFFFFF"/>
          </a:solidFill>
          <a:ln w="12700">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0000"/>
              </a:lnSpc>
              <a:spcAft>
                <a:spcPts val="800"/>
              </a:spcAft>
            </a:pPr>
            <a:r>
              <a:rPr sz="2400" b="1" i="0">
                <a:solidFill>
                  <a:srgbClr val="111111"/>
                </a:solidFill>
                <a:latin typeface="Times New Roman"/>
              </a:rPr>
              <a:t>O1</a:t>
            </a:r>
          </a:p>
        </p:txBody>
      </p:sp>
      <p:sp>
        <p:nvSpPr>
          <p:cNvPr id="6" name="TextBox 5"/>
          <p:cNvSpPr txBox="1"/>
          <p:nvPr/>
        </p:nvSpPr>
        <p:spPr>
          <a:xfrm>
            <a:off x="1783080" y="1664208"/>
            <a:ext cx="9692640" cy="1005840"/>
          </a:xfrm>
          <a:prstGeom prst="rect">
            <a:avLst/>
          </a:prstGeom>
          <a:noFill/>
        </p:spPr>
        <p:txBody>
          <a:bodyPr wrap="square" anchor="t">
            <a:spAutoFit/>
          </a:bodyPr>
          <a:lstStyle/>
          <a:p>
            <a:pPr algn="l">
              <a:lnSpc>
                <a:spcPct val="110000"/>
              </a:lnSpc>
              <a:spcAft>
                <a:spcPts val="200"/>
              </a:spcAft>
            </a:pPr>
            <a:r>
              <a:rPr sz="2000" b="1" i="0">
                <a:solidFill>
                  <a:srgbClr val="111111"/>
                </a:solidFill>
                <a:latin typeface="Times New Roman"/>
              </a:rPr>
              <a:t>Read the covariance, not just its diagonal</a:t>
            </a:r>
          </a:p>
          <a:p>
            <a:pPr algn="l">
              <a:lnSpc>
                <a:spcPct val="112000"/>
              </a:lnSpc>
              <a:spcAft>
                <a:spcPts val="800"/>
              </a:spcAft>
            </a:pPr>
            <a:r>
              <a:rPr sz="1500" b="0" i="0">
                <a:solidFill>
                  <a:srgbClr val="555555"/>
                </a:solidFill>
                <a:latin typeface="Times New Roman"/>
              </a:rPr>
              <a:t>Outcome: a tangent-space branch beside the log-power stem. It raises balanced accuracy on four of five cohorts, by +0.064 on the held-out cohort C where all 20 of 20 participants improve (p = 8.8e-5).</a:t>
            </a:r>
          </a:p>
        </p:txBody>
      </p:sp>
      <p:sp>
        <p:nvSpPr>
          <p:cNvPr id="7" name="Rectangle 6"/>
          <p:cNvSpPr/>
          <p:nvPr/>
        </p:nvSpPr>
        <p:spPr>
          <a:xfrm>
            <a:off x="640080" y="2935224"/>
            <a:ext cx="914400" cy="914400"/>
          </a:xfrm>
          <a:prstGeom prst="rect">
            <a:avLst/>
          </a:prstGeom>
          <a:solidFill>
            <a:srgbClr val="FFFFFF"/>
          </a:solidFill>
          <a:ln w="12700">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0000"/>
              </a:lnSpc>
              <a:spcAft>
                <a:spcPts val="800"/>
              </a:spcAft>
            </a:pPr>
            <a:r>
              <a:rPr sz="2400" b="1" i="0">
                <a:solidFill>
                  <a:srgbClr val="111111"/>
                </a:solidFill>
                <a:latin typeface="Times New Roman"/>
              </a:rPr>
              <a:t>O2</a:t>
            </a:r>
          </a:p>
        </p:txBody>
      </p:sp>
      <p:sp>
        <p:nvSpPr>
          <p:cNvPr id="8" name="TextBox 7"/>
          <p:cNvSpPr txBox="1"/>
          <p:nvPr/>
        </p:nvSpPr>
        <p:spPr>
          <a:xfrm>
            <a:off x="1783080" y="2907792"/>
            <a:ext cx="9692640" cy="1005840"/>
          </a:xfrm>
          <a:prstGeom prst="rect">
            <a:avLst/>
          </a:prstGeom>
          <a:noFill/>
        </p:spPr>
        <p:txBody>
          <a:bodyPr wrap="square" anchor="t">
            <a:spAutoFit/>
          </a:bodyPr>
          <a:lstStyle/>
          <a:p>
            <a:pPr algn="l">
              <a:lnSpc>
                <a:spcPct val="110000"/>
              </a:lnSpc>
              <a:spcAft>
                <a:spcPts val="200"/>
              </a:spcAft>
            </a:pPr>
            <a:r>
              <a:rPr sz="2000" b="1" i="0">
                <a:solidFill>
                  <a:srgbClr val="111111"/>
                </a:solidFill>
                <a:latin typeface="Times New Roman"/>
              </a:rPr>
              <a:t>State when the adapting reference is admissible</a:t>
            </a:r>
          </a:p>
          <a:p>
            <a:pPr algn="l">
              <a:lnSpc>
                <a:spcPct val="112000"/>
              </a:lnSpc>
              <a:spcAft>
                <a:spcPts val="800"/>
              </a:spcAft>
            </a:pPr>
            <a:r>
              <a:rPr sz="1500" b="0" i="0">
                <a:solidFill>
                  <a:srgbClr val="555555"/>
                </a:solidFill>
                <a:latin typeface="Times New Roman"/>
              </a:rPr>
              <a:t>Outcome: Condition 1. The estimator memory must outlast a class block and stay below the drift timescale. Read from the protocol, it separates all five cohorts with nothing fitted.</a:t>
            </a:r>
          </a:p>
        </p:txBody>
      </p:sp>
      <p:sp>
        <p:nvSpPr>
          <p:cNvPr id="9" name="Rectangle 8"/>
          <p:cNvSpPr/>
          <p:nvPr/>
        </p:nvSpPr>
        <p:spPr>
          <a:xfrm>
            <a:off x="640080" y="4178808"/>
            <a:ext cx="914400" cy="914400"/>
          </a:xfrm>
          <a:prstGeom prst="rect">
            <a:avLst/>
          </a:prstGeom>
          <a:solidFill>
            <a:srgbClr val="FFFFFF"/>
          </a:solidFill>
          <a:ln w="12700">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10000"/>
              </a:lnSpc>
              <a:spcAft>
                <a:spcPts val="800"/>
              </a:spcAft>
            </a:pPr>
            <a:r>
              <a:rPr sz="2400" b="1" i="0">
                <a:solidFill>
                  <a:srgbClr val="111111"/>
                </a:solidFill>
                <a:latin typeface="Times New Roman"/>
              </a:rPr>
              <a:t>O3</a:t>
            </a:r>
          </a:p>
        </p:txBody>
      </p:sp>
      <p:sp>
        <p:nvSpPr>
          <p:cNvPr id="10" name="TextBox 9"/>
          <p:cNvSpPr txBox="1"/>
          <p:nvPr/>
        </p:nvSpPr>
        <p:spPr>
          <a:xfrm>
            <a:off x="1783080" y="4151376"/>
            <a:ext cx="9692640" cy="1005840"/>
          </a:xfrm>
          <a:prstGeom prst="rect">
            <a:avLst/>
          </a:prstGeom>
          <a:noFill/>
        </p:spPr>
        <p:txBody>
          <a:bodyPr wrap="square" anchor="t">
            <a:spAutoFit/>
          </a:bodyPr>
          <a:lstStyle/>
          <a:p>
            <a:pPr algn="l">
              <a:lnSpc>
                <a:spcPct val="110000"/>
              </a:lnSpc>
              <a:spcAft>
                <a:spcPts val="200"/>
              </a:spcAft>
            </a:pPr>
            <a:r>
              <a:rPr sz="2000" b="1" i="0">
                <a:solidFill>
                  <a:srgbClr val="111111"/>
                </a:solidFill>
                <a:latin typeface="Times New Roman"/>
              </a:rPr>
              <a:t>Report what the component costs</a:t>
            </a:r>
          </a:p>
          <a:p>
            <a:pPr algn="l">
              <a:lnSpc>
                <a:spcPct val="112000"/>
              </a:lnSpc>
              <a:spcAft>
                <a:spcPts val="800"/>
              </a:spcAft>
            </a:pPr>
            <a:r>
              <a:rPr sz="1500" b="0" i="0">
                <a:solidFill>
                  <a:srgbClr val="555555"/>
                </a:solidFill>
                <a:latin typeface="Times New Roman"/>
              </a:rPr>
              <a:t>Outcome: the branch adds 238,028 parameters to a 19,505-parameter stem path, and on cohort A it triples the spurious-activation rate. Both are reported, not hidden.</a:t>
            </a:r>
          </a:p>
        </p:txBody>
      </p:sp>
      <p:sp>
        <p:nvSpPr>
          <p:cNvPr id="11" name="TextBox 10"/>
          <p:cNvSpPr txBox="1"/>
          <p:nvPr/>
        </p:nvSpPr>
        <p:spPr>
          <a:xfrm>
            <a:off x="640080" y="5623560"/>
            <a:ext cx="10972800" cy="548640"/>
          </a:xfrm>
          <a:prstGeom prst="rect">
            <a:avLst/>
          </a:prstGeom>
          <a:noFill/>
        </p:spPr>
        <p:txBody>
          <a:bodyPr wrap="square" anchor="t">
            <a:spAutoFit/>
          </a:bodyPr>
          <a:lstStyle/>
          <a:p>
            <a:pPr algn="l">
              <a:lnSpc>
                <a:spcPct val="110000"/>
              </a:lnSpc>
              <a:spcAft>
                <a:spcPts val="800"/>
              </a:spcAft>
            </a:pPr>
            <a:r>
              <a:rPr sz="1700" b="1" i="0">
                <a:solidFill>
                  <a:srgbClr val="111111"/>
                </a:solidFill>
                <a:latin typeface="Times New Roman"/>
              </a:rPr>
              <a:t>Question answered:  </a:t>
            </a:r>
            <a:r>
              <a:rPr sz="1700" b="0" i="1">
                <a:solidFill>
                  <a:srgbClr val="555555"/>
                </a:solidFill>
                <a:latin typeface="Times New Roman"/>
              </a:rPr>
              <a:t>does the covariance structure a log-power stem discards carry movement intent, and when can a test-time reference be trusted to read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Literature Review</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08760"/>
            <a:ext cx="2651760" cy="2606040"/>
          </a:xfrm>
          <a:prstGeom prst="rect">
            <a:avLst/>
          </a:prstGeom>
          <a:solidFill>
            <a:srgbClr val="FFFFFF"/>
          </a:solidFill>
          <a:ln w="12700">
            <a:solidFill>
              <a:srgbClr val="444444"/>
            </a:solidFill>
          </a:ln>
          <a:effectLst/>
        </p:spPr>
        <p:style>
          <a:lnRef idx="1">
            <a:schemeClr val="accent1"/>
          </a:lnRef>
          <a:fillRef idx="3">
            <a:schemeClr val="accent1"/>
          </a:fillRef>
          <a:effectRef idx="2">
            <a:schemeClr val="accent1"/>
          </a:effectRef>
          <a:fontRef idx="minor">
            <a:schemeClr val="lt1"/>
          </a:fontRef>
        </p:style>
        <p:txBody>
          <a:bodyPr wrap="square" lIns="139700" tIns="165100" rIns="114300" rtlCol="0" anchor="t"/>
          <a:lstStyle/>
          <a:p>
            <a:pPr algn="l">
              <a:lnSpc>
                <a:spcPct val="105000"/>
              </a:lnSpc>
              <a:spcAft>
                <a:spcPts val="900"/>
              </a:spcAft>
            </a:pPr>
            <a:r>
              <a:rPr sz="1500" b="1" i="0">
                <a:solidFill>
                  <a:srgbClr val="111111"/>
                </a:solidFill>
                <a:latin typeface="Times New Roman"/>
              </a:rPr>
              <a:t>Lower-limb exoskeleton BCI</a:t>
            </a:r>
          </a:p>
          <a:p>
            <a:pPr algn="l">
              <a:lnSpc>
                <a:spcPct val="110000"/>
              </a:lnSpc>
              <a:spcAft>
                <a:spcPts val="700"/>
              </a:spcAft>
            </a:pPr>
            <a:r>
              <a:rPr sz="1200" b="0" i="0">
                <a:solidFill>
                  <a:srgbClr val="555555"/>
                </a:solidFill>
                <a:latin typeface="Times New Roman"/>
              </a:rPr>
              <a:t>NeuroRex dataset  [Sarkar 2026]</a:t>
            </a:r>
          </a:p>
          <a:p>
            <a:pPr algn="l">
              <a:lnSpc>
                <a:spcPct val="110000"/>
              </a:lnSpc>
              <a:spcAft>
                <a:spcPts val="700"/>
              </a:spcAft>
            </a:pPr>
            <a:r>
              <a:rPr sz="1200" b="0" i="0">
                <a:solidFill>
                  <a:srgbClr val="555555"/>
                </a:solidFill>
                <a:latin typeface="Times New Roman"/>
              </a:rPr>
              <a:t>Deep-learning control  [Ferrero 2024]</a:t>
            </a:r>
          </a:p>
          <a:p>
            <a:pPr algn="l">
              <a:lnSpc>
                <a:spcPct val="110000"/>
              </a:lnSpc>
              <a:spcAft>
                <a:spcPts val="700"/>
              </a:spcAft>
            </a:pPr>
            <a:r>
              <a:rPr sz="1200" b="0" i="0">
                <a:solidFill>
                  <a:srgbClr val="555555"/>
                </a:solidFill>
                <a:latin typeface="Times New Roman"/>
              </a:rPr>
              <a:t>Exo error potentials  [Soriano 2025]</a:t>
            </a:r>
          </a:p>
          <a:p>
            <a:pPr algn="l">
              <a:lnSpc>
                <a:spcPct val="110000"/>
              </a:lnSpc>
              <a:spcAft>
                <a:spcPts val="700"/>
              </a:spcAft>
            </a:pPr>
            <a:r>
              <a:rPr sz="1200" b="0" i="0">
                <a:solidFill>
                  <a:srgbClr val="555555"/>
                </a:solidFill>
                <a:latin typeface="Times New Roman"/>
              </a:rPr>
              <a:t>Robot-assisted gait  [Tortora 2023]</a:t>
            </a:r>
          </a:p>
        </p:txBody>
      </p:sp>
      <p:sp>
        <p:nvSpPr>
          <p:cNvPr id="6" name="Rectangle 5"/>
          <p:cNvSpPr/>
          <p:nvPr/>
        </p:nvSpPr>
        <p:spPr>
          <a:xfrm>
            <a:off x="3395167" y="1508760"/>
            <a:ext cx="2651760" cy="2606040"/>
          </a:xfrm>
          <a:prstGeom prst="rect">
            <a:avLst/>
          </a:prstGeom>
          <a:solidFill>
            <a:srgbClr val="FFFFFF"/>
          </a:solidFill>
          <a:ln w="12700">
            <a:solidFill>
              <a:srgbClr val="444444"/>
            </a:solidFill>
          </a:ln>
          <a:effectLst/>
        </p:spPr>
        <p:style>
          <a:lnRef idx="1">
            <a:schemeClr val="accent1"/>
          </a:lnRef>
          <a:fillRef idx="3">
            <a:schemeClr val="accent1"/>
          </a:fillRef>
          <a:effectRef idx="2">
            <a:schemeClr val="accent1"/>
          </a:effectRef>
          <a:fontRef idx="minor">
            <a:schemeClr val="lt1"/>
          </a:fontRef>
        </p:style>
        <p:txBody>
          <a:bodyPr wrap="square" lIns="139700" tIns="165100" rIns="114300" rtlCol="0" anchor="t"/>
          <a:lstStyle/>
          <a:p>
            <a:pPr algn="l">
              <a:lnSpc>
                <a:spcPct val="105000"/>
              </a:lnSpc>
              <a:spcAft>
                <a:spcPts val="900"/>
              </a:spcAft>
            </a:pPr>
            <a:r>
              <a:rPr sz="1500" b="1" i="0">
                <a:solidFill>
                  <a:srgbClr val="111111"/>
                </a:solidFill>
                <a:latin typeface="Times New Roman"/>
              </a:rPr>
              <a:t>EEG decoders</a:t>
            </a:r>
          </a:p>
          <a:p>
            <a:pPr algn="l">
              <a:lnSpc>
                <a:spcPct val="110000"/>
              </a:lnSpc>
              <a:spcAft>
                <a:spcPts val="700"/>
              </a:spcAft>
            </a:pPr>
            <a:r>
              <a:rPr sz="1200" b="0" i="0">
                <a:solidFill>
                  <a:srgbClr val="555555"/>
                </a:solidFill>
                <a:latin typeface="Times New Roman"/>
              </a:rPr>
              <a:t>EEGNet  [Lawhern 2018]</a:t>
            </a:r>
          </a:p>
          <a:p>
            <a:pPr algn="l">
              <a:lnSpc>
                <a:spcPct val="110000"/>
              </a:lnSpc>
              <a:spcAft>
                <a:spcPts val="700"/>
              </a:spcAft>
            </a:pPr>
            <a:r>
              <a:rPr sz="1200" b="0" i="0">
                <a:solidFill>
                  <a:srgbClr val="555555"/>
                </a:solidFill>
                <a:latin typeface="Times New Roman"/>
              </a:rPr>
              <a:t>ShallowFBCSPNet  [Schirrmeister 2017]</a:t>
            </a:r>
          </a:p>
          <a:p>
            <a:pPr algn="l">
              <a:lnSpc>
                <a:spcPct val="110000"/>
              </a:lnSpc>
              <a:spcAft>
                <a:spcPts val="700"/>
              </a:spcAft>
            </a:pPr>
            <a:r>
              <a:rPr sz="1200" b="0" i="0">
                <a:solidFill>
                  <a:srgbClr val="555555"/>
                </a:solidFill>
                <a:latin typeface="Times New Roman"/>
              </a:rPr>
              <a:t>EEG-Conformer  [Song 2023]</a:t>
            </a:r>
          </a:p>
        </p:txBody>
      </p:sp>
      <p:sp>
        <p:nvSpPr>
          <p:cNvPr id="7" name="Rectangle 6"/>
          <p:cNvSpPr/>
          <p:nvPr/>
        </p:nvSpPr>
        <p:spPr>
          <a:xfrm>
            <a:off x="6150254" y="1508760"/>
            <a:ext cx="2651760" cy="2606040"/>
          </a:xfrm>
          <a:prstGeom prst="rect">
            <a:avLst/>
          </a:prstGeom>
          <a:solidFill>
            <a:srgbClr val="FFFFFF"/>
          </a:solidFill>
          <a:ln w="12700">
            <a:solidFill>
              <a:srgbClr val="444444"/>
            </a:solidFill>
          </a:ln>
          <a:effectLst/>
        </p:spPr>
        <p:style>
          <a:lnRef idx="1">
            <a:schemeClr val="accent1"/>
          </a:lnRef>
          <a:fillRef idx="3">
            <a:schemeClr val="accent1"/>
          </a:fillRef>
          <a:effectRef idx="2">
            <a:schemeClr val="accent1"/>
          </a:effectRef>
          <a:fontRef idx="minor">
            <a:schemeClr val="lt1"/>
          </a:fontRef>
        </p:style>
        <p:txBody>
          <a:bodyPr wrap="square" lIns="139700" tIns="165100" rIns="114300" rtlCol="0" anchor="t"/>
          <a:lstStyle/>
          <a:p>
            <a:pPr algn="l">
              <a:lnSpc>
                <a:spcPct val="105000"/>
              </a:lnSpc>
              <a:spcAft>
                <a:spcPts val="900"/>
              </a:spcAft>
            </a:pPr>
            <a:r>
              <a:rPr sz="1500" b="1" i="0">
                <a:solidFill>
                  <a:srgbClr val="111111"/>
                </a:solidFill>
                <a:latin typeface="Times New Roman"/>
              </a:rPr>
              <a:t>Riemannian and alignment</a:t>
            </a:r>
          </a:p>
          <a:p>
            <a:pPr algn="l">
              <a:lnSpc>
                <a:spcPct val="110000"/>
              </a:lnSpc>
              <a:spcAft>
                <a:spcPts val="700"/>
              </a:spcAft>
            </a:pPr>
            <a:r>
              <a:rPr sz="1200" b="0" i="0">
                <a:solidFill>
                  <a:srgbClr val="555555"/>
                </a:solidFill>
                <a:latin typeface="Times New Roman"/>
              </a:rPr>
              <a:t>Riemannian geom.  [Barachant 2012]</a:t>
            </a:r>
          </a:p>
          <a:p>
            <a:pPr algn="l">
              <a:lnSpc>
                <a:spcPct val="110000"/>
              </a:lnSpc>
              <a:spcAft>
                <a:spcPts val="700"/>
              </a:spcAft>
            </a:pPr>
            <a:r>
              <a:rPr sz="1200" b="0" i="0">
                <a:solidFill>
                  <a:srgbClr val="555555"/>
                </a:solidFill>
                <a:latin typeface="Times New Roman"/>
              </a:rPr>
              <a:t>Euclidean alignment  [He 2020]</a:t>
            </a:r>
          </a:p>
          <a:p>
            <a:pPr algn="l">
              <a:lnSpc>
                <a:spcPct val="110000"/>
              </a:lnSpc>
              <a:spcAft>
                <a:spcPts val="700"/>
              </a:spcAft>
            </a:pPr>
            <a:r>
              <a:rPr sz="1200" b="0" i="0">
                <a:solidFill>
                  <a:srgbClr val="555555"/>
                </a:solidFill>
                <a:latin typeface="Times New Roman"/>
              </a:rPr>
              <a:t>Riemannian Procrustes  [Rodrigues 2019]</a:t>
            </a:r>
          </a:p>
        </p:txBody>
      </p:sp>
      <p:sp>
        <p:nvSpPr>
          <p:cNvPr id="8" name="Rectangle 7"/>
          <p:cNvSpPr/>
          <p:nvPr/>
        </p:nvSpPr>
        <p:spPr>
          <a:xfrm>
            <a:off x="8905341" y="1508760"/>
            <a:ext cx="2651760" cy="2606040"/>
          </a:xfrm>
          <a:prstGeom prst="rect">
            <a:avLst/>
          </a:prstGeom>
          <a:solidFill>
            <a:srgbClr val="FFFFFF"/>
          </a:solidFill>
          <a:ln w="12700">
            <a:solidFill>
              <a:srgbClr val="444444"/>
            </a:solidFill>
          </a:ln>
          <a:effectLst/>
        </p:spPr>
        <p:style>
          <a:lnRef idx="1">
            <a:schemeClr val="accent1"/>
          </a:lnRef>
          <a:fillRef idx="3">
            <a:schemeClr val="accent1"/>
          </a:fillRef>
          <a:effectRef idx="2">
            <a:schemeClr val="accent1"/>
          </a:effectRef>
          <a:fontRef idx="minor">
            <a:schemeClr val="lt1"/>
          </a:fontRef>
        </p:style>
        <p:txBody>
          <a:bodyPr wrap="square" lIns="139700" tIns="165100" rIns="114300" rtlCol="0" anchor="t"/>
          <a:lstStyle/>
          <a:p>
            <a:pPr algn="l">
              <a:lnSpc>
                <a:spcPct val="105000"/>
              </a:lnSpc>
              <a:spcAft>
                <a:spcPts val="900"/>
              </a:spcAft>
            </a:pPr>
            <a:r>
              <a:rPr sz="1500" b="1" i="0">
                <a:solidFill>
                  <a:srgbClr val="111111"/>
                </a:solidFill>
                <a:latin typeface="Times New Roman"/>
              </a:rPr>
              <a:t>Test-time adaptation</a:t>
            </a:r>
          </a:p>
          <a:p>
            <a:pPr algn="l">
              <a:lnSpc>
                <a:spcPct val="110000"/>
              </a:lnSpc>
              <a:spcAft>
                <a:spcPts val="700"/>
              </a:spcAft>
            </a:pPr>
            <a:r>
              <a:rPr sz="1200" b="0" i="0">
                <a:solidFill>
                  <a:srgbClr val="555555"/>
                </a:solidFill>
                <a:latin typeface="Times New Roman"/>
              </a:rPr>
              <a:t>Tent  [Wang 2021]</a:t>
            </a:r>
          </a:p>
          <a:p>
            <a:pPr algn="l">
              <a:lnSpc>
                <a:spcPct val="110000"/>
              </a:lnSpc>
              <a:spcAft>
                <a:spcPts val="700"/>
              </a:spcAft>
            </a:pPr>
            <a:r>
              <a:rPr sz="1200" b="0" i="0">
                <a:solidFill>
                  <a:srgbClr val="555555"/>
                </a:solidFill>
                <a:latin typeface="Times New Roman"/>
              </a:rPr>
              <a:t>Correlated streams  [Gong 2022]</a:t>
            </a:r>
          </a:p>
          <a:p>
            <a:pPr algn="l">
              <a:lnSpc>
                <a:spcPct val="110000"/>
              </a:lnSpc>
              <a:spcAft>
                <a:spcPts val="700"/>
              </a:spcAft>
            </a:pPr>
            <a:r>
              <a:rPr sz="1200" b="0" i="0">
                <a:solidFill>
                  <a:srgbClr val="555555"/>
                </a:solidFill>
                <a:latin typeface="Times New Roman"/>
              </a:rPr>
              <a:t>Reject option  [Geifman 2019]</a:t>
            </a:r>
          </a:p>
        </p:txBody>
      </p:sp>
      <p:sp>
        <p:nvSpPr>
          <p:cNvPr id="9" name="Rectangle 8"/>
          <p:cNvSpPr/>
          <p:nvPr/>
        </p:nvSpPr>
        <p:spPr>
          <a:xfrm>
            <a:off x="640080" y="4343400"/>
            <a:ext cx="10908792" cy="1463040"/>
          </a:xfrm>
          <a:prstGeom prst="rect">
            <a:avLst/>
          </a:prstGeom>
          <a:solidFill>
            <a:srgbClr val="FFFFFF"/>
          </a:solidFill>
          <a:ln w="20320">
            <a:solidFill>
              <a:srgbClr val="444444"/>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lnSpc>
                <a:spcPct val="110000"/>
              </a:lnSpc>
              <a:spcAft>
                <a:spcPts val="400"/>
              </a:spcAft>
            </a:pPr>
            <a:r>
              <a:rPr sz="1400" b="1" i="0">
                <a:solidFill>
                  <a:srgbClr val="111111"/>
                </a:solidFill>
                <a:latin typeface="Times New Roman"/>
              </a:rPr>
              <a:t>RESEARCH GAP</a:t>
            </a:r>
          </a:p>
          <a:p>
            <a:pPr algn="l">
              <a:lnSpc>
                <a:spcPct val="114000"/>
              </a:lnSpc>
              <a:spcAft>
                <a:spcPts val="800"/>
              </a:spcAft>
            </a:pPr>
            <a:r>
              <a:rPr sz="1800" b="0" i="0">
                <a:solidFill>
                  <a:srgbClr val="111111"/>
                </a:solidFill>
                <a:latin typeface="Times New Roman"/>
              </a:rPr>
              <a:t>Riemannian methods estimate their reference over a complete recording, so the recording must exist before the decoder can run. Test-time adaptation removes that constraint but degrades on temporally correlated streams. No prior work states, from the protocol alone, when an in-network adapting reference is safe.</a:t>
            </a:r>
          </a:p>
        </p:txBody>
      </p:sp>
      <p:sp>
        <p:nvSpPr>
          <p:cNvPr id="10" name="TextBox 9"/>
          <p:cNvSpPr txBox="1"/>
          <p:nvPr/>
        </p:nvSpPr>
        <p:spPr>
          <a:xfrm>
            <a:off x="640080" y="5943600"/>
            <a:ext cx="10908792" cy="365760"/>
          </a:xfrm>
          <a:prstGeom prst="rect">
            <a:avLst/>
          </a:prstGeom>
          <a:noFill/>
        </p:spPr>
        <p:txBody>
          <a:bodyPr wrap="square" anchor="t">
            <a:spAutoFit/>
          </a:bodyPr>
          <a:lstStyle/>
          <a:p>
            <a:pPr algn="l">
              <a:lnSpc>
                <a:spcPct val="110000"/>
              </a:lnSpc>
              <a:spcAft>
                <a:spcPts val="800"/>
              </a:spcAft>
            </a:pPr>
            <a:r>
              <a:rPr sz="1050" b="0" i="1">
                <a:solidFill>
                  <a:srgbClr val="555555"/>
                </a:solidFill>
                <a:latin typeface="Times New Roman"/>
              </a:rPr>
              <a:t>Citations shown as [first author, year]; full entries are on the References slide.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Decoder Architecture</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5806440"/>
            <a:ext cx="10972800" cy="731520"/>
          </a:xfrm>
          <a:prstGeom prst="rect">
            <a:avLst/>
          </a:prstGeom>
          <a:noFill/>
        </p:spPr>
        <p:txBody>
          <a:bodyPr wrap="square" anchor="t">
            <a:spAutoFit/>
          </a:bodyPr>
          <a:lstStyle/>
          <a:p>
            <a:pPr algn="l">
              <a:lnSpc>
                <a:spcPct val="115000"/>
              </a:lnSpc>
              <a:spcAft>
                <a:spcPts val="800"/>
              </a:spcAft>
            </a:pPr>
            <a:r>
              <a:rPr sz="1600" b="1" i="0">
                <a:solidFill>
                  <a:srgbClr val="111111"/>
                </a:solidFill>
                <a:latin typeface="Times New Roman"/>
              </a:rPr>
              <a:t>Reported model, 290,943 parameters:  </a:t>
            </a:r>
            <a:r>
              <a:rPr sz="1600" b="0" i="0">
                <a:solidFill>
                  <a:srgbClr val="555555"/>
                </a:solidFill>
                <a:latin typeface="Times New Roman"/>
              </a:rPr>
              <a:t>a multi-scale log-power stem reads the diagonal of each window's covariance, a tangent-space branch reads the rest of it at a running reference M, and the two are concatenated into one linear classifier. The reference updates without labels and stays active at inference.</a:t>
            </a:r>
          </a:p>
        </p:txBody>
      </p:sp>
      <p:pic>
        <p:nvPicPr>
          <p:cNvPr id="7" name="Picture 6" descr="fig_arch_paper.png"/>
          <p:cNvPicPr>
            <a:picLocks noChangeAspect="1"/>
          </p:cNvPicPr>
          <p:nvPr/>
        </p:nvPicPr>
        <p:blipFill>
          <a:blip r:embed="rId2"/>
          <a:stretch>
            <a:fillRect/>
          </a:stretch>
        </p:blipFill>
        <p:spPr>
          <a:xfrm>
            <a:off x="795528" y="1478542"/>
            <a:ext cx="10607040" cy="403807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Core Idea and Hypothesis</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00200"/>
            <a:ext cx="10972800" cy="2743200"/>
          </a:xfrm>
          <a:prstGeom prst="rect">
            <a:avLst/>
          </a:prstGeom>
          <a:noFill/>
        </p:spPr>
        <p:txBody>
          <a:bodyPr wrap="square" anchor="t">
            <a:spAutoFit/>
          </a:bodyPr>
          <a:lstStyle/>
          <a:p>
            <a:pPr algn="l">
              <a:lnSpc>
                <a:spcPct val="118000"/>
              </a:lnSpc>
              <a:spcAft>
                <a:spcPts val="1200"/>
              </a:spcAft>
            </a:pPr>
            <a:r>
              <a:rPr sz="1800" b="1" i="0">
                <a:solidFill>
                  <a:srgbClr val="111111"/>
                </a:solidFill>
                <a:latin typeface="Times New Roman"/>
              </a:rPr>
              <a:t>•  Read the off-diagonal:</a:t>
            </a:r>
            <a:r>
              <a:rPr sz="1800" b="0" i="0">
                <a:solidFill>
                  <a:srgbClr val="555555"/>
                </a:solidFill>
                <a:latin typeface="Times New Roman"/>
              </a:rPr>
              <a:t> each window's covariance C is shrunk and mapped to the tangent space at a reference M, giving vec(log(M⁻¹ᐟ² C M⁻¹ᐟ²)).</a:t>
            </a:r>
          </a:p>
          <a:p>
            <a:pPr algn="l">
              <a:lnSpc>
                <a:spcPct val="118000"/>
              </a:lnSpc>
              <a:spcAft>
                <a:spcPts val="1200"/>
              </a:spcAft>
            </a:pPr>
            <a:r>
              <a:rPr sz="1800" b="1" i="0">
                <a:solidFill>
                  <a:srgbClr val="111111"/>
                </a:solidFill>
                <a:latin typeface="Times New Roman"/>
              </a:rPr>
              <a:t>•  The reference adapts:</a:t>
            </a:r>
            <a:r>
              <a:rPr sz="1800" b="0" i="0">
                <a:solidFill>
                  <a:srgbClr val="555555"/>
                </a:solidFill>
                <a:latin typeface="Times New Roman"/>
              </a:rPr>
              <a:t> M is a running mean over incoming windows, label-free, still updating at test time.</a:t>
            </a:r>
          </a:p>
          <a:p>
            <a:pPr algn="l">
              <a:lnSpc>
                <a:spcPct val="118000"/>
              </a:lnSpc>
              <a:spcAft>
                <a:spcPts val="1200"/>
              </a:spcAft>
            </a:pPr>
            <a:r>
              <a:rPr sz="1800" b="1" i="0">
                <a:solidFill>
                  <a:srgbClr val="111111"/>
                </a:solidFill>
                <a:latin typeface="Times New Roman"/>
              </a:rPr>
              <a:t>•  Estimator memory:</a:t>
            </a:r>
            <a:r>
              <a:rPr sz="1800" b="0" i="0">
                <a:solidFill>
                  <a:srgbClr val="555555"/>
                </a:solidFill>
                <a:latin typeface="Times New Roman"/>
              </a:rPr>
              <a:t> the momentum m sets a memory of μ = N/m windows, 160 at the default N = 32, m = 0.2.</a:t>
            </a:r>
          </a:p>
          <a:p>
            <a:pPr algn="l">
              <a:lnSpc>
                <a:spcPct val="118000"/>
              </a:lnSpc>
              <a:spcAft>
                <a:spcPts val="1200"/>
              </a:spcAft>
            </a:pPr>
            <a:r>
              <a:rPr sz="1800" b="1" i="0">
                <a:solidFill>
                  <a:srgbClr val="111111"/>
                </a:solidFill>
                <a:latin typeface="Times New Roman"/>
              </a:rPr>
              <a:t>•  The failure mode:</a:t>
            </a:r>
            <a:r>
              <a:rPr sz="1800" b="0" i="0">
                <a:solidFill>
                  <a:srgbClr val="555555"/>
                </a:solidFill>
                <a:latin typeface="Times New Roman"/>
              </a:rPr>
              <a:t> when one class streams for longer than μ, M becomes that class and whitening removes the very variance that separates the classes.</a:t>
            </a:r>
          </a:p>
        </p:txBody>
      </p:sp>
      <p:sp>
        <p:nvSpPr>
          <p:cNvPr id="6" name="Rectangle 5"/>
          <p:cNvSpPr/>
          <p:nvPr/>
        </p:nvSpPr>
        <p:spPr>
          <a:xfrm>
            <a:off x="640080" y="4892040"/>
            <a:ext cx="10908792" cy="1325880"/>
          </a:xfrm>
          <a:prstGeom prst="rect">
            <a:avLst/>
          </a:prstGeom>
          <a:solidFill>
            <a:srgbClr val="FFFFFF"/>
          </a:solidFill>
          <a:ln w="16510">
            <a:solidFill>
              <a:srgbClr val="444444"/>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lnSpc>
                <a:spcPct val="115000"/>
              </a:lnSpc>
              <a:spcAft>
                <a:spcPts val="800"/>
              </a:spcAft>
            </a:pPr>
            <a:r>
              <a:rPr sz="1400" b="1" i="0">
                <a:solidFill>
                  <a:srgbClr val="111111"/>
                </a:solidFill>
                <a:latin typeface="Times New Roman"/>
              </a:rPr>
              <a:t>CONDITION 1   </a:t>
            </a:r>
            <a:r>
              <a:rPr sz="1700" b="0" i="1">
                <a:solidFill>
                  <a:srgbClr val="111111"/>
                </a:solidFill>
                <a:latin typeface="Times New Roman"/>
              </a:rPr>
              <a:t>τ_blk  &lt;  μ  &lt;  τ_drift.  The branch is admissible only where the estimator memory outlasts a class block and stays below the session-drift timescale. Both sides are fixed before training.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Datasets and Evaluation Protocol</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00200"/>
            <a:ext cx="5120640" cy="4206240"/>
          </a:xfrm>
          <a:prstGeom prst="rect">
            <a:avLst/>
          </a:prstGeom>
          <a:noFill/>
        </p:spPr>
        <p:txBody>
          <a:bodyPr wrap="square" anchor="t">
            <a:spAutoFit/>
          </a:bodyPr>
          <a:lstStyle/>
          <a:p>
            <a:pPr algn="l">
              <a:lnSpc>
                <a:spcPct val="115000"/>
              </a:lnSpc>
              <a:spcAft>
                <a:spcPts val="900"/>
              </a:spcAft>
            </a:pPr>
            <a:r>
              <a:rPr sz="1700" b="1" i="0">
                <a:solidFill>
                  <a:srgbClr val="111111"/>
                </a:solidFill>
                <a:latin typeface="Times New Roman"/>
              </a:rPr>
              <a:t>A  exoskeleton</a:t>
            </a:r>
            <a:r>
              <a:rPr sz="1500" b="0" i="0">
                <a:solidFill>
                  <a:srgbClr val="555555"/>
                </a:solidFill>
                <a:latin typeface="Times New Roman"/>
              </a:rPr>
              <a:t>   7 participants, 9 sessions over weeks</a:t>
            </a:r>
          </a:p>
          <a:p>
            <a:pPr algn="l">
              <a:lnSpc>
                <a:spcPct val="115000"/>
              </a:lnSpc>
              <a:spcAft>
                <a:spcPts val="900"/>
              </a:spcAft>
            </a:pPr>
            <a:r>
              <a:rPr sz="1700" b="1" i="0">
                <a:solidFill>
                  <a:srgbClr val="111111"/>
                </a:solidFill>
                <a:latin typeface="Times New Roman"/>
              </a:rPr>
              <a:t>B  treadmill</a:t>
            </a:r>
            <a:r>
              <a:rPr sz="1500" b="0" i="0">
                <a:solidFill>
                  <a:srgbClr val="555555"/>
                </a:solidFill>
                <a:latin typeface="Times New Roman"/>
              </a:rPr>
              <a:t>   8 participants, 3 trials, independent lab</a:t>
            </a:r>
          </a:p>
          <a:p>
            <a:pPr algn="l">
              <a:lnSpc>
                <a:spcPct val="115000"/>
              </a:lnSpc>
              <a:spcAft>
                <a:spcPts val="900"/>
              </a:spcAft>
            </a:pPr>
            <a:r>
              <a:rPr sz="1700" b="1" i="0">
                <a:solidFill>
                  <a:srgbClr val="111111"/>
                </a:solidFill>
                <a:latin typeface="Times New Roman"/>
              </a:rPr>
              <a:t>C  motor execution</a:t>
            </a:r>
            <a:r>
              <a:rPr sz="1500" b="0" i="0">
                <a:solidFill>
                  <a:srgbClr val="555555"/>
                </a:solidFill>
                <a:latin typeface="Times New Roman"/>
              </a:rPr>
              <a:t>   20 participants, held out from every design decision</a:t>
            </a:r>
          </a:p>
          <a:p>
            <a:pPr algn="l">
              <a:lnSpc>
                <a:spcPct val="115000"/>
              </a:lnSpc>
              <a:spcAft>
                <a:spcPts val="900"/>
              </a:spcAft>
            </a:pPr>
            <a:r>
              <a:rPr sz="1700" b="1" i="0">
                <a:solidFill>
                  <a:srgbClr val="111111"/>
                </a:solidFill>
                <a:latin typeface="Times New Roman"/>
              </a:rPr>
              <a:t>D  BCI IV-2a</a:t>
            </a:r>
            <a:r>
              <a:rPr sz="1500" b="0" i="0">
                <a:solidFill>
                  <a:srgbClr val="555555"/>
                </a:solidFill>
                <a:latin typeface="Times New Roman"/>
              </a:rPr>
              <a:t>   9 participants, two sessions on different days</a:t>
            </a:r>
          </a:p>
          <a:p>
            <a:pPr algn="l">
              <a:lnSpc>
                <a:spcPct val="115000"/>
              </a:lnSpc>
              <a:spcAft>
                <a:spcPts val="900"/>
              </a:spcAft>
            </a:pPr>
            <a:r>
              <a:rPr sz="1700" b="1" i="0">
                <a:solidFill>
                  <a:srgbClr val="111111"/>
                </a:solidFill>
                <a:latin typeface="Times New Roman"/>
              </a:rPr>
              <a:t>E  exoskeleton</a:t>
            </a:r>
            <a:r>
              <a:rPr sz="1500" b="0" i="0">
                <a:solidFill>
                  <a:srgbClr val="555555"/>
                </a:solidFill>
                <a:latin typeface="Times New Roman"/>
              </a:rPr>
              <a:t>   7 participants, DECODED / EUROBENCH</a:t>
            </a:r>
          </a:p>
          <a:p>
            <a:pPr algn="l">
              <a:lnSpc>
                <a:spcPct val="120000"/>
              </a:lnSpc>
              <a:spcAft>
                <a:spcPts val="1000"/>
              </a:spcAft>
            </a:pPr>
            <a:r>
              <a:rPr sz="1500" b="0" i="0">
                <a:solidFill>
                  <a:srgbClr val="555555"/>
                </a:solidFill>
                <a:latin typeface="Times New Roman"/>
              </a:rPr>
              <a:t>Block length τ_blk is read from the label sequence alone, before training: A 18, B 214, C 5, D 1, E 13 windows.</a:t>
            </a:r>
          </a:p>
        </p:txBody>
      </p:sp>
      <p:pic>
        <p:nvPicPr>
          <p:cNvPr id="6" name="Picture 5" descr="tab_blocks.png"/>
          <p:cNvPicPr>
            <a:picLocks noChangeAspect="1"/>
          </p:cNvPicPr>
          <p:nvPr/>
        </p:nvPicPr>
        <p:blipFill>
          <a:blip r:embed="rId2"/>
          <a:stretch>
            <a:fillRect/>
          </a:stretch>
        </p:blipFill>
        <p:spPr>
          <a:xfrm>
            <a:off x="5943600" y="2675673"/>
            <a:ext cx="5715000" cy="205529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Artefact Control</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37960" y="1737360"/>
            <a:ext cx="5212080" cy="4206240"/>
          </a:xfrm>
          <a:prstGeom prst="rect">
            <a:avLst/>
          </a:prstGeom>
          <a:noFill/>
        </p:spPr>
        <p:txBody>
          <a:bodyPr wrap="square" anchor="ctr">
            <a:spAutoFit/>
          </a:bodyPr>
          <a:lstStyle/>
          <a:p>
            <a:pPr algn="l">
              <a:lnSpc>
                <a:spcPct val="115000"/>
              </a:lnSpc>
              <a:spcAft>
                <a:spcPts val="1200"/>
              </a:spcAft>
            </a:pPr>
            <a:r>
              <a:rPr sz="1700" b="1" i="0">
                <a:solidFill>
                  <a:srgbClr val="111111"/>
                </a:solidFill>
                <a:latin typeface="Times New Roman"/>
              </a:rPr>
              <a:t>Walk and stop differ in movement, so the accuracy could be artefact.</a:t>
            </a:r>
          </a:p>
          <a:p>
            <a:pPr algn="l">
              <a:lnSpc>
                <a:spcPct val="118000"/>
              </a:lnSpc>
              <a:spcAft>
                <a:spcPts val="1100"/>
              </a:spcAft>
            </a:pPr>
            <a:r>
              <a:rPr sz="1600" b="0" i="0">
                <a:solidFill>
                  <a:srgbClr val="555555"/>
                </a:solidFill>
                <a:latin typeface="Times New Roman"/>
              </a:rPr>
              <a:t>Retraining the reported model after ICA cleaning [Pion-Tonachini 2019]: </a:t>
            </a:r>
            <a:r>
              <a:rPr sz="1600" b="1" i="0">
                <a:solidFill>
                  <a:srgbClr val="111111"/>
                </a:solidFill>
                <a:latin typeface="Times New Roman"/>
              </a:rPr>
              <a:t>0.897 to 0.859</a:t>
            </a:r>
            <a:r>
              <a:rPr sz="1600" b="0" i="0">
                <a:solidFill>
                  <a:srgbClr val="555555"/>
                </a:solidFill>
                <a:latin typeface="Times New Roman"/>
              </a:rPr>
              <a:t> (p = 0.58, four of seven unchanged or better). The mean is carried by one participant; without sub-06 it is −0.010.</a:t>
            </a:r>
          </a:p>
          <a:p>
            <a:pPr algn="l">
              <a:lnSpc>
                <a:spcPct val="118000"/>
              </a:lnSpc>
              <a:spcAft>
                <a:spcPts val="1100"/>
              </a:spcAft>
            </a:pPr>
            <a:r>
              <a:rPr sz="1600" b="0" i="0">
                <a:solidFill>
                  <a:srgbClr val="555555"/>
                </a:solidFill>
                <a:latin typeface="Times New Roman"/>
              </a:rPr>
              <a:t>The change does not follow the muscle components removed (ρ = +0.05), where dependence on muscle artefact would be negative.</a:t>
            </a:r>
          </a:p>
          <a:p>
            <a:pPr algn="l">
              <a:lnSpc>
                <a:spcPct val="118000"/>
              </a:lnSpc>
              <a:spcAft>
                <a:spcPts val="800"/>
              </a:spcAft>
            </a:pPr>
            <a:r>
              <a:rPr sz="1700" b="1" i="0">
                <a:solidFill>
                  <a:srgbClr val="111111"/>
                </a:solidFill>
                <a:latin typeface="Times New Roman"/>
              </a:rPr>
              <a:t>Constrains the artefact account. It does not exclude it.</a:t>
            </a:r>
          </a:p>
        </p:txBody>
      </p:sp>
      <p:pic>
        <p:nvPicPr>
          <p:cNvPr id="7" name="Picture 6" descr="tab_artefact.png"/>
          <p:cNvPicPr>
            <a:picLocks noChangeAspect="1"/>
          </p:cNvPicPr>
          <p:nvPr/>
        </p:nvPicPr>
        <p:blipFill>
          <a:blip r:embed="rId2"/>
          <a:stretch>
            <a:fillRect/>
          </a:stretch>
        </p:blipFill>
        <p:spPr>
          <a:xfrm>
            <a:off x="502920" y="2720250"/>
            <a:ext cx="5760720" cy="214901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Scalp Topography of the Reference</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5806440"/>
            <a:ext cx="10972800" cy="731520"/>
          </a:xfrm>
          <a:prstGeom prst="rect">
            <a:avLst/>
          </a:prstGeom>
          <a:noFill/>
        </p:spPr>
        <p:txBody>
          <a:bodyPr wrap="square" anchor="t">
            <a:spAutoFit/>
          </a:bodyPr>
          <a:lstStyle/>
          <a:p>
            <a:pPr algn="l">
              <a:lnSpc>
                <a:spcPct val="115000"/>
              </a:lnSpc>
              <a:spcAft>
                <a:spcPts val="800"/>
              </a:spcAft>
            </a:pPr>
            <a:r>
              <a:rPr sz="1600" b="1" i="0">
                <a:solidFill>
                  <a:srgbClr val="111111"/>
                </a:solidFill>
                <a:latin typeface="Times New Roman"/>
              </a:rPr>
              <a:t>The branch's own reference:  </a:t>
            </a:r>
            <a:r>
              <a:rPr sz="1600" b="0" i="0">
                <a:solidFill>
                  <a:srgbClr val="555555"/>
                </a:solidFill>
                <a:latin typeface="Times New Roman"/>
              </a:rPr>
              <a:t>it amplifies the frontocentral midline most (AFz, Fz at 2.9) and the temporal sites most exposed to jaw and neck muscle least (T7, T8 at 1.9). Band power falls over left sensorimotor cortex during walking (C3 −3.5 dB), the sign of mu and beta desynchronisation; gross artefact would raise it.</a:t>
            </a:r>
          </a:p>
        </p:txBody>
      </p:sp>
      <p:pic>
        <p:nvPicPr>
          <p:cNvPr id="7" name="Picture 6" descr="fig_topography.png"/>
          <p:cNvPicPr>
            <a:picLocks noChangeAspect="1"/>
          </p:cNvPicPr>
          <p:nvPr/>
        </p:nvPicPr>
        <p:blipFill>
          <a:blip r:embed="rId2"/>
          <a:stretch>
            <a:fillRect/>
          </a:stretch>
        </p:blipFill>
        <p:spPr>
          <a:xfrm>
            <a:off x="795528" y="1732855"/>
            <a:ext cx="10607040" cy="3483729"/>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Learned Representations</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5806440"/>
            <a:ext cx="10972800" cy="731520"/>
          </a:xfrm>
          <a:prstGeom prst="rect">
            <a:avLst/>
          </a:prstGeom>
          <a:noFill/>
        </p:spPr>
        <p:txBody>
          <a:bodyPr wrap="square" anchor="t">
            <a:spAutoFit/>
          </a:bodyPr>
          <a:lstStyle/>
          <a:p>
            <a:pPr algn="l">
              <a:lnSpc>
                <a:spcPct val="115000"/>
              </a:lnSpc>
              <a:spcAft>
                <a:spcPts val="800"/>
              </a:spcAft>
            </a:pPr>
            <a:r>
              <a:rPr sz="1600" b="1" i="0">
                <a:solidFill>
                  <a:srgbClr val="111111"/>
                </a:solidFill>
                <a:latin typeface="Times New Roman"/>
              </a:rPr>
              <a:t>Measured, not drawn:  </a:t>
            </a:r>
            <a:r>
              <a:rPr sz="1600" b="0" i="0">
                <a:solidFill>
                  <a:srgbClr val="555555"/>
                </a:solidFill>
                <a:latin typeface="Times New Roman"/>
              </a:rPr>
              <a:t>forward hooks on a trained model, on held-out windows. The tangent map carries structure off the diagonal, which the stem discards. Class separation grows along both paths and is largest after fusion (2.41, against 1.22 for the branch and 0.74 for the stem), so the two are complementary in the model's own activations.</a:t>
            </a:r>
          </a:p>
        </p:txBody>
      </p:sp>
      <p:pic>
        <p:nvPicPr>
          <p:cNvPr id="7" name="Picture 6" descr="fig_activations.png"/>
          <p:cNvPicPr>
            <a:picLocks noChangeAspect="1"/>
          </p:cNvPicPr>
          <p:nvPr/>
        </p:nvPicPr>
        <p:blipFill>
          <a:blip r:embed="rId2"/>
          <a:stretch>
            <a:fillRect/>
          </a:stretch>
        </p:blipFill>
        <p:spPr>
          <a:xfrm>
            <a:off x="1988208" y="1417320"/>
            <a:ext cx="8221679" cy="406908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Comparison with Published Decoders</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53312"/>
            <a:ext cx="10972800" cy="914400"/>
          </a:xfrm>
          <a:prstGeom prst="rect">
            <a:avLst/>
          </a:prstGeom>
          <a:noFill/>
        </p:spPr>
        <p:txBody>
          <a:bodyPr wrap="square" anchor="t">
            <a:spAutoFit/>
          </a:bodyPr>
          <a:lstStyle/>
          <a:p>
            <a:pPr algn="l">
              <a:lnSpc>
                <a:spcPct val="118000"/>
              </a:lnSpc>
              <a:spcAft>
                <a:spcPts val="800"/>
              </a:spcAft>
            </a:pPr>
            <a:r>
              <a:rPr sz="1700" b="1" i="0">
                <a:solidFill>
                  <a:srgbClr val="111111"/>
                </a:solidFill>
                <a:latin typeface="Times New Roman"/>
              </a:rPr>
              <a:t>One pipeline, shared splits, seeds and metric code, no per-model tuning. </a:t>
            </a:r>
            <a:r>
              <a:rPr sz="1700" b="0" i="0">
                <a:solidFill>
                  <a:srgbClr val="555555"/>
                </a:solidFill>
                <a:latin typeface="Times New Roman"/>
              </a:rPr>
              <a:t>On cohort C the reported model reaches 0.843 against 0.783 for the strongest published decoder, and the stem it is built on reaches 0.779.</a:t>
            </a:r>
          </a:p>
        </p:txBody>
      </p:sp>
      <p:pic>
        <p:nvPicPr>
          <p:cNvPr id="6" name="Picture 5" descr="tab_compare.png"/>
          <p:cNvPicPr>
            <a:picLocks noChangeAspect="1"/>
          </p:cNvPicPr>
          <p:nvPr/>
        </p:nvPicPr>
        <p:blipFill>
          <a:blip r:embed="rId2"/>
          <a:stretch>
            <a:fillRect/>
          </a:stretch>
        </p:blipFill>
        <p:spPr>
          <a:xfrm>
            <a:off x="1202170" y="2468880"/>
            <a:ext cx="9757178" cy="32461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Branch versus Stem Across Cohorts</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53312"/>
            <a:ext cx="10972800" cy="914400"/>
          </a:xfrm>
          <a:prstGeom prst="rect">
            <a:avLst/>
          </a:prstGeom>
          <a:noFill/>
        </p:spPr>
        <p:txBody>
          <a:bodyPr wrap="square" anchor="t">
            <a:spAutoFit/>
          </a:bodyPr>
          <a:lstStyle/>
          <a:p>
            <a:pPr algn="l">
              <a:lnSpc>
                <a:spcPct val="118000"/>
              </a:lnSpc>
              <a:spcAft>
                <a:spcPts val="800"/>
              </a:spcAft>
            </a:pPr>
            <a:r>
              <a:rPr sz="1700" b="1" i="0">
                <a:solidFill>
                  <a:srgbClr val="111111"/>
                </a:solidFill>
                <a:latin typeface="Times New Roman"/>
              </a:rPr>
              <a:t>Four cohorts gain, one fails. </a:t>
            </a:r>
            <a:r>
              <a:rPr sz="1700" b="0" i="0">
                <a:solidFill>
                  <a:srgbClr val="555555"/>
                </a:solidFill>
                <a:latin typeface="Times New Roman"/>
              </a:rPr>
              <a:t>The branch adds +0.045 on A, +0.064 on C, +0.040 on D and +0.021 on E, and costs 0.175 on B. Cohort B is the one whose class blocks (214 windows) outlast the estimator memory (160), which Condition 1 names in advance.</a:t>
            </a:r>
          </a:p>
        </p:txBody>
      </p:sp>
      <p:pic>
        <p:nvPicPr>
          <p:cNvPr id="6" name="Picture 5" descr="tab_allcoh.png"/>
          <p:cNvPicPr>
            <a:picLocks noChangeAspect="1"/>
          </p:cNvPicPr>
          <p:nvPr/>
        </p:nvPicPr>
        <p:blipFill>
          <a:blip r:embed="rId2"/>
          <a:stretch>
            <a:fillRect/>
          </a:stretch>
        </p:blipFill>
        <p:spPr>
          <a:xfrm>
            <a:off x="640080" y="3106292"/>
            <a:ext cx="10881360" cy="1834135"/>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Results on the Held-Out Cohort</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5806440"/>
            <a:ext cx="10972800" cy="731520"/>
          </a:xfrm>
          <a:prstGeom prst="rect">
            <a:avLst/>
          </a:prstGeom>
          <a:noFill/>
        </p:spPr>
        <p:txBody>
          <a:bodyPr wrap="square" anchor="t">
            <a:spAutoFit/>
          </a:bodyPr>
          <a:lstStyle/>
          <a:p>
            <a:pPr algn="l">
              <a:lnSpc>
                <a:spcPct val="115000"/>
              </a:lnSpc>
              <a:spcAft>
                <a:spcPts val="800"/>
              </a:spcAft>
            </a:pPr>
            <a:r>
              <a:rPr sz="1600" b="1" i="0">
                <a:solidFill>
                  <a:srgbClr val="111111"/>
                </a:solidFill>
                <a:latin typeface="Times New Roman"/>
              </a:rPr>
              <a:t>Consistent, above the noise, and ahead of the field.  </a:t>
            </a:r>
            <a:r>
              <a:rPr sz="1600" b="0" i="0">
                <a:solidFill>
                  <a:srgbClr val="555555"/>
                </a:solidFill>
                <a:latin typeface="Times New Roman"/>
              </a:rPr>
              <a:t>(a) all 20 participants improve, mean +0.064 (p = 8.8 × 10⁻⁵). (b) the change exceeds that participant's own spread across seeds in 16 of the 20. (c) it leads the strongest published decoder on this cohort by +0.060, higher in 18 of 20 (p = 1.3 × 10⁻⁴). Calibration error falls from 0.075 to 0.062 on the same runs.</a:t>
            </a:r>
          </a:p>
        </p:txBody>
      </p:sp>
      <p:pic>
        <p:nvPicPr>
          <p:cNvPr id="7" name="Picture 6" descr="fig_cohortC.png"/>
          <p:cNvPicPr>
            <a:picLocks noChangeAspect="1"/>
          </p:cNvPicPr>
          <p:nvPr/>
        </p:nvPicPr>
        <p:blipFill>
          <a:blip r:embed="rId2"/>
          <a:stretch>
            <a:fillRect/>
          </a:stretch>
        </p:blipFill>
        <p:spPr>
          <a:xfrm>
            <a:off x="2310496" y="1508760"/>
            <a:ext cx="7577103" cy="3931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Effect Size Against Class-Block Length</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5806440"/>
            <a:ext cx="10972800" cy="731520"/>
          </a:xfrm>
          <a:prstGeom prst="rect">
            <a:avLst/>
          </a:prstGeom>
          <a:noFill/>
        </p:spPr>
        <p:txBody>
          <a:bodyPr wrap="square" anchor="t">
            <a:spAutoFit/>
          </a:bodyPr>
          <a:lstStyle/>
          <a:p>
            <a:pPr algn="l">
              <a:lnSpc>
                <a:spcPct val="115000"/>
              </a:lnSpc>
              <a:spcAft>
                <a:spcPts val="800"/>
              </a:spcAft>
            </a:pPr>
            <a:r>
              <a:rPr sz="1600" b="1" i="0">
                <a:solidFill>
                  <a:srgbClr val="111111"/>
                </a:solidFill>
                <a:latin typeface="Times New Roman"/>
              </a:rPr>
              <a:t>Nothing is fitted here:  </a:t>
            </a:r>
            <a:r>
              <a:rPr sz="1600" b="0" i="0">
                <a:solidFill>
                  <a:srgbClr val="555555"/>
                </a:solidFill>
                <a:latin typeface="Times New Roman"/>
              </a:rPr>
              <a:t>block length comes from the protocol and the memory from the optimiser settings. Plotting the effect against τ_blk separates the four cohorts that gain from the one that fails, at the memory boundary μ = 160.</a:t>
            </a:r>
          </a:p>
        </p:txBody>
      </p:sp>
      <p:pic>
        <p:nvPicPr>
          <p:cNvPr id="7" name="Picture 6" descr="fig_cohorts.png"/>
          <p:cNvPicPr>
            <a:picLocks noChangeAspect="1"/>
          </p:cNvPicPr>
          <p:nvPr/>
        </p:nvPicPr>
        <p:blipFill>
          <a:blip r:embed="rId2"/>
          <a:stretch>
            <a:fillRect/>
          </a:stretch>
        </p:blipFill>
        <p:spPr>
          <a:xfrm>
            <a:off x="1641470" y="1508760"/>
            <a:ext cx="8915155" cy="3931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Direct Manipulation of the Estimator Memory</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5806440"/>
            <a:ext cx="10972800" cy="731520"/>
          </a:xfrm>
          <a:prstGeom prst="rect">
            <a:avLst/>
          </a:prstGeom>
          <a:noFill/>
        </p:spPr>
        <p:txBody>
          <a:bodyPr wrap="square" anchor="t">
            <a:spAutoFit/>
          </a:bodyPr>
          <a:lstStyle/>
          <a:p>
            <a:pPr algn="l">
              <a:lnSpc>
                <a:spcPct val="115000"/>
              </a:lnSpc>
              <a:spcAft>
                <a:spcPts val="800"/>
              </a:spcAft>
            </a:pPr>
            <a:r>
              <a:rPr sz="1600" b="1" i="0">
                <a:solidFill>
                  <a:srgbClr val="111111"/>
                </a:solidFill>
                <a:latin typeface="Times New Roman"/>
              </a:rPr>
              <a:t>One cohort, one variable:  </a:t>
            </a:r>
            <a:r>
              <a:rPr sz="1600" b="0" i="0">
                <a:solidFill>
                  <a:srgbClr val="555555"/>
                </a:solidFill>
                <a:latin typeface="Times New Roman"/>
              </a:rPr>
              <a:t>moving the estimator memory across the block length switches the effect off and on. On cohort A it is +0.045 at μ = 160, +0.048 at 40 and −0.076 at 8, worse in every participant. Enlarging μ on the failing cohort recovers 74 % of the loss.</a:t>
            </a:r>
          </a:p>
        </p:txBody>
      </p:sp>
      <p:pic>
        <p:nvPicPr>
          <p:cNvPr id="7" name="Picture 6" descr="fig_rate.png"/>
          <p:cNvPicPr>
            <a:picLocks noChangeAspect="1"/>
          </p:cNvPicPr>
          <p:nvPr/>
        </p:nvPicPr>
        <p:blipFill>
          <a:blip r:embed="rId2"/>
          <a:stretch>
            <a:fillRect/>
          </a:stretch>
        </p:blipFill>
        <p:spPr>
          <a:xfrm>
            <a:off x="2548790" y="1508760"/>
            <a:ext cx="7100514" cy="3931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Estimator Memory and Block Length: Summary</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00200"/>
            <a:ext cx="5074920" cy="4206240"/>
          </a:xfrm>
          <a:prstGeom prst="rect">
            <a:avLst/>
          </a:prstGeom>
          <a:noFill/>
        </p:spPr>
        <p:txBody>
          <a:bodyPr wrap="square" anchor="t">
            <a:spAutoFit/>
          </a:bodyPr>
          <a:lstStyle/>
          <a:p>
            <a:pPr algn="l">
              <a:lnSpc>
                <a:spcPct val="115000"/>
              </a:lnSpc>
              <a:spcAft>
                <a:spcPts val="1200"/>
              </a:spcAft>
            </a:pPr>
            <a:r>
              <a:rPr sz="1800" b="1" i="0">
                <a:solidFill>
                  <a:srgbClr val="111111"/>
                </a:solidFill>
                <a:latin typeface="Times New Roman"/>
              </a:rPr>
              <a:t>The condition gives an ordering and a direction.</a:t>
            </a:r>
          </a:p>
          <a:p>
            <a:pPr algn="l">
              <a:lnSpc>
                <a:spcPct val="118000"/>
              </a:lnSpc>
              <a:spcAft>
                <a:spcPts val="1200"/>
              </a:spcAft>
            </a:pPr>
            <a:r>
              <a:rPr sz="1600" b="0" i="0">
                <a:solidFill>
                  <a:srgbClr val="555555"/>
                </a:solidFill>
                <a:latin typeface="Times New Roman"/>
              </a:rPr>
              <a:t>It does not give a rate a practitioner could set. A stronger prescription, setting the rate from the block length with a margin of two, was pre-registered and falsified: at the memory it prescribes cohort B reaches 0.650, against 0.744 for the stem alone.</a:t>
            </a:r>
          </a:p>
          <a:p>
            <a:pPr algn="l">
              <a:lnSpc>
                <a:spcPct val="118000"/>
              </a:lnSpc>
              <a:spcAft>
                <a:spcPts val="800"/>
              </a:spcAft>
            </a:pPr>
            <a:r>
              <a:rPr sz="1600" b="0" i="0">
                <a:solidFill>
                  <a:srgbClr val="555555"/>
                </a:solidFill>
                <a:latin typeface="Times New Roman"/>
              </a:rPr>
              <a:t>The upper bound of the condition is not measured here.</a:t>
            </a:r>
          </a:p>
        </p:txBody>
      </p:sp>
      <p:pic>
        <p:nvPicPr>
          <p:cNvPr id="6" name="Picture 5" descr="tab_rate.png"/>
          <p:cNvPicPr>
            <a:picLocks noChangeAspect="1"/>
          </p:cNvPicPr>
          <p:nvPr/>
        </p:nvPicPr>
        <p:blipFill>
          <a:blip r:embed="rId2"/>
          <a:stretch>
            <a:fillRect/>
          </a:stretch>
        </p:blipFill>
        <p:spPr>
          <a:xfrm>
            <a:off x="5897880" y="2695692"/>
            <a:ext cx="5715000" cy="1832375"/>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Ablation Study</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53312"/>
            <a:ext cx="10972800" cy="914400"/>
          </a:xfrm>
          <a:prstGeom prst="rect">
            <a:avLst/>
          </a:prstGeom>
          <a:noFill/>
        </p:spPr>
        <p:txBody>
          <a:bodyPr wrap="square" anchor="t">
            <a:spAutoFit/>
          </a:bodyPr>
          <a:lstStyle/>
          <a:p>
            <a:pPr algn="l">
              <a:lnSpc>
                <a:spcPct val="118000"/>
              </a:lnSpc>
              <a:spcAft>
                <a:spcPts val="800"/>
              </a:spcAft>
            </a:pPr>
            <a:r>
              <a:rPr sz="1700" b="1" i="0">
                <a:solidFill>
                  <a:srgbClr val="111111"/>
                </a:solidFill>
                <a:latin typeface="Times New Roman"/>
              </a:rPr>
              <a:t>Every row is a choice the architecture makes. </a:t>
            </a:r>
            <a:r>
              <a:rPr sz="1700" b="0" i="0">
                <a:solidFill>
                  <a:srgbClr val="555555"/>
                </a:solidFill>
                <a:latin typeface="Times New Roman"/>
              </a:rPr>
              <a:t>The branch raises accuracy and cuts the seed spread about nine-fold. Freezing the reference after fitting or removing it entirely both cost accuracy, so the adapting reference is where the gain comes from.</a:t>
            </a:r>
          </a:p>
        </p:txBody>
      </p:sp>
      <p:pic>
        <p:nvPicPr>
          <p:cNvPr id="6" name="Picture 5" descr="tab_ablation.png"/>
          <p:cNvPicPr>
            <a:picLocks noChangeAspect="1"/>
          </p:cNvPicPr>
          <p:nvPr/>
        </p:nvPicPr>
        <p:blipFill>
          <a:blip r:embed="rId2"/>
          <a:stretch>
            <a:fillRect/>
          </a:stretch>
        </p:blipFill>
        <p:spPr>
          <a:xfrm>
            <a:off x="1399032" y="2468880"/>
            <a:ext cx="9363456" cy="1965960"/>
          </a:xfrm>
          <a:prstGeom prst="rect">
            <a:avLst/>
          </a:prstGeom>
        </p:spPr>
      </p:pic>
      <p:pic>
        <p:nvPicPr>
          <p:cNvPr id="7" name="Picture 6" descr="tab_tanref.png"/>
          <p:cNvPicPr>
            <a:picLocks noChangeAspect="1"/>
          </p:cNvPicPr>
          <p:nvPr/>
        </p:nvPicPr>
        <p:blipFill>
          <a:blip r:embed="rId3"/>
          <a:stretch>
            <a:fillRect/>
          </a:stretch>
        </p:blipFill>
        <p:spPr>
          <a:xfrm>
            <a:off x="3299908" y="4663440"/>
            <a:ext cx="5561703" cy="118872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Measurement Noise and Ranking Criteria</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00200"/>
            <a:ext cx="5074920" cy="4206240"/>
          </a:xfrm>
          <a:prstGeom prst="rect">
            <a:avLst/>
          </a:prstGeom>
          <a:noFill/>
        </p:spPr>
        <p:txBody>
          <a:bodyPr wrap="square" anchor="t">
            <a:spAutoFit/>
          </a:bodyPr>
          <a:lstStyle/>
          <a:p>
            <a:pPr algn="l">
              <a:lnSpc>
                <a:spcPct val="115000"/>
              </a:lnSpc>
              <a:spcAft>
                <a:spcPts val="1200"/>
              </a:spcAft>
            </a:pPr>
            <a:r>
              <a:rPr sz="1800" b="1" i="0">
                <a:solidFill>
                  <a:srgbClr val="111111"/>
                </a:solidFill>
                <a:latin typeface="Times New Roman"/>
              </a:rPr>
              <a:t>What can be ranked, and what cannot.</a:t>
            </a:r>
          </a:p>
          <a:p>
            <a:pPr algn="l">
              <a:lnSpc>
                <a:spcPct val="118000"/>
              </a:lnSpc>
              <a:spcAft>
                <a:spcPts val="1200"/>
              </a:spcAft>
            </a:pPr>
            <a:r>
              <a:rPr sz="1600" b="0" i="0">
                <a:solidFill>
                  <a:srgbClr val="555555"/>
                </a:solidFill>
                <a:latin typeface="Times New Roman"/>
              </a:rPr>
              <a:t>Across three data-split seeds the reported model spans 0.007 to 0.022 depending on the cohort, and the stem spans 0.011 to 0.057. The stem is the noisier arm on all five cohorts, so the branch does not buy its accuracy with a less stable fit.</a:t>
            </a:r>
          </a:p>
          <a:p>
            <a:pPr algn="l">
              <a:lnSpc>
                <a:spcPct val="118000"/>
              </a:lnSpc>
              <a:spcAft>
                <a:spcPts val="800"/>
              </a:spcAft>
            </a:pPr>
            <a:r>
              <a:rPr sz="1600" b="1" i="0">
                <a:solidFill>
                  <a:srgbClr val="111111"/>
                </a:solidFill>
                <a:latin typeface="Times New Roman"/>
              </a:rPr>
              <a:t>Differences below 0.02 are not interpreted anywhere in this work.</a:t>
            </a:r>
          </a:p>
        </p:txBody>
      </p:sp>
      <p:pic>
        <p:nvPicPr>
          <p:cNvPr id="6" name="Picture 5" descr="tab_noise.png"/>
          <p:cNvPicPr>
            <a:picLocks noChangeAspect="1"/>
          </p:cNvPicPr>
          <p:nvPr/>
        </p:nvPicPr>
        <p:blipFill>
          <a:blip r:embed="rId2"/>
          <a:stretch>
            <a:fillRect/>
          </a:stretch>
        </p:blipFill>
        <p:spPr>
          <a:xfrm>
            <a:off x="6722850" y="1417320"/>
            <a:ext cx="4156499" cy="43434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Control-Relevant Outcome Measures</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00200"/>
            <a:ext cx="5074920" cy="4206240"/>
          </a:xfrm>
          <a:prstGeom prst="rect">
            <a:avLst/>
          </a:prstGeom>
          <a:noFill/>
        </p:spPr>
        <p:txBody>
          <a:bodyPr wrap="square" anchor="t">
            <a:spAutoFit/>
          </a:bodyPr>
          <a:lstStyle/>
          <a:p>
            <a:pPr algn="l">
              <a:lnSpc>
                <a:spcPct val="115000"/>
              </a:lnSpc>
              <a:spcAft>
                <a:spcPts val="1200"/>
              </a:spcAft>
            </a:pPr>
            <a:r>
              <a:rPr sz="1800" b="1" i="0">
                <a:solidFill>
                  <a:srgbClr val="111111"/>
                </a:solidFill>
                <a:latin typeface="Times New Roman"/>
              </a:rPr>
              <a:t>Balanced accuracy is not what a wearer experiences.</a:t>
            </a:r>
          </a:p>
          <a:p>
            <a:pPr algn="l">
              <a:lnSpc>
                <a:spcPct val="118000"/>
              </a:lnSpc>
              <a:spcAft>
                <a:spcPts val="1200"/>
              </a:spcAft>
            </a:pPr>
            <a:r>
              <a:rPr sz="1600" b="0" i="0">
                <a:solidFill>
                  <a:srgbClr val="555555"/>
                </a:solidFill>
                <a:latin typeface="Times New Roman"/>
              </a:rPr>
              <a:t>Calibration improves on four of five cohorts and the missed-onset rate falls on four, so the accuracy is not bought with a worse-behaved posterior.</a:t>
            </a:r>
          </a:p>
          <a:p>
            <a:pPr algn="l">
              <a:lnSpc>
                <a:spcPct val="118000"/>
              </a:lnSpc>
              <a:spcAft>
                <a:spcPts val="800"/>
              </a:spcAft>
            </a:pPr>
            <a:r>
              <a:rPr sz="1600" b="0" i="0">
                <a:solidFill>
                  <a:srgbClr val="555555"/>
                </a:solidFill>
                <a:latin typeface="Times New Roman"/>
              </a:rPr>
              <a:t>The exception is cohort A, where spurious walk commands rise from 0.70 to 2.09 per minute of standing. For a device that moves a wearer's legs that is a real cost, and it is reported rather than the accuracy alone.</a:t>
            </a:r>
          </a:p>
        </p:txBody>
      </p:sp>
      <p:pic>
        <p:nvPicPr>
          <p:cNvPr id="6" name="Picture 5" descr="tab_deploy.png"/>
          <p:cNvPicPr>
            <a:picLocks noChangeAspect="1"/>
          </p:cNvPicPr>
          <p:nvPr/>
        </p:nvPicPr>
        <p:blipFill>
          <a:blip r:embed="rId2"/>
          <a:stretch>
            <a:fillRect/>
          </a:stretch>
        </p:blipFill>
        <p:spPr>
          <a:xfrm>
            <a:off x="5989320" y="2130958"/>
            <a:ext cx="5623560" cy="2916123"/>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Results on Cohorts D and E</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00200"/>
            <a:ext cx="5074920" cy="4206240"/>
          </a:xfrm>
          <a:prstGeom prst="rect">
            <a:avLst/>
          </a:prstGeom>
          <a:noFill/>
        </p:spPr>
        <p:txBody>
          <a:bodyPr wrap="square" anchor="t">
            <a:spAutoFit/>
          </a:bodyPr>
          <a:lstStyle/>
          <a:p>
            <a:pPr algn="l">
              <a:lnSpc>
                <a:spcPct val="115000"/>
              </a:lnSpc>
              <a:spcAft>
                <a:spcPts val="1200"/>
              </a:spcAft>
            </a:pPr>
            <a:r>
              <a:rPr sz="1800" b="1" i="0">
                <a:solidFill>
                  <a:srgbClr val="111111"/>
                </a:solidFill>
                <a:latin typeface="Times New Roman"/>
              </a:rPr>
              <a:t>The branch leads every published decoder on both.</a:t>
            </a:r>
          </a:p>
          <a:p>
            <a:pPr algn="l">
              <a:lnSpc>
                <a:spcPct val="118000"/>
              </a:lnSpc>
              <a:spcAft>
                <a:spcPts val="1200"/>
              </a:spcAft>
            </a:pPr>
            <a:r>
              <a:rPr sz="1600" b="0" i="0">
                <a:solidFill>
                  <a:srgbClr val="555555"/>
                </a:solidFill>
                <a:latin typeface="Times New Roman"/>
              </a:rPr>
              <a:t>0.741 against 0.682 for the strongest on cohort D, and 0.949 against 0.896 on cohort E. The stem alone also clears them, so the ordering does not depend on the branch; what the branch adds is the margin.</a:t>
            </a:r>
          </a:p>
          <a:p>
            <a:pPr algn="l">
              <a:lnSpc>
                <a:spcPct val="118000"/>
              </a:lnSpc>
              <a:spcAft>
                <a:spcPts val="800"/>
              </a:spcAft>
            </a:pPr>
            <a:r>
              <a:rPr sz="1500" b="0" i="0">
                <a:solidFill>
                  <a:srgbClr val="555555"/>
                </a:solidFill>
                <a:latin typeface="Times New Roman"/>
              </a:rPr>
              <a:t>Cohort D needs a caveat the margin hides: five of its eight decoders are left near chance on at least one seed, which its ~100 fitting windows per participant explain. Only the three that trained are load-bearing.</a:t>
            </a:r>
          </a:p>
        </p:txBody>
      </p:sp>
      <p:pic>
        <p:nvPicPr>
          <p:cNvPr id="6" name="Picture 5" descr="tab_newbase.png"/>
          <p:cNvPicPr>
            <a:picLocks noChangeAspect="1"/>
          </p:cNvPicPr>
          <p:nvPr/>
        </p:nvPicPr>
        <p:blipFill>
          <a:blip r:embed="rId2"/>
          <a:stretch>
            <a:fillRect/>
          </a:stretch>
        </p:blipFill>
        <p:spPr>
          <a:xfrm>
            <a:off x="5989320" y="2099298"/>
            <a:ext cx="5623560" cy="297944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Limitations</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00200"/>
            <a:ext cx="10972800" cy="2743200"/>
          </a:xfrm>
          <a:prstGeom prst="rect">
            <a:avLst/>
          </a:prstGeom>
          <a:noFill/>
        </p:spPr>
        <p:txBody>
          <a:bodyPr wrap="square" anchor="t">
            <a:spAutoFit/>
          </a:bodyPr>
          <a:lstStyle/>
          <a:p>
            <a:pPr algn="l">
              <a:lnSpc>
                <a:spcPct val="118000"/>
              </a:lnSpc>
              <a:spcAft>
                <a:spcPts val="1100"/>
              </a:spcAft>
            </a:pPr>
            <a:r>
              <a:rPr sz="1700" b="1" i="0">
                <a:solidFill>
                  <a:srgbClr val="111111"/>
                </a:solidFill>
                <a:latin typeface="Times New Roman"/>
              </a:rPr>
              <a:t>•  The boundary was found after the fact:</a:t>
            </a:r>
            <a:r>
              <a:rPr sz="1700" b="0" i="0">
                <a:solidFill>
                  <a:srgbClr val="555555"/>
                </a:solidFill>
                <a:latin typeface="Times New Roman"/>
              </a:rPr>
              <a:t> it separates all five cohorts with nothing fitted, but was identified after A, B and C had been run. Only D and E were prospective.</a:t>
            </a:r>
          </a:p>
          <a:p>
            <a:pPr algn="l">
              <a:lnSpc>
                <a:spcPct val="118000"/>
              </a:lnSpc>
              <a:spcAft>
                <a:spcPts val="1100"/>
              </a:spcAft>
            </a:pPr>
            <a:r>
              <a:rPr sz="1700" b="1" i="0">
                <a:solidFill>
                  <a:srgbClr val="111111"/>
                </a:solidFill>
                <a:latin typeface="Times New Roman"/>
              </a:rPr>
              <a:t>•  No artefact rejection for this configuration:</a:t>
            </a:r>
            <a:r>
              <a:rPr sz="1700" b="0" i="0">
                <a:solidFill>
                  <a:srgbClr val="555555"/>
                </a:solidFill>
                <a:latin typeface="Times New Roman"/>
              </a:rPr>
              <a:t> the ICA control constrains the artefact account on seven participants and does not exclude it. A power contrast is not an artefact rejection.</a:t>
            </a:r>
          </a:p>
          <a:p>
            <a:pPr algn="l">
              <a:lnSpc>
                <a:spcPct val="118000"/>
              </a:lnSpc>
              <a:spcAft>
                <a:spcPts val="1100"/>
              </a:spcAft>
            </a:pPr>
            <a:r>
              <a:rPr sz="1700" b="1" i="0">
                <a:solidFill>
                  <a:srgbClr val="111111"/>
                </a:solidFill>
                <a:latin typeface="Times New Roman"/>
              </a:rPr>
              <a:t>•  Cohort size:</a:t>
            </a:r>
            <a:r>
              <a:rPr sz="1700" b="0" i="0">
                <a:solidFill>
                  <a:srgbClr val="555555"/>
                </a:solidFill>
                <a:latin typeface="Times New Roman"/>
              </a:rPr>
              <a:t> 7, 8, 20, 9 and 7 participants. Between-subject SD of 0.06 to 0.13 is large relative to the differences between arms.</a:t>
            </a:r>
          </a:p>
          <a:p>
            <a:pPr algn="l">
              <a:lnSpc>
                <a:spcPct val="118000"/>
              </a:lnSpc>
              <a:spcAft>
                <a:spcPts val="1100"/>
              </a:spcAft>
            </a:pPr>
            <a:r>
              <a:rPr sz="1700" b="1" i="0">
                <a:solidFill>
                  <a:srgbClr val="111111"/>
                </a:solidFill>
                <a:latin typeface="Times New Roman"/>
              </a:rPr>
              <a:t>•  The branch is not compact:</a:t>
            </a:r>
            <a:r>
              <a:rPr sz="1700" b="0" i="0">
                <a:solidFill>
                  <a:srgbClr val="555555"/>
                </a:solidFill>
                <a:latin typeface="Times New Roman"/>
              </a:rPr>
              <a:t> 238,028 parameters against a 19,505-parameter stem path, so no parameter-efficiency claim is made.</a:t>
            </a:r>
          </a:p>
        </p:txBody>
      </p:sp>
      <p:sp>
        <p:nvSpPr>
          <p:cNvPr id="6" name="Rectangle 5"/>
          <p:cNvSpPr/>
          <p:nvPr/>
        </p:nvSpPr>
        <p:spPr>
          <a:xfrm>
            <a:off x="640080" y="4892040"/>
            <a:ext cx="10908792" cy="1325880"/>
          </a:xfrm>
          <a:prstGeom prst="rect">
            <a:avLst/>
          </a:prstGeom>
          <a:solidFill>
            <a:srgbClr val="FFFFFF"/>
          </a:solidFill>
          <a:ln w="16510">
            <a:solidFill>
              <a:srgbClr val="444444"/>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lnSpc>
                <a:spcPct val="115000"/>
              </a:lnSpc>
              <a:spcAft>
                <a:spcPts val="800"/>
              </a:spcAft>
            </a:pPr>
            <a:r>
              <a:rPr sz="1300" b="1" i="0">
                <a:solidFill>
                  <a:srgbClr val="111111"/>
                </a:solidFill>
                <a:latin typeface="Times New Roman"/>
              </a:rPr>
              <a:t>THE TEST THAT WOULD SETTLE IT   </a:t>
            </a:r>
            <a:r>
              <a:rPr sz="1700" b="0" i="1">
                <a:solidFill>
                  <a:srgbClr val="111111"/>
                </a:solidFill>
                <a:latin typeface="Times New Roman"/>
              </a:rPr>
              <a:t>choose a protocol whose class blocks fall between 18 and 214 windows, register the prediction, and run it once.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Conclusion</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54480"/>
            <a:ext cx="10972800" cy="1783080"/>
          </a:xfrm>
          <a:prstGeom prst="rect">
            <a:avLst/>
          </a:prstGeom>
          <a:noFill/>
        </p:spPr>
        <p:txBody>
          <a:bodyPr wrap="square" anchor="t">
            <a:spAutoFit/>
          </a:bodyPr>
          <a:lstStyle/>
          <a:p>
            <a:pPr algn="l">
              <a:lnSpc>
                <a:spcPct val="118000"/>
              </a:lnSpc>
              <a:spcAft>
                <a:spcPts val="1000"/>
              </a:spcAft>
            </a:pPr>
            <a:r>
              <a:rPr sz="1800" b="0" i="0">
                <a:solidFill>
                  <a:srgbClr val="555555"/>
                </a:solidFill>
                <a:latin typeface="Times New Roman"/>
              </a:rPr>
              <a:t>The covariance structure a log-power stem discards does carry movement intent. A tangent-space branch raises balanced accuracy on four of five cohorts, and on 20 of 20 participants of a cohort held out from every design decision.</a:t>
            </a:r>
          </a:p>
          <a:p>
            <a:pPr algn="l">
              <a:lnSpc>
                <a:spcPct val="118000"/>
              </a:lnSpc>
              <a:spcAft>
                <a:spcPts val="800"/>
              </a:spcAft>
            </a:pPr>
            <a:r>
              <a:rPr sz="1800" b="0" i="0">
                <a:solidFill>
                  <a:srgbClr val="555555"/>
                </a:solidFill>
                <a:latin typeface="Times New Roman"/>
              </a:rPr>
              <a:t>Where it fails, it fails predictably: the estimator memory against the class-block length separates all five cohorts with nothing fitted.</a:t>
            </a:r>
          </a:p>
        </p:txBody>
      </p:sp>
      <p:sp>
        <p:nvSpPr>
          <p:cNvPr id="6" name="Rectangle 5"/>
          <p:cNvSpPr/>
          <p:nvPr/>
        </p:nvSpPr>
        <p:spPr>
          <a:xfrm>
            <a:off x="640080" y="3429000"/>
            <a:ext cx="10908792" cy="1234440"/>
          </a:xfrm>
          <a:prstGeom prst="rect">
            <a:avLst/>
          </a:prstGeom>
          <a:solidFill>
            <a:srgbClr val="FFFFFF"/>
          </a:solidFill>
          <a:ln w="16510">
            <a:solidFill>
              <a:srgbClr val="444444"/>
            </a:solidFill>
          </a:ln>
          <a:effectLst/>
        </p:spPr>
        <p:style>
          <a:lnRef idx="1">
            <a:schemeClr val="accent1"/>
          </a:lnRef>
          <a:fillRef idx="3">
            <a:schemeClr val="accent1"/>
          </a:fillRef>
          <a:effectRef idx="2">
            <a:schemeClr val="accent1"/>
          </a:effectRef>
          <a:fontRef idx="minor">
            <a:schemeClr val="lt1"/>
          </a:fontRef>
        </p:style>
        <p:txBody>
          <a:bodyPr wrap="square" lIns="228600" rtlCol="0" anchor="ctr"/>
          <a:lstStyle/>
          <a:p>
            <a:pPr algn="l">
              <a:lnSpc>
                <a:spcPct val="115000"/>
              </a:lnSpc>
              <a:spcAft>
                <a:spcPts val="600"/>
              </a:spcAft>
            </a:pPr>
            <a:r>
              <a:rPr sz="1800" b="1" i="0">
                <a:solidFill>
                  <a:srgbClr val="111111"/>
                </a:solidFill>
                <a:latin typeface="Times New Roman"/>
              </a:rPr>
              <a:t>The condition is the part worth building on, and the part least finished.</a:t>
            </a:r>
          </a:p>
          <a:p>
            <a:pPr algn="l">
              <a:lnSpc>
                <a:spcPct val="118000"/>
              </a:lnSpc>
              <a:spcAft>
                <a:spcPts val="800"/>
              </a:spcAft>
            </a:pPr>
            <a:r>
              <a:rPr sz="1600" b="0" i="0">
                <a:solidFill>
                  <a:srgbClr val="555555"/>
                </a:solidFill>
                <a:latin typeface="Times New Roman"/>
              </a:rPr>
              <a:t>It yields no rate a practitioner could set, and its upper side has never been measured.</a:t>
            </a:r>
          </a:p>
        </p:txBody>
      </p:sp>
      <p:sp>
        <p:nvSpPr>
          <p:cNvPr id="7" name="TextBox 6"/>
          <p:cNvSpPr txBox="1"/>
          <p:nvPr/>
        </p:nvSpPr>
        <p:spPr>
          <a:xfrm>
            <a:off x="640080" y="4937760"/>
            <a:ext cx="10972800" cy="1005840"/>
          </a:xfrm>
          <a:prstGeom prst="rect">
            <a:avLst/>
          </a:prstGeom>
          <a:noFill/>
        </p:spPr>
        <p:txBody>
          <a:bodyPr wrap="square" anchor="t">
            <a:spAutoFit/>
          </a:bodyPr>
          <a:lstStyle/>
          <a:p>
            <a:pPr algn="l">
              <a:lnSpc>
                <a:spcPct val="118000"/>
              </a:lnSpc>
              <a:spcAft>
                <a:spcPts val="800"/>
              </a:spcAft>
            </a:pPr>
            <a:r>
              <a:rPr sz="1800" b="1" i="0">
                <a:solidFill>
                  <a:srgbClr val="111111"/>
                </a:solidFill>
                <a:latin typeface="Times New Roman"/>
              </a:rPr>
              <a:t>Next: </a:t>
            </a:r>
            <a:r>
              <a:rPr sz="1800" b="0" i="0">
                <a:solidFill>
                  <a:srgbClr val="555555"/>
                </a:solidFill>
                <a:latin typeface="Times New Roman"/>
              </a:rPr>
              <a:t>a protocol whose class blocks fall between 18 and 214 windows, with the prediction registered before the run. That is the experiment that would turn an ordering into a rate.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References</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98448"/>
            <a:ext cx="10972800" cy="320040"/>
          </a:xfrm>
          <a:prstGeom prst="rect">
            <a:avLst/>
          </a:prstGeom>
          <a:noFill/>
        </p:spPr>
        <p:txBody>
          <a:bodyPr wrap="square" anchor="t">
            <a:spAutoFit/>
          </a:bodyPr>
          <a:lstStyle/>
          <a:p>
            <a:pPr algn="l">
              <a:lnSpc>
                <a:spcPct val="110000"/>
              </a:lnSpc>
              <a:spcAft>
                <a:spcPts val="800"/>
              </a:spcAft>
            </a:pPr>
            <a:r>
              <a:rPr sz="1250" b="0" i="1">
                <a:solidFill>
                  <a:srgbClr val="555555"/>
                </a:solidFill>
                <a:latin typeface="Times New Roman"/>
              </a:rPr>
              <a:t>Works cited on these slides, keyed to their [author, year] tags.</a:t>
            </a:r>
          </a:p>
        </p:txBody>
      </p:sp>
      <p:sp>
        <p:nvSpPr>
          <p:cNvPr id="6" name="TextBox 5"/>
          <p:cNvSpPr txBox="1"/>
          <p:nvPr/>
        </p:nvSpPr>
        <p:spPr>
          <a:xfrm>
            <a:off x="640080" y="1783080"/>
            <a:ext cx="5440680" cy="4663440"/>
          </a:xfrm>
          <a:prstGeom prst="rect">
            <a:avLst/>
          </a:prstGeom>
          <a:noFill/>
        </p:spPr>
        <p:txBody>
          <a:bodyPr wrap="square" anchor="t">
            <a:spAutoFit/>
          </a:bodyPr>
          <a:lstStyle/>
          <a:p>
            <a:pPr algn="l">
              <a:lnSpc>
                <a:spcPct val="106000"/>
              </a:lnSpc>
              <a:spcAft>
                <a:spcPts val="900"/>
              </a:spcAft>
            </a:pPr>
            <a:r>
              <a:rPr sz="1100" b="1" i="0">
                <a:solidFill>
                  <a:srgbClr val="111111"/>
                </a:solidFill>
                <a:latin typeface="Times New Roman"/>
              </a:rPr>
              <a:t>[Sarkar 2026]  </a:t>
            </a:r>
            <a:r>
              <a:rPr sz="1050" b="0" i="0">
                <a:solidFill>
                  <a:srgbClr val="555555"/>
                </a:solidFill>
                <a:latin typeface="Times New Roman"/>
              </a:rPr>
              <a:t>S. Sarkar et al., “EEG-controlled exoskeleton for walking and standing: a longitudinal multimodal dataset,” Sci. Data, 2026. (OpenNeuro ds007788)</a:t>
            </a:r>
          </a:p>
          <a:p>
            <a:pPr algn="l">
              <a:lnSpc>
                <a:spcPct val="106000"/>
              </a:lnSpc>
              <a:spcAft>
                <a:spcPts val="900"/>
              </a:spcAft>
            </a:pPr>
            <a:r>
              <a:rPr sz="1100" b="1" i="0">
                <a:solidFill>
                  <a:srgbClr val="111111"/>
                </a:solidFill>
                <a:latin typeface="Times New Roman"/>
              </a:rPr>
              <a:t>[Ferrero 2024]  </a:t>
            </a:r>
            <a:r>
              <a:rPr sz="1050" b="0" i="0">
                <a:solidFill>
                  <a:srgbClr val="555555"/>
                </a:solidFill>
                <a:latin typeface="Times New Roman"/>
              </a:rPr>
              <a:t>L. Ferrero et al., “Brain-machine interface based on deep learning to control a lower-limb robotic exoskeleton,” J. NeuroEng. Rehabil., 21(48), 2024.</a:t>
            </a:r>
          </a:p>
          <a:p>
            <a:pPr algn="l">
              <a:lnSpc>
                <a:spcPct val="106000"/>
              </a:lnSpc>
              <a:spcAft>
                <a:spcPts val="900"/>
              </a:spcAft>
            </a:pPr>
            <a:r>
              <a:rPr sz="1100" b="1" i="0">
                <a:solidFill>
                  <a:srgbClr val="111111"/>
                </a:solidFill>
                <a:latin typeface="Times New Roman"/>
              </a:rPr>
              <a:t>[Soriano 2025]  </a:t>
            </a:r>
            <a:r>
              <a:rPr sz="1050" b="0" i="0">
                <a:solidFill>
                  <a:srgbClr val="555555"/>
                </a:solidFill>
                <a:latin typeface="Times New Roman"/>
              </a:rPr>
              <a:t>P. Soriano-Segura, M. Ortiz et al., “Characterization of error-related potentials during exoskeleton command via deep learning,” J. NeuroEng. Rehabil., 2025.</a:t>
            </a:r>
          </a:p>
          <a:p>
            <a:pPr algn="l">
              <a:lnSpc>
                <a:spcPct val="106000"/>
              </a:lnSpc>
              <a:spcAft>
                <a:spcPts val="900"/>
              </a:spcAft>
            </a:pPr>
            <a:r>
              <a:rPr sz="1100" b="1" i="0">
                <a:solidFill>
                  <a:srgbClr val="111111"/>
                </a:solidFill>
                <a:latin typeface="Times New Roman"/>
              </a:rPr>
              <a:t>[Tortora 2023]  </a:t>
            </a:r>
            <a:r>
              <a:rPr sz="1050" b="0" i="0">
                <a:solidFill>
                  <a:srgbClr val="555555"/>
                </a:solidFill>
                <a:latin typeface="Times New Roman"/>
              </a:rPr>
              <a:t>S. Tortora et al., “Cortical and muscular activity under robot-assisted gait modes during exoskeleton walking,” 2023.</a:t>
            </a:r>
          </a:p>
          <a:p>
            <a:pPr algn="l">
              <a:lnSpc>
                <a:spcPct val="106000"/>
              </a:lnSpc>
              <a:spcAft>
                <a:spcPts val="900"/>
              </a:spcAft>
            </a:pPr>
            <a:r>
              <a:rPr sz="1100" b="1" i="0">
                <a:solidFill>
                  <a:srgbClr val="111111"/>
                </a:solidFill>
                <a:latin typeface="Times New Roman"/>
              </a:rPr>
              <a:t>[Luu 2017]  </a:t>
            </a:r>
            <a:r>
              <a:rPr sz="1050" b="0" i="0">
                <a:solidFill>
                  <a:srgbClr val="555555"/>
                </a:solidFill>
                <a:latin typeface="Times New Roman"/>
              </a:rPr>
              <a:t>T. P. Luu et al., “Real-time EEG-based brain-computer interface to a virtual avatar enhances cortical involvement in human treadmill walking,” Sci. Rep., 7:8895, 2017.</a:t>
            </a:r>
          </a:p>
          <a:p>
            <a:pPr algn="l">
              <a:lnSpc>
                <a:spcPct val="106000"/>
              </a:lnSpc>
              <a:spcAft>
                <a:spcPts val="900"/>
              </a:spcAft>
            </a:pPr>
            <a:r>
              <a:rPr sz="1100" b="1" i="0">
                <a:solidFill>
                  <a:srgbClr val="111111"/>
                </a:solidFill>
                <a:latin typeface="Times New Roman"/>
              </a:rPr>
              <a:t>[Schalk 2004]  </a:t>
            </a:r>
            <a:r>
              <a:rPr sz="1050" b="0" i="0">
                <a:solidFill>
                  <a:srgbClr val="555555"/>
                </a:solidFill>
                <a:latin typeface="Times New Roman"/>
              </a:rPr>
              <a:t>G. Schalk et al., “BCI2000: a general-purpose brain-computer interface (BCI) system,” IEEE TBME, 51(6):1034-1043, 2004.</a:t>
            </a:r>
          </a:p>
          <a:p>
            <a:pPr algn="l">
              <a:lnSpc>
                <a:spcPct val="106000"/>
              </a:lnSpc>
              <a:spcAft>
                <a:spcPts val="900"/>
              </a:spcAft>
            </a:pPr>
            <a:r>
              <a:rPr sz="1100" b="1" i="0">
                <a:solidFill>
                  <a:srgbClr val="111111"/>
                </a:solidFill>
                <a:latin typeface="Times New Roman"/>
              </a:rPr>
              <a:t>[Brunner 2008]  </a:t>
            </a:r>
            <a:r>
              <a:rPr sz="1050" b="0" i="0">
                <a:solidFill>
                  <a:srgbClr val="555555"/>
                </a:solidFill>
                <a:latin typeface="Times New Roman"/>
              </a:rPr>
              <a:t>C. Brunner et al., “BCI Competition 2008 – Graz data set A,” Graz University of Technology, 2008. (BNCI2014-001)</a:t>
            </a:r>
          </a:p>
          <a:p>
            <a:pPr algn="l">
              <a:lnSpc>
                <a:spcPct val="106000"/>
              </a:lnSpc>
              <a:spcAft>
                <a:spcPts val="900"/>
              </a:spcAft>
            </a:pPr>
            <a:r>
              <a:rPr sz="1100" b="1" i="0">
                <a:solidFill>
                  <a:srgbClr val="111111"/>
                </a:solidFill>
                <a:latin typeface="Times New Roman"/>
              </a:rPr>
              <a:t>[Lawhern 2018]  </a:t>
            </a:r>
            <a:r>
              <a:rPr sz="1050" b="0" i="0">
                <a:solidFill>
                  <a:srgbClr val="555555"/>
                </a:solidFill>
                <a:latin typeface="Times New Roman"/>
              </a:rPr>
              <a:t>V. J. Lawhern et al., “EEGNet: a compact CNN for EEG-based brain-computer interfaces,” J. Neural Eng., 15(5), 2018.</a:t>
            </a:r>
          </a:p>
        </p:txBody>
      </p:sp>
      <p:sp>
        <p:nvSpPr>
          <p:cNvPr id="7" name="TextBox 6"/>
          <p:cNvSpPr txBox="1"/>
          <p:nvPr/>
        </p:nvSpPr>
        <p:spPr>
          <a:xfrm>
            <a:off x="6309360" y="1783080"/>
            <a:ext cx="5257800" cy="4663440"/>
          </a:xfrm>
          <a:prstGeom prst="rect">
            <a:avLst/>
          </a:prstGeom>
          <a:noFill/>
        </p:spPr>
        <p:txBody>
          <a:bodyPr wrap="square" anchor="t">
            <a:spAutoFit/>
          </a:bodyPr>
          <a:lstStyle/>
          <a:p>
            <a:pPr algn="l">
              <a:lnSpc>
                <a:spcPct val="106000"/>
              </a:lnSpc>
              <a:spcAft>
                <a:spcPts val="900"/>
              </a:spcAft>
            </a:pPr>
            <a:r>
              <a:rPr sz="1100" b="1" i="0">
                <a:solidFill>
                  <a:srgbClr val="111111"/>
                </a:solidFill>
                <a:latin typeface="Times New Roman"/>
              </a:rPr>
              <a:t>[Schirrmeister 2017]  </a:t>
            </a:r>
            <a:r>
              <a:rPr sz="1050" b="0" i="0">
                <a:solidFill>
                  <a:srgbClr val="555555"/>
                </a:solidFill>
                <a:latin typeface="Times New Roman"/>
              </a:rPr>
              <a:t>R. T. Schirrmeister et al., “Deep learning with convolutional neural networks for EEG decoding and visualization,” Hum. Brain Mapp., 38(11):5391-5420, 2017.</a:t>
            </a:r>
          </a:p>
          <a:p>
            <a:pPr algn="l">
              <a:lnSpc>
                <a:spcPct val="106000"/>
              </a:lnSpc>
              <a:spcAft>
                <a:spcPts val="900"/>
              </a:spcAft>
            </a:pPr>
            <a:r>
              <a:rPr sz="1100" b="1" i="0">
                <a:solidFill>
                  <a:srgbClr val="111111"/>
                </a:solidFill>
                <a:latin typeface="Times New Roman"/>
              </a:rPr>
              <a:t>[Song 2023]  </a:t>
            </a:r>
            <a:r>
              <a:rPr sz="1050" b="0" i="0">
                <a:solidFill>
                  <a:srgbClr val="555555"/>
                </a:solidFill>
                <a:latin typeface="Times New Roman"/>
              </a:rPr>
              <a:t>Y. Song et al., “EEG Conformer: convolutional transformer for EEG decoding and visualization,” IEEE TNSRE, 31:710-719, 2023.</a:t>
            </a:r>
          </a:p>
          <a:p>
            <a:pPr algn="l">
              <a:lnSpc>
                <a:spcPct val="106000"/>
              </a:lnSpc>
              <a:spcAft>
                <a:spcPts val="900"/>
              </a:spcAft>
            </a:pPr>
            <a:r>
              <a:rPr sz="1100" b="1" i="0">
                <a:solidFill>
                  <a:srgbClr val="111111"/>
                </a:solidFill>
                <a:latin typeface="Times New Roman"/>
              </a:rPr>
              <a:t>[Barachant 2012]  </a:t>
            </a:r>
            <a:r>
              <a:rPr sz="1050" b="0" i="0">
                <a:solidFill>
                  <a:srgbClr val="555555"/>
                </a:solidFill>
                <a:latin typeface="Times New Roman"/>
              </a:rPr>
              <a:t>A. Barachant et al., “Multiclass brain-computer interface classification by Riemannian geometry,” IEEE TBME, 59(4), 2012.</a:t>
            </a:r>
          </a:p>
          <a:p>
            <a:pPr algn="l">
              <a:lnSpc>
                <a:spcPct val="106000"/>
              </a:lnSpc>
              <a:spcAft>
                <a:spcPts val="900"/>
              </a:spcAft>
            </a:pPr>
            <a:r>
              <a:rPr sz="1100" b="1" i="0">
                <a:solidFill>
                  <a:srgbClr val="111111"/>
                </a:solidFill>
                <a:latin typeface="Times New Roman"/>
              </a:rPr>
              <a:t>[He 2020]  </a:t>
            </a:r>
            <a:r>
              <a:rPr sz="1050" b="0" i="0">
                <a:solidFill>
                  <a:srgbClr val="555555"/>
                </a:solidFill>
                <a:latin typeface="Times New Roman"/>
              </a:rPr>
              <a:t>H. He and D. Wu, “Transfer learning for brain-computer interfaces: a Euclidean space data alignment approach,” IEEE TBME, 67(2):399-410, 2020.</a:t>
            </a:r>
          </a:p>
          <a:p>
            <a:pPr algn="l">
              <a:lnSpc>
                <a:spcPct val="106000"/>
              </a:lnSpc>
              <a:spcAft>
                <a:spcPts val="900"/>
              </a:spcAft>
            </a:pPr>
            <a:r>
              <a:rPr sz="1100" b="1" i="0">
                <a:solidFill>
                  <a:srgbClr val="111111"/>
                </a:solidFill>
                <a:latin typeface="Times New Roman"/>
              </a:rPr>
              <a:t>[Rodrigues 2019]  </a:t>
            </a:r>
            <a:r>
              <a:rPr sz="1050" b="0" i="0">
                <a:solidFill>
                  <a:srgbClr val="555555"/>
                </a:solidFill>
                <a:latin typeface="Times New Roman"/>
              </a:rPr>
              <a:t>P. L. C. Rodrigues et al., “Riemannian Procrustes analysis: transfer learning for brain-computer interfaces,” IEEE TBME, 66(8):2390-2401, 2019.</a:t>
            </a:r>
          </a:p>
          <a:p>
            <a:pPr algn="l">
              <a:lnSpc>
                <a:spcPct val="106000"/>
              </a:lnSpc>
              <a:spcAft>
                <a:spcPts val="900"/>
              </a:spcAft>
            </a:pPr>
            <a:r>
              <a:rPr sz="1100" b="1" i="0">
                <a:solidFill>
                  <a:srgbClr val="111111"/>
                </a:solidFill>
                <a:latin typeface="Times New Roman"/>
              </a:rPr>
              <a:t>[Wang 2021]  </a:t>
            </a:r>
            <a:r>
              <a:rPr sz="1050" b="0" i="0">
                <a:solidFill>
                  <a:srgbClr val="555555"/>
                </a:solidFill>
                <a:latin typeface="Times New Roman"/>
              </a:rPr>
              <a:t>D. Wang et al., “Tent: fully test-time adaptation by entropy minimization,” ICLR, 2021.</a:t>
            </a:r>
          </a:p>
          <a:p>
            <a:pPr algn="l">
              <a:lnSpc>
                <a:spcPct val="106000"/>
              </a:lnSpc>
              <a:spcAft>
                <a:spcPts val="900"/>
              </a:spcAft>
            </a:pPr>
            <a:r>
              <a:rPr sz="1100" b="1" i="0">
                <a:solidFill>
                  <a:srgbClr val="111111"/>
                </a:solidFill>
                <a:latin typeface="Times New Roman"/>
              </a:rPr>
              <a:t>[Gong 2022]  </a:t>
            </a:r>
            <a:r>
              <a:rPr sz="1050" b="0" i="0">
                <a:solidFill>
                  <a:srgbClr val="555555"/>
                </a:solidFill>
                <a:latin typeface="Times New Roman"/>
              </a:rPr>
              <a:t>T. Gong et al., “NOTE: robust continual test-time adaptation against temporal correlation,” NeurIPS, 2022.</a:t>
            </a:r>
          </a:p>
          <a:p>
            <a:pPr algn="l">
              <a:lnSpc>
                <a:spcPct val="106000"/>
              </a:lnSpc>
              <a:spcAft>
                <a:spcPts val="900"/>
              </a:spcAft>
            </a:pPr>
            <a:r>
              <a:rPr sz="1100" b="1" i="0">
                <a:solidFill>
                  <a:srgbClr val="111111"/>
                </a:solidFill>
                <a:latin typeface="Times New Roman"/>
              </a:rPr>
              <a:t>[Pion-Tonachini 2019]  </a:t>
            </a:r>
            <a:r>
              <a:rPr sz="1050" b="0" i="0">
                <a:solidFill>
                  <a:srgbClr val="555555"/>
                </a:solidFill>
                <a:latin typeface="Times New Roman"/>
              </a:rPr>
              <a:t>L. Pion-Tonachini et al., “ICLabel: an automated electroencephalographic independent component classifier,” NeuroImage, 198:181-197, 2019.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1241</Words>
  <Application>Microsoft Office PowerPoint</Application>
  <PresentationFormat>Widescreen</PresentationFormat>
  <Paragraphs>159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Shuvo</dc:creator>
  <cp:keywords/>
  <dc:description>generated using python-pptx</dc:description>
  <cp:lastModifiedBy>Wahiduzzaman Suva</cp:lastModifiedBy>
  <cp:revision>1</cp:revision>
  <dcterms:created xsi:type="dcterms:W3CDTF">2013-01-27T09:14:16Z</dcterms:created>
  <dcterms:modified xsi:type="dcterms:W3CDTF">2026-09-17T13:50:22Z</dcterms:modified>
  <cp:category/>
</cp:coreProperties>
</file>