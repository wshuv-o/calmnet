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965960"/>
            <a:ext cx="112745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5400" b="1" i="0">
                <a:solidFill>
                  <a:srgbClr val="111111"/>
                </a:solidFill>
                <a:latin typeface="Times New Roman"/>
              </a:rPr>
              <a:t>CALM-Net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41648" y="3035808"/>
            <a:ext cx="411480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246120"/>
            <a:ext cx="962863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400" b="0" i="0">
                <a:solidFill>
                  <a:srgbClr val="111111"/>
                </a:solidFill>
                <a:latin typeface="Times New Roman"/>
              </a:rPr>
              <a:t>A Calibrated, Abstaining, Longitudinal EEG Decoder for Safe Lower-Limb Exoskeleton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440680"/>
            <a:ext cx="96286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Md Wahiduzzaman Suva  [26-94088-2]</a:t>
            </a:r>
          </a:p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Esme Moula Chowdhury Abha  [26-94089-2]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For someone who cannot walk after a spinal cord injury or stroke, an exoskeleton driven by their own brain activity restores mobility. Only non-invasive EEG requires no surgery, so it is the only version most patients could ever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A confident wrong “walk” command at the top of a staircase is a fall, not a rounding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Accuracy is the wrong target.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A machine that moves your legs needs honest confidence and the ability to stop.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Key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22860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What is actually decoded?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The exoskeleton moves the wearer during walking, so accuracy can reflect movement rather than neural intent.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22860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The signal drifts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EEG is non-stationary; a decoder calibrated one day is miscalibrated the next, over weeks of 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22860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No reject option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Deployed decoders must guess every input; they cannot abstain to a safe stop when unsure.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Movement-invariant intent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Decode neural intent provably invariant to the exoskeleton’s own motion.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35224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907792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Calibrated across time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Stay honestly calibrated across weeks of drift, without full retraining.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7880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51376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Abstain with a guarantee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Reject low-confidence inputs to a safe stop, with a distribution-free guarantee.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Overarching question:  </a:t>
            </a:r>
            <a:r>
              <a:rPr sz="1700" b="0" i="1">
                <a:solidFill>
                  <a:srgbClr val="555555"/>
                </a:solidFill>
                <a:latin typeface="Times New Roman"/>
              </a:rPr>
              <a:t>can we trade inflated accuracy for trustworthy, verifiable closed-loop control?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14300" tIns="165100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Lower-limb exoskeleton BCI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NeuroRex dataset  [Sarkar 2026]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Deep-learning control  [Ferrero 2024]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Exo error potentials  [Soriano 2025]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Robot-assisted gait  [Tortora 2023]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5167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14300" tIns="165100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Motor-imagery decoders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EEG-Conformer  [Song 2023]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EEGNet  [Lawhern 2018]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geom.  [Barachant 2012]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254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14300" tIns="165100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Calibration, uncertainty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Adaptive conformal  [Gibbs 2021]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Conformal pred.  [Angelopoulos 2023]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 uncertainty  [Tveter 2024]</a:t>
            </a:r>
          </a:p>
        </p:txBody>
      </p:sp>
      <p:sp>
        <p:nvSpPr>
          <p:cNvPr id="8" name="Rectangle 7"/>
          <p:cNvSpPr/>
          <p:nvPr/>
        </p:nvSpPr>
        <p:spPr>
          <a:xfrm>
            <a:off x="8905341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14300" tIns="165100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Drift and abstention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Deep adaptation  [Zhang 2023]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Reject-option  [Hendrickx 2024]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Selective class.  [Geifman 2017]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10908792" cy="1463040"/>
          </a:xfrm>
          <a:prstGeom prst="rect">
            <a:avLst/>
          </a:prstGeom>
          <a:solidFill>
            <a:srgbClr val="FFFFFF"/>
          </a:solidFill>
          <a:ln w="2032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RESEARCH GAP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Times New Roman"/>
              </a:rPr>
              <a:t>Rich multimodal exoskeleton datasets now exist, yet no prior work joins movement disentanglement, cross-session calibration, and safety-asymmetric abstention in one closed-loop decoder.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1">
                <a:solidFill>
                  <a:srgbClr val="555555"/>
                </a:solidFill>
                <a:latin typeface="Times New Roman"/>
              </a:rPr>
              <a:t>Citations shown as [first author, year]; the paper cites 11 lower-limb exoskeleton BCI works and 41 references in total.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Proposed Method: CALM-Net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m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301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A multimodal pipeline: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 neuro-kinematic encoder, motion-invariant disentanglement, longitudinal self-calibration, and a safety-asymmetric decision that defaults to Stop.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Proposed Method: Core Idea and Hypothesis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</a:t>
            </a:r>
            <a:r>
              <a:rPr sz="1900" b="1" i="0">
                <a:solidFill>
                  <a:srgbClr val="111111"/>
                </a:solidFill>
                <a:latin typeface="Times New Roman"/>
              </a:rPr>
              <a:t>Record movement alongside EEG: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head and exoskeleton IMUs give a 12-D motion signal.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</a:t>
            </a:r>
            <a:r>
              <a:rPr sz="1900" b="1" i="0">
                <a:solidFill>
                  <a:srgbClr val="111111"/>
                </a:solidFill>
                <a:latin typeface="Times New Roman"/>
              </a:rPr>
              <a:t>Adversarial disentanglement (MID):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force the neural code to be statistically independent of that motion.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</a:t>
            </a:r>
            <a:r>
              <a:rPr sz="1900" b="1" i="0">
                <a:solidFill>
                  <a:srgbClr val="111111"/>
                </a:solidFill>
                <a:latin typeface="Times New Roman"/>
              </a:rPr>
              <a:t>Decide from the invariant part only: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classifier never sees the movement-coupled features.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</a:t>
            </a:r>
            <a:r>
              <a:rPr sz="1900" b="1" i="0">
                <a:solidFill>
                  <a:srgbClr val="111111"/>
                </a:solidFill>
                <a:latin typeface="Times New Roman"/>
              </a:rPr>
              <a:t>Add honesty and safety: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temperature scaling with adaptive conformal, then abstain to Stop when unsure.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HYPOTHESIS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Disentangling movement, calibrating across sessions, and abstaining under uncertainty yields an honest, safe decoder that trades inflated accuracy for trustworthy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Preliminary Analysis: Movement Confound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ok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5760720" cy="4201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737360"/>
            <a:ext cx="521208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The exoskeleton physically moves the wearer during walk.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A motion sensor with </a:t>
            </a:r>
            <a:r>
              <a:rPr sz="1700" b="1" i="0">
                <a:solidFill>
                  <a:srgbClr val="111111"/>
                </a:solidFill>
                <a:latin typeface="Times New Roman"/>
              </a:rPr>
              <a:t>no brain data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 scores </a:t>
            </a:r>
            <a:r>
              <a:rPr sz="1700" b="1" i="0">
                <a:solidFill>
                  <a:srgbClr val="111111"/>
                </a:solidFill>
                <a:latin typeface="Times New Roman"/>
              </a:rPr>
              <a:t>0.92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, above the best EEG decoder (0.84).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So the reported accuracy is largely the confound. This is exactly why we decode a movement-invariant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Preliminary Results: Architectures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Balanced accuracy, mean over 7 subjects, identical longitudinal protocol. For reference, an IMU sensor with no brain data scores 0.84.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74519"/>
          <a:ext cx="10908792" cy="2377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0632"/>
                <a:gridCol w="1627632"/>
                <a:gridCol w="1627632"/>
                <a:gridCol w="1627632"/>
                <a:gridCol w="1627632"/>
                <a:gridCol w="1627632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EEGNet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Band-power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Riemannian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Graph net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Conformer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Parameters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4.8 k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4.0 k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8.4 k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341 k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Standard protocol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0.81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0.81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0.81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0.84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0.83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Movement-invariant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0.65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0.65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0.65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0.69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Motion recoverable  R²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−0.38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−0.31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−0.47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−0.04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1874519"/>
            <a:ext cx="10908792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50008"/>
            <a:ext cx="10908792" cy="12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251960"/>
            <a:ext cx="10908792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53712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Motion R² below zero means the exoskeleton’s motion is no longer recoverable from the neural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56048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Takeaway: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every neural architecture collapses to about 0.65 once movement is removed, and none clearly wins.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The contribution is the framework, not raw accuracy: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adaptive-conformal coverage held at 0.90 (7 / 7) and wrong-walk error fell from 0.14 to 0.05.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Per-Subject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Full CALM-Net pipeline, longitudinal (train on sessions 1 to 3, test on the later 6). Coverage target 0.90.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08792" cy="36758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2057400"/>
                <a:gridCol w="2340864"/>
                <a:gridCol w="2340864"/>
                <a:gridCol w="2340864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Subject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Span (days)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IMU-only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Invariant acc.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>
                          <a:solidFill>
                            <a:srgbClr val="111111"/>
                          </a:solidFill>
                          <a:latin typeface="Times New Roman"/>
                        </a:rPr>
                        <a:t>Coverage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0.86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0.79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S02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0.79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0.52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S03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0.98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0.77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S04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0.96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0.70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S05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0.89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0.66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S06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0.56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0.70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0.91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S07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0.83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0.73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11111"/>
                          </a:solidFill>
                          <a:latin typeface="Times New Roman"/>
                        </a:rPr>
                        <a:t>0.90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Times New Roman"/>
                        </a:rPr>
                        <a:t>Mean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Times New Roman"/>
                        </a:rPr>
                        <a:t>0.84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Times New Roman"/>
                        </a:rPr>
                        <a:t>0.69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11111"/>
                          </a:solidFill>
                          <a:latin typeface="Times New Roman"/>
                        </a:rPr>
                        <a:t>0.90</a:t>
                      </a:r>
                    </a:p>
                  </a:txBody>
                  <a:tcPr anchor="ctr" marL="127000" marR="76200" marT="25400" marB="25400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1828800"/>
            <a:ext cx="10908792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10908792" cy="12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102352"/>
            <a:ext cx="10908792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504688"/>
            <a:ext cx="10908792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S03: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a motion sensor alone scores 0.98, yet the movement-invariant decode is 0.77; the gap is the confound being removed.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S06: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motion is uninformative (0.56), yet EEG still decodes 0.70, genuine neural signal. Coverage holds near 0.90 for every subject, across spans up to 80 days.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 i="1">
                <a:solidFill>
                  <a:srgbClr val="555555"/>
                </a:solidFill>
                <a:latin typeface="Times New Roman"/>
              </a:rPr>
              <a:t>Works cited in the literature review, keyed to the [author, year] tags on slide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4406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[Sarkar 2026]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Sarkar et al., “EEG-controlled exoskeleton for walking and standing: a longitudinal multimodal dataset,” Sci. Data, 2026. (OpenNeuro ds007788)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[Ferrero 2024]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Ferrero et al., “Brain-machine interface based on deep learning to control a lower-limb robotic exoskeleton,” J. NeuroEng. Rehabil., 21(48), 2024.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[Soriano 2025]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Soriano-Segura, M. Ortiz et al., “Characterization of error-related potentials during exoskeleton command via deep learning,” J. NeuroEng. Rehabil., 2025.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[Tortora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Tortora et al., “Cortical and muscular activity under robot-assisted gait modes during exoskeleton walking,”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[Song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Song et al., “EEG Conformer: convolutional transformer for EEG decoding and visualization,” IEEE TNSRE, 31:710-719,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[Lawhern 2018]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V. J. Lawhern et al., “EEGNet: a compact CNN for EEG-based brain-computer interfaces,” J. Neural Eng., 15(5), 2018.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[Barachant 2012]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A. Barachant et al., “Multiclass brain-computer interface classification by Riemannian geometry,” IEEE TBME, 59(4),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[Gibbs 2021]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I. Gibbs and E. Candès, “Adaptive conformal inference under distribution shift,” NeurIPS, 2021.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[Angelopoulos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A. N. Angelopoulos and S. Bates, “Conformal prediction: a gentle introduction,” Found. Trends Mach. Learn., 16(4),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[Tveter 2024]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M. Tveter et al., “Advancing EEG prediction with deep learning and uncertainty estimation,” Brain Inform., 11(27), 2024.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[Zhang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X. Zhang et al., “Priming cross-session motor-imagery classification with a universal deep domain-adaptation framework,” Neurocomputing, 556,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[Hendrickx 2024]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K. Hendrickx et al., “Machine learning with a reject option: a survey,” Mach. Learn., 113(5), 2024.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[Geifman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Geifman and R. El-Yaniv, “Selective classification for deep neural networks,” NeurIPS, 2017.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