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67" r:id="rId2"/>
    <p:sldId id="268" r:id="rId3"/>
    <p:sldId id="269" r:id="rId4"/>
    <p:sldId id="270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80" r:id="rId15"/>
    <p:sldId id="281" r:id="rId16"/>
    <p:sldId id="282" r:id="rId17"/>
    <p:sldId id="283" r:id="rId18"/>
    <p:sldId id="284" r:id="rId19"/>
    <p:sldId id="285" r:id="rId20"/>
    <p:sldId id="28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097" autoAdjust="0"/>
  </p:normalViewPr>
  <p:slideViewPr>
    <p:cSldViewPr snapToGrid="0" snapToObjects="1">
      <p:cViewPr varScale="1">
        <p:scale>
          <a:sx n="79" d="100"/>
          <a:sy n="79" d="100"/>
        </p:scale>
        <p:origin x="821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4727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965960"/>
            <a:ext cx="1127455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5400" b="1" i="0">
                <a:solidFill>
                  <a:srgbClr val="111111"/>
                </a:solidFill>
                <a:latin typeface="Times New Roman"/>
              </a:rPr>
              <a:t>CALM-Net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041648" y="3035808"/>
            <a:ext cx="411480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3246120"/>
            <a:ext cx="962863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400" b="0" i="0">
                <a:solidFill>
                  <a:srgbClr val="111111"/>
                </a:solidFill>
                <a:latin typeface="Times New Roman"/>
              </a:rPr>
              <a:t>Label-Free Covariance Alignment for Longitudinal EEG Decoding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800" b="0" i="0">
                <a:solidFill>
                  <a:srgbClr val="555555"/>
                </a:solidFill>
                <a:latin typeface="Times New Roman"/>
              </a:rPr>
              <a:t>Midterm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5440680"/>
            <a:ext cx="962863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Md Wahiduzzaman Suva  [26-94088-2]</a:t>
            </a:r>
          </a:p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Esme Moula Chowdhury Abha  [26-94089-2]</a:t>
            </a:r>
          </a:p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Supervisor: Dr. Muhammad Hasibur Rashid Chayon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0" i="0">
                <a:solidFill>
                  <a:srgbClr val="111111"/>
                </a:solidFill>
                <a:latin typeface="Times New Roman"/>
              </a:rPr>
              <a:t>Lower-limb exoskeletons controlled by non-invasive EEG can restore walking for people with spinal cord injury or stroke. A decoder is trained once but must operate across sessions recorded over several weeks.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0908792" cy="1234440"/>
          </a:xfrm>
          <a:prstGeom prst="rect">
            <a:avLst/>
          </a:prstGeom>
          <a:solidFill>
            <a:srgbClr val="FFFFFF"/>
          </a:solidFill>
          <a:ln w="165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 i="0">
                <a:solidFill>
                  <a:srgbClr val="111111"/>
                </a:solidFill>
                <a:latin typeface="Times New Roman"/>
              </a:rPr>
              <a:t>Changes in electrode placement and impedance between sessions alter the EEG signal statistics that a trained decoder relies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This work:  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a compact EEG decoder that adapts to each new session without labels, evaluated on three EEG datasets.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Research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1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Session drift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Electrode position and impedance change between sessions, shifting the signal statistics a trained decoder depends 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4548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Movement artefact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Walking produces motion and muscle activity that can mix with the EEG recording.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29016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3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Reliable decisions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Exoskeleton control needs consistent accuracy across sessions and well-calibrated confidence.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Research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400" b="1" i="0">
                <a:solidFill>
                  <a:srgbClr val="111111"/>
                </a:solidFill>
                <a:latin typeface="Times New Roman"/>
              </a:rPr>
              <a:t>O1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664208"/>
            <a:ext cx="9692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111111"/>
                </a:solidFill>
                <a:latin typeface="Times New Roman"/>
              </a:rPr>
              <a:t>Adaptive alignment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Design an alignment layer that corrects session drift without labels, during training and at test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35224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400" b="1" i="0">
                <a:solidFill>
                  <a:srgbClr val="111111"/>
                </a:solidFill>
                <a:latin typeface="Times New Roman"/>
              </a:rPr>
              <a:t>O2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907792"/>
            <a:ext cx="9692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111111"/>
                </a:solidFill>
                <a:latin typeface="Times New Roman"/>
              </a:rPr>
              <a:t>Accurate and calibrated decoding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Achieve accuracy comparable to published decoders with a compact model and calibrated confidence.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178808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400" b="1" i="0">
                <a:solidFill>
                  <a:srgbClr val="111111"/>
                </a:solidFill>
                <a:latin typeface="Times New Roman"/>
              </a:rPr>
              <a:t>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4151376"/>
            <a:ext cx="9692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111111"/>
                </a:solidFill>
                <a:latin typeface="Times New Roman"/>
              </a:rPr>
              <a:t>A design rule for adaptation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Derive and validate a rule, read from the recording protocol, that sets the adaptation rate of the alignment layer.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700" b="1" i="0">
                <a:solidFill>
                  <a:srgbClr val="111111"/>
                </a:solidFill>
                <a:latin typeface="Times New Roman"/>
              </a:rPr>
              <a:t>Research question:  </a:t>
            </a:r>
            <a:r>
              <a:rPr sz="1700" b="0" i="1">
                <a:solidFill>
                  <a:srgbClr val="555555"/>
                </a:solidFill>
                <a:latin typeface="Times New Roman"/>
              </a:rPr>
              <a:t>can a compact decoder adapt to session drift without labels while remaining accurate and reliable?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65100" rIns="114300" rtlCol="0" anchor="t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Exoskeleton BCI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NeuroRex dataset  [Sarkar 2026]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Deep-learning control  [Ferrero 2024]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Error potentials  [Soriano 2025]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Robot-assisted gait  [Tortora 2023]</a:t>
            </a:r>
          </a:p>
        </p:txBody>
      </p:sp>
      <p:sp>
        <p:nvSpPr>
          <p:cNvPr id="6" name="Rectangle 5"/>
          <p:cNvSpPr/>
          <p:nvPr/>
        </p:nvSpPr>
        <p:spPr>
          <a:xfrm>
            <a:off x="3395167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65100" rIns="114300" rtlCol="0" anchor="t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EEG decoding models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EEGNet  [Lawhern 2018]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ShallowFBCSPNet  [Schirrmeister 2017]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EEG Conformer  [Song 2023]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0254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65100" rIns="114300" rtlCol="0" anchor="t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Domain alignment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Euclidean alignment  [He 2020]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Riemannian Procrustes  [Rodrigues 2019]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Riemannian classifiers  [Barachant 2012]</a:t>
            </a:r>
          </a:p>
        </p:txBody>
      </p:sp>
      <p:sp>
        <p:nvSpPr>
          <p:cNvPr id="8" name="Rectangle 7"/>
          <p:cNvSpPr/>
          <p:nvPr/>
        </p:nvSpPr>
        <p:spPr>
          <a:xfrm>
            <a:off x="8905341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65100" rIns="114300" rtlCol="0" anchor="t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Test-time adaptation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Entropy minimisation  [Wang 2021]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Temporal correlation  [Gong 2022]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Selective prediction  [Geifman 2019]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343400"/>
            <a:ext cx="10908792" cy="1463040"/>
          </a:xfrm>
          <a:prstGeom prst="rect">
            <a:avLst/>
          </a:prstGeom>
          <a:solidFill>
            <a:srgbClr val="FFFFFF"/>
          </a:solidFill>
          <a:ln w="2032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rIns="254000" rtlCol="0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Times New Roman"/>
              </a:rPr>
              <a:t>RESEARCH GAP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Times New Roman"/>
              </a:rPr>
              <a:t>Existing alignment methods operate offline on complete recordings. This work places alignment inside the network, adapts it online without labels, and provides a rule for choosing its adaptation rate.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50" b="0" i="1">
                <a:solidFill>
                  <a:srgbClr val="555555"/>
                </a:solidFill>
                <a:latin typeface="Times New Roman"/>
              </a:rPr>
              <a:t>Citations shown as [first author, year]; full entries are listed on the References slide.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Proposed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Proposed decoder (24,181 parameters):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an adaptive alignment layer, a multi-scale power stem, an optional cross-epoch context module and a selective classification head.</a:t>
            </a:r>
          </a:p>
        </p:txBody>
      </p:sp>
      <p:pic>
        <p:nvPicPr>
          <p:cNvPr id="7" name="Picture 6" descr="fig_arch_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921006"/>
            <a:ext cx="10607040" cy="31988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Adaptive Alignment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Running covariance estimate: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an exponential moving average of the spatial covariance of incoming EEG windows.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Whitening: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each window is multiplied by the inverse square root of that estimate before feature extraction.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Label-free adaptation: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estimate continues to update on new sessions without labels.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Adaptation rate rule: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estimator memory is set longer than the class block length of the recording protocol.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892040"/>
            <a:ext cx="10908792" cy="1325880"/>
          </a:xfrm>
          <a:prstGeom prst="rect">
            <a:avLst/>
          </a:prstGeom>
          <a:solidFill>
            <a:srgbClr val="FFFFFF"/>
          </a:solidFill>
          <a:ln w="165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111111"/>
                </a:solidFill>
                <a:latin typeface="Times New Roman"/>
              </a:rPr>
              <a:t>KEY IDEA   </a:t>
            </a:r>
            <a:r>
              <a:rPr sz="1800" b="0" i="1">
                <a:solidFill>
                  <a:srgbClr val="111111"/>
                </a:solidFill>
                <a:latin typeface="Times New Roman"/>
              </a:rPr>
              <a:t>Session drift is corrected inside the network, and the recording protocol determines the adaptation rate before training.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Datasets and Experimental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Exoskeleton EEG  [Sarkar 2026]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7 participants, 9 sessions over several weeks. Trained on sessions 1 to 3 and tested on sessions 4 to 9.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4548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B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Treadmill walking  [Luu 2017]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8 participants with 3 trials each, recorded in an independent laboratory.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29016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C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Motor execution  [Schalk 2004]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20 participants from PhysioNet EEGMMIDB, with the analysis plan registered before training.</a:t>
            </a:r>
          </a:p>
        </p:txBody>
      </p:sp>
      <p:sp>
        <p:nvSpPr>
          <p:cNvPr id="8" name="TextBox 6"/>
          <p:cNvSpPr txBox="1"/>
          <p:nvPr/>
        </p:nvSpPr>
        <p:spPr>
          <a:xfrm>
            <a:off x="640080" y="53492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700" b="1" i="0">
                <a:solidFill>
                  <a:srgbClr val="111111"/>
                </a:solidFill>
                <a:latin typeface="Times New Roman"/>
              </a:rPr>
              <a:t>Protocol:  </a:t>
            </a:r>
            <a:r>
              <a:rPr sz="1700" b="0" i="0">
                <a:solidFill>
                  <a:srgbClr val="555555"/>
                </a:solidFill>
                <a:latin typeface="Times New Roman"/>
              </a:rPr>
              <a:t>8 to 30 Hz filtering, AdamW optimisation with early stopping, and three data-split seeds; seven published decoders trained with identical settings.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Session Drift Reduction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Drift reduced in all 15 participants: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the alignment layer reduces the covariance distance between sessions by 45.9 % on cohort A and 62.5 % on cohort B, while a control without updates leaves it unchanged.</a:t>
            </a:r>
          </a:p>
        </p:txBody>
      </p:sp>
      <p:pic>
        <p:nvPicPr>
          <p:cNvPr id="7" name="Picture 6" descr="fig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511" y="1417320"/>
            <a:ext cx="9879072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Per-Participant Drift Reduction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Riemannian distance between the training-session covariance and the test sessions, before and after alignment.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090879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Cohort A:  </a:t>
            </a:r>
            <a:r>
              <a:rPr sz="1500" b="0" i="0">
                <a:solidFill>
                  <a:srgbClr val="555555"/>
                </a:solidFill>
                <a:latin typeface="Times New Roman"/>
              </a:rPr>
              <a:t>38.7 to 51.2 % reduction for each participant.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Cohort B:  </a:t>
            </a:r>
            <a:r>
              <a:rPr sz="1500" b="0" i="0">
                <a:solidFill>
                  <a:srgbClr val="555555"/>
                </a:solidFill>
                <a:latin typeface="Times New Roman"/>
              </a:rPr>
              <a:t>43.8 to 82.1 % reduction for each participant.</a:t>
            </a:r>
          </a:p>
        </p:txBody>
      </p:sp>
      <p:pic>
        <p:nvPicPr>
          <p:cNvPr id="12" name="Picture 11" descr="tab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3757" y="1783080"/>
            <a:ext cx="3741436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Comparison with Baseline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Balanced accuracy (Acc) and expected calibration error (ECE), mean over three data-split seeds; all models trained in the same pipeline.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150" b="0" i="1">
                <a:solidFill>
                  <a:srgbClr val="555555"/>
                </a:solidFill>
                <a:latin typeface="Times New Roman"/>
              </a:rPr>
              <a:t>† below 0.55 accuracy for at least five of twenty participants on one seed.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38928"/>
            <a:ext cx="10908792" cy="1444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Cohort A: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0.868 balanced accuracy, comparable to the best baseline (0.876), with fewer parameters than six of the seven baselines.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Cohorts C and B: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highest accuracy on cohort C (0.796); on cohort B, with alignment set by the protocol rule, 0.729, second of eight models.</a:t>
            </a:r>
          </a:p>
        </p:txBody>
      </p:sp>
      <p:pic>
        <p:nvPicPr>
          <p:cNvPr id="12" name="Picture 11" descr="tab_compare_p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1315" y="1783080"/>
            <a:ext cx="796632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Alignment Estimate During Recording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Estimate trajectory, one participant per cohort: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with short class blocks (cohort A) the estimate stays between the class covariances; with long class blocks (cohort B) it follows the active class, the case the adaptation rate rule addresses.</a:t>
            </a:r>
          </a:p>
        </p:txBody>
      </p:sp>
      <p:pic>
        <p:nvPicPr>
          <p:cNvPr id="7" name="Picture 6" descr="fig_class_tr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9349" y="1325880"/>
            <a:ext cx="6399396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Adaptation Rate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Cohort B, three data-split seeds: balanced accuracy of align + gate at four adaptation rates.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10908792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Effect of the rate: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lengthening the estimator memory from 160 to 3200 windows raises accuracy from 0.580 to 0.698, as the adaptation rate rule predicts.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Protocol rule: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when class blocks are longer than the estimator memory, the rule selects the configuration without alignment, which reaches 0.729 on this cohort.</a:t>
            </a:r>
          </a:p>
        </p:txBody>
      </p:sp>
      <p:pic>
        <p:nvPicPr>
          <p:cNvPr id="12" name="Picture 11" descr="tab_ratecurve_p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752" y="1828800"/>
            <a:ext cx="5178014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Prospective Validation on Cohort 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Predictions registered before any model was trained on cohort C; balanced accuracy, seed 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10908792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Both predictions confirmed: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enabling alignment preserved accuracy (+0.002), and a slower adaptation rate brought no change, as the rule predicts for short class blocks.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Replication: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two additional data-split seeds support the same conclusions.</a:t>
            </a:r>
          </a:p>
        </p:txBody>
      </p:sp>
      <p:pic>
        <p:nvPicPr>
          <p:cNvPr id="12" name="Picture 11" descr="tab_prer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985917"/>
            <a:ext cx="9966960" cy="160600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Ablation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Cohort A, three data-split seeds.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51960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150" b="0" i="1">
                <a:solidFill>
                  <a:srgbClr val="555555"/>
                </a:solidFill>
                <a:latin typeface="Times New Roman"/>
              </a:rPr>
              <a:t>FA/min: spurious activations per minute of standing. Acc@90: accuracy at 90 % coverage.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10908792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Alignment layer: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adding alignment raises balanced accuracy from 0.842 (gate only) to 0.868.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Cross-epoch context: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reduces spurious activations from 1.60 to 1.16 per minute of standing.</a:t>
            </a:r>
          </a:p>
        </p:txBody>
      </p:sp>
      <p:pic>
        <p:nvPicPr>
          <p:cNvPr id="12" name="Picture 11" descr="tab_ablation3_p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930880"/>
            <a:ext cx="8869680" cy="208183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Artefact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37960" y="1737360"/>
            <a:ext cx="521208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800" b="1" i="0">
                <a:solidFill>
                  <a:srgbClr val="111111"/>
                </a:solidFill>
                <a:latin typeface="Times New Roman"/>
              </a:rPr>
              <a:t>Accuracy after ICA artefact removal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700" b="0" i="0">
                <a:solidFill>
                  <a:srgbClr val="555555"/>
                </a:solidFill>
                <a:latin typeface="Times New Roman"/>
              </a:rPr>
              <a:t>Eye, muscle and other non-neural components were removed with ICLabel [Pion-Tonachini 2019] before retraining the decoder.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700" b="0" i="0">
                <a:solidFill>
                  <a:srgbClr val="555555"/>
                </a:solidFill>
                <a:latin typeface="Times New Roman"/>
              </a:rPr>
              <a:t>Mean balanced accuracy remains at </a:t>
            </a:r>
            <a:r>
              <a:rPr sz="1700" b="1" i="0">
                <a:solidFill>
                  <a:srgbClr val="111111"/>
                </a:solidFill>
                <a:latin typeface="Times New Roman"/>
              </a:rPr>
              <a:t>0.785</a:t>
            </a:r>
            <a:r>
              <a:rPr sz="1700" b="0" i="0">
                <a:solidFill>
                  <a:srgbClr val="555555"/>
                </a:solidFill>
                <a:latin typeface="Times New Roman"/>
              </a:rPr>
              <a:t>, well above chance, and the change for each participant is unrelated to the number of muscle components removed.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800" b="1" i="0">
                <a:solidFill>
                  <a:srgbClr val="111111"/>
                </a:solidFill>
                <a:latin typeface="Times New Roman"/>
              </a:rPr>
              <a:t>The results are consistent with decoding from neural EEG activity.</a:t>
            </a:r>
          </a:p>
        </p:txBody>
      </p:sp>
      <p:pic>
        <p:nvPicPr>
          <p:cNvPr id="7" name="Picture 6" descr="tab_artef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488321"/>
            <a:ext cx="5760720" cy="261287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Scalp Topography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One participant, 8 to 30 Hz power: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power decreases over sensorimotor electrodes during walking, consistent with mu and beta desynchronisation during movement.</a:t>
            </a:r>
          </a:p>
        </p:txBody>
      </p:sp>
      <p:pic>
        <p:nvPicPr>
          <p:cNvPr id="7" name="Picture 6" descr="fig_topograp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88306"/>
            <a:ext cx="10607040" cy="346426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Limitations and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Cohort size: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three datasets include 7, 8 and 20 participants.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Offline evaluation: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all results are from recorded datasets; closed-loop testing is planned.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Architecture development: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architecture is under active development, and further variants will be evaluated.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Adaptation rate selection: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rate is currently set by a rule and could be learned from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892040"/>
            <a:ext cx="10908792" cy="1325880"/>
          </a:xfrm>
          <a:prstGeom prst="rect">
            <a:avLst/>
          </a:prstGeom>
          <a:solidFill>
            <a:srgbClr val="FFFFFF"/>
          </a:solidFill>
          <a:ln w="165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111111"/>
                </a:solidFill>
                <a:latin typeface="Times New Roman"/>
              </a:rPr>
              <a:t>FUTURE WORK   </a:t>
            </a:r>
            <a:r>
              <a:rPr sz="1800" b="0" i="1">
                <a:solidFill>
                  <a:srgbClr val="111111"/>
                </a:solidFill>
                <a:latin typeface="Times New Roman"/>
              </a:rPr>
              <a:t>Real-time evaluation with an exoskeleton, larger cohorts, and recording protocols designed to refine the adaptation rate rule.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0" i="0">
                <a:solidFill>
                  <a:srgbClr val="111111"/>
                </a:solidFill>
                <a:latin typeface="Times New Roman"/>
              </a:rPr>
              <a:t>This work presents a compact EEG decoder with an adaptive alignment layer that corrects session drift without labels.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0908792" cy="1234440"/>
          </a:xfrm>
          <a:prstGeom prst="rect">
            <a:avLst/>
          </a:prstGeom>
          <a:solidFill>
            <a:srgbClr val="FFFFFF"/>
          </a:solidFill>
          <a:ln w="165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 i="0">
                <a:solidFill>
                  <a:srgbClr val="111111"/>
                </a:solidFill>
                <a:latin typeface="Times New Roman"/>
              </a:rPr>
              <a:t>The decoder reduces session drift by 46 % to 63 %, achieves accuracy comparable to published decoders, and follows a protocol-based rule confirmed prospectively.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Outlook:  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the approach supports longitudinal use of EEG-controlled exoskeletons with less recalibration.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0" i="1">
                <a:solidFill>
                  <a:srgbClr val="555555"/>
                </a:solidFill>
                <a:latin typeface="Times New Roman"/>
              </a:rPr>
              <a:t>Works cited on these slides, keyed to their [author, year] tags.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44068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[Sarkar 2026]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S. Sarkar et al., “EEG-controlled exoskeleton for walking and standing: a longitudinal multimodal dataset,” Sci. Data, 2026. (OpenNeuro ds007788)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[Ferrero 2024]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L. Ferrero et al., “Brain-machine interface based on deep learning to control a lower-limb robotic exoskeleton,” J. NeuroEng. Rehabil., 21(48), 2024.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[Soriano 2025]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P. Soriano-Segura, M. Ortiz et al., “Characterization of error-related potentials during exoskeleton command via deep learning,” J. NeuroEng. Rehabil., 2025.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[Tortora 2023]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S. Tortora et al., “Cortical and muscular activity under robot-assisted gait modes during exoskeleton walking,” 2023.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[Luu 2017]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T. P. Luu et al., “Real-time EEG-based brain-computer interface to a virtual avatar enhances cortical involvement in human treadmill walking,” Sci. Rep., 7:8895, 2017.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[Schalk 2004]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G. Schalk et al., “BCI2000: a general-purpose brain-computer interface (BCI) system,” IEEE TBME, 51(6):1034-1043, 2004.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[Lawhern 2018]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V. J. Lawhern et al., “EEGNet: a compact CNN for EEG-based brain-computer interfaces,” J. Neural Eng., 15(5), 2018.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[Schirrmeister 2017]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R. T. Schirrmeister et al., “Deep learning with convolutional neural networks for EEG decoding and visualization,” Hum. Brain Mapp., 38(11):5391-5420, 2017.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[Song 2023]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Y. Song et al., “EEG Conformer: convolutional transformer for EEG decoding and visualization,” IEEE TNSRE, 31:710-719, 2023.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[He 2020]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H. He and D. Wu, “Transfer learning for brain-computer interfaces: a Euclidean space data alignment approach,” IEEE TBME, 67(2):399-410, 2020.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[Rodrigues 2019]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P. L. C. Rodrigues et al., “Riemannian Procrustes analysis: transfer learning for brain-computer interfaces,” IEEE TBME, 66(8):2390-2401, 2019.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[Barachant 2012]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A. Barachant et al., “Multiclass brain-computer interface classification by Riemannian geometry,” IEEE TBME, 59(4), 2012.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[Wang 2021]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D. Wang et al., “Tent: fully test-time adaptation by entropy minimization,” ICLR, 2021.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[Gong 2022]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T. Gong et al., “NOTE: robust continual test-time adaptation against temporal correlation,” NeurIPS, 2022.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[Geifman 2019]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Y. Geifman and R. El-Yaniv, “SelectiveNet: a deep neural network with an integrated reject option,” ICML, 2019.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[Pion-Tonachini 2019]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L. Pion-Tonachini et al., “ICLabel: an automated electroencephalographic independent component classifier, dataset, and website,” NeuroImage, 198:181-197, 2019.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1815</Words>
  <Application>Microsoft Office PowerPoint</Application>
  <PresentationFormat>Widescreen</PresentationFormat>
  <Paragraphs>132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Shuvo</dc:creator>
  <cp:keywords/>
  <dc:description>generated using python-pptx</dc:description>
  <cp:lastModifiedBy>Wahiduzzaman Suva</cp:lastModifiedBy>
  <cp:revision>2</cp:revision>
  <dcterms:created xsi:type="dcterms:W3CDTF">2013-01-27T09:14:16Z</dcterms:created>
  <dcterms:modified xsi:type="dcterms:W3CDTF">2026-09-17T14:58:38Z</dcterms:modified>
  <cp:category/>
</cp:coreProperties>
</file>