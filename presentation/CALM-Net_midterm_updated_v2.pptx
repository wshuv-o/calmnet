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5400" b="1" i="0">
                <a:solidFill>
                  <a:srgbClr val="111111"/>
                </a:solidFill>
                <a:latin typeface="Times New Roman"/>
              </a:rPr>
              <a:t>CALM-Net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1648" y="3035808"/>
            <a:ext cx="41148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 i="0">
                <a:solidFill>
                  <a:srgbClr val="111111"/>
                </a:solidFill>
                <a:latin typeface="Times New Roman"/>
              </a:rPr>
              <a:t>Label-free covariance alignment for longitudinal EEG decoding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Midterm proposal, updated with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40680"/>
            <a:ext cx="9628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Md Wahiduzzaman Suva  [26-94088-2]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Esme Moula Chowdhury Abha  [26-94089-2]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Supervisor: Dr. Muhammad Hasibur Rashid Chayon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For someone who cannot walk after a spinal cord injury or stroke, an exoskeleton driven by their own brain activity restores mobility. Only non-invasive EEG requires no surgery, so it is the only version most patients could ever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A confident wrong “walk” command at the top of a staircase is a fall, not a rounding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Accuracy is the wrong target.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A machine that moves your legs needs honest confidence and the ability to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What is actually decoded?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The exoskeleton moves the wearer during walking, so accuracy can reflect movement rather than neural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signal drifts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EEG is non-stationary; a decoder calibrated one day is miscalibrated the next, over weeks of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No reject option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Deployed decoders must guess every input; they cannot abstain to a safe stop when unsure.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Objectives and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Movement-invariant intent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planned leakage score was itself confounded. A conditional probe and an ICA retraining control show that most of the accuracy is neural.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07792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Calibrated across time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the main contribution. A label-free alignment layer adapts at test time and removes 46 % and 63 % of session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78808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151376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Abstain with a guarantee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Outcome: reported as negative. The trained selective head adds no accuracy over three seeds and lowers accuracy at 90 % coverage in 14 of 18 arms.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Question answered:  </a:t>
            </a:r>
            <a:r>
              <a:rPr sz="1700" b="0" i="1">
                <a:solidFill>
                  <a:srgbClr val="555555"/>
                </a:solidFill>
                <a:latin typeface="Times New Roman"/>
              </a:rPr>
              <a:t>when does test-time alignment help a longitudinal EEG decoder, and when does it harm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Lower-limb exoskeleton BCI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NeuroRex dataset  [Sarkar 2026]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Deep-learning control  [Ferrero 2024]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Exo error potentials  [Soriano 2025]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Robot-assisted gait  [Tortora 2023]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5167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EEG decoders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EEGNet  [Lawhern 2018]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ShallowFBCSPNet  [Schirrmeister 2017]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EEG-Conformer  [Song 2023]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254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Alignment and transfer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Euclidean alignment  [He 2020]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Procrustes  [Rodrigues 2019]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geom.  [Barachant 2012]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5341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Test-time adaptation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Tent  [Wang 2021]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Correlated streams  [Gong 2022]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Reject option  [Geifman 2019]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10908792" cy="1463040"/>
          </a:xfrm>
          <a:prstGeom prst="rect">
            <a:avLst/>
          </a:prstGeom>
          <a:solidFill>
            <a:srgbClr val="FFFFFF"/>
          </a:solidFill>
          <a:ln w="2032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Times New Roman"/>
              </a:rPr>
              <a:t>Alignment corrects session drift offline, and test-time adaptation degrades on temporally correlated streams. No prior work states when a label-free alignment layer inside an EEG decoder helps or harms under a blocked recording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full entries are on the References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Decoder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Proposed configuration, align + gate, 24,181 parameters: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 covariance alignment layer that keeps updating on unlabelled test data, a multi-scale power stem and a selective head. The cross-epoch context is optional and adds 594,816 parameters.</a:t>
            </a:r>
          </a:p>
        </p:txBody>
      </p:sp>
      <p:pic>
        <p:nvPicPr>
          <p:cNvPr id="7" name="Picture 6" descr="fig_arch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1006"/>
            <a:ext cx="10607040" cy="3198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Core Idea and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Align inside the network: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a running spatial covariance whitens every window and keeps updating on unlabelled test data.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Estimator memory: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momentum m sets a memory of about 32/m windows, 160 at the default m = 0.2.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The failure mode: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when one class streams for longer than that memory, the estimate becomes that class and whitens the difference away.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 rule before training: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memory must outlast a class block, which is read from the recording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HYPOTHESIS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Alignment helps where class blocks are shorter than the estimator's memory and harms where they are longer, and the protocol tells which case applies before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Three Cohorts, One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Exoskeleton  [Sarkar 2026]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7 participants, 9 sessions over weeks. Fitted on sessions 1 to 3, tested on 4 to 9. Class blocks of 18 windows.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Treadmill  [Luu 2017]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8 participants, 3 trials, an independent laboratory. Class blocks of 309 windows, longer than the estimator's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Motor execution  [Schalk 2004]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20 participants of PhysioNet EEGMMIDB. Class blocks of 5 windows. Predictions committed before any model was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Same settings for every model:  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8 to 30 Hz, AdamW, early stopping, temperature scaling and three data-split seeds, with seven published decoders trained in the identical pipeline.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What Is Actually Decoded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737360"/>
            <a:ext cx="52120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The midterm confound score was itself confounded.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A decoder with no movement input scored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R² = 0.863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, because walk and stop differ in movement by definition.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Retraining after ICA artefact removal [Pion-Tonachini 2019]: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0.835 to 0.785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 (p = 0.22). The losses do not follow the muscle components removed.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Most of the accuracy is neural, and artefact is not fully excluded.</a:t>
            </a:r>
          </a:p>
        </p:txBody>
      </p:sp>
      <p:pic>
        <p:nvPicPr>
          <p:cNvPr id="7" name="Picture 6" descr="tab_arte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8321"/>
            <a:ext cx="5760720" cy="26128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Scalp Topography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participant, 8 to 30 Hz power: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power falls over sensorimotor electrodes during walking, as mu and beta desynchronisation predicts, and rises over occipital electrodes. The two effects are spatially separate.</a:t>
            </a:r>
          </a:p>
        </p:txBody>
      </p:sp>
      <p:pic>
        <p:nvPicPr>
          <p:cNvPr id="7" name="Picture 6" descr="fig_top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8306"/>
            <a:ext cx="10607040" cy="34642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Session Drift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15 of 15 participants: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reduces session-to-session covariance distance by 45.9 % on cohort A and 62.5 % on cohort B, while the no-op control leaves it unchanged.</a:t>
            </a:r>
          </a:p>
        </p:txBody>
      </p:sp>
      <p:pic>
        <p:nvPicPr>
          <p:cNvPr id="7" name="Picture 6" descr="fig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1" y="1417320"/>
            <a:ext cx="987907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Per-Participant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Riemannian distance between the fitting-session covariance and the held-out sessions, before and after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A: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a reduction of 38.7 to 51.2 % per participant, and no participant regresses.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B: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43.8 to 82.1 %. The no-op control stays within 0.1 % of the raw distance for every participant.</a:t>
            </a:r>
          </a:p>
        </p:txBody>
      </p:sp>
      <p:pic>
        <p:nvPicPr>
          <p:cNvPr id="12" name="Picture 11" descr="tab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57" y="1783080"/>
            <a:ext cx="374143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Comparison with Published Decoders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Balanced accuracy (Acc) and calibration error (ECE), mean over three data-split seeds; every model trained in one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† near chance for at least five of twenty participants, a training failure under the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0879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level with the published decoders on cohort A (0.868 against 0.817 to 0.876), highest on cohort C (0.796), and level on cohort B once alignment is off (0.729 against 0.617 to 0.734).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No size advantage: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FBLightConvNet has 23,760 parameters against 24,181. The contribution is the alignment layer and the rule that switches it.</a:t>
            </a:r>
          </a:p>
        </p:txBody>
      </p:sp>
      <p:pic>
        <p:nvPicPr>
          <p:cNvPr id="12" name="Picture 11" descr="tab_compar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15" y="1783080"/>
            <a:ext cx="79663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The Estimator Tracks the Streaming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 per cohort: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on cohort A the estimate stays between the classes; on cohort B it moves onto the class being streamed and follows it through the walk block. Slowing it slows the migration.</a:t>
            </a:r>
          </a:p>
        </p:txBody>
      </p:sp>
      <p:pic>
        <p:nvPicPr>
          <p:cNvPr id="7" name="Picture 6" descr="fig_class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49" y="1325880"/>
            <a:ext cx="639939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Adaptation Rate Across Cohorts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(c) Effect of alignment against memory, three seeds: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cohort B's cost shrinks as the memory passes its block length and never turns positive; cohorts A and C stay near zero.</a:t>
            </a:r>
          </a:p>
        </p:txBody>
      </p:sp>
      <p:pic>
        <p:nvPicPr>
          <p:cNvPr id="7" name="Picture 6" descr="fi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66" y="1417320"/>
            <a:ext cx="1040936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Cost of Alignment on Cohort 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B, three data-split seeds: align + gate minus gate only (0.729), paired within participant.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087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costs 0.149 at the default rate, lower in 8 of 8 participants. Slowing adaptation recovers 0.118, with no step at the 309-window block length.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At slow rates: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remaining cost of about 0.03 is not significant, and the layer never becomes beneficial on this cohort.</a:t>
            </a:r>
          </a:p>
        </p:txBody>
      </p:sp>
      <p:pic>
        <p:nvPicPr>
          <p:cNvPr id="12" name="Picture 11" descr="tab_rate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966631"/>
            <a:ext cx="8138160" cy="2284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 Prediction Registered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C, seed 0, exactly as committed to version control before any model was trained on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087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Both predictions held: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enabling alignment cost nothing (+0.002) and slowing it brought no gain (−0.006), where slowing had recovered 0.090 on cohort B.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Two further seeds agree: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alignment +0.014 (p = 0.17); slowing costs 0.016, lower in 15 of 20 participants (p = 0.003).</a:t>
            </a:r>
          </a:p>
        </p:txBody>
      </p:sp>
      <p:pic>
        <p:nvPicPr>
          <p:cNvPr id="12" name="Picture 11" descr="tab_pre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5917"/>
            <a:ext cx="9966960" cy="16060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Slow Adaptation Has a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A: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from m = 0.2 to 0.01 lowers accuracy from 0.868 to 0.819, lower in 7 of 7 participants (p = 0.016).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Drift removal falls with it: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from 45.9 % to 0.2 % on cohort A, and from 62.5 % to 11.1 % on cohort B.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C: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costs 0.016 over two replication seeds (p = 0.003).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B: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slowing recovers 0.118, but the drift it still removes does not turn into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CONDITION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The estimator's memory must outlast a class block. How much longer it can be before drift tracking is lost was not measured on these cohorts.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Component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A, three data-split seeds under the current estimator. Rows marked pending await seeds that are still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81728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FA/min: spurious activations per minute of standing. Acc@90: accuracy at 90 %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087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Alignment: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+0.026 over the gate-only arm, higher in 6 of 7 participants (p = 0.22), a small gain where class blocks are short.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Selective head and context: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head adds nothing (0.869 without, 0.868 with); context cuts false activations by 27 % at a cost in calibration.</a:t>
            </a:r>
          </a:p>
        </p:txBody>
      </p:sp>
      <p:pic>
        <p:nvPicPr>
          <p:cNvPr id="12" name="Picture 11" descr="tab_ablati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0" y="1783080"/>
            <a:ext cx="856505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Results Reported as Negative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selective head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Declining the least-confident 10 % lowers accuracy in 14 of 18 arms, and the head adds no accuracy over three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Parameter efficiency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FBLightConvNet reaches 0.866 with 23,760 parameters, against 0.868 with 24,181 for the proposed decoder.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drift ceiling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Two estimates of the drift timescale failed to resolve it, so only the lower bound of the rate condition is claimed.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Small cohorts: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seven, eight and twenty participants, so most paired tests have limited power.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Upper bound untested: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no cohort samples drift finely enough to measure the drift timescale.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One participant per scalp map: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topography shows spatial separation; the ICA control carries the artefact test.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Baselines untuned: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published decoders used our settings, and EEGNet and Deep4Net failed to train on cohort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NEXT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Pre-register a protocol with class blocks of 100 to 200 windows and closely spaced recordings, where both bounds of the rate condition can be tested.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A label-free alignment layer inside an EEG decoder removes session drift and keeps accuracy level with published decoders. A running estimate, however, tracks whatever is being streamed.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Its memory must outlast a class block, a rule read from the recording protocol before any model is 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The rule predicted a new cohort in advance. 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Where it holds, alignment helps a little; where it fails, alignment costs 0.149.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</a:rPr>
              <a:t>Works cited on these slides, keyed to their [author, year]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406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Sarkar et al., “EEG-controlled exoskeleton for walking and standing: a longitudinal multimodal dataset,” Sci. Data, 2026. (OpenNeuro ds007788)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Ferrero et al., “Brain-machine interface based on deep learning to control a lower-limb robotic exoskeleton,” J. NeuroEng. Rehabil., 21(48),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Soriano-Segura, M. Ortiz et al., “Characterization of error-related potentials during exoskeleton command via deep learning,” J. NeuroEng. Rehabil., 2025.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Tortora et al., “Cortical and muscular activity under robot-assisted gait modes during exoskeleton walking,”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[Luu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P. Luu et al., “Real-time EEG-based brain-computer interface to a virtual avatar enhances cortical involvement in human treadmill walking,” Sci. Rep., 7:8895, 2017.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[Schalk 2004]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G. Schalk et al., “BCI2000: a general-purpose brain-computer interface (BCI) system,” IEEE TBME, 51(6):1034-1043, 2004.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V. J. Lawhern et al., “EEGNet: a compact CNN for EEG-based brain-computer interfaces,” J. Neural Eng., 15(5), 2018.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[Schirrmeister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R. T. Schirrmeister et al., “Deep learning with convolutional neural networks for EEG decoding and visualization,” Hum. Brain Mapp., 38(11):5391-5420,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Song et al., “EEG Conformer: convolutional transformer for EEG decoding and visualization,” IEEE TNSRE, 31:710-719,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[He 2020]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H. He and D. Wu, “Transfer learning for brain-computer interfaces: a Euclidean space data alignment approach,” IEEE TBME, 67(2):399-410, 2020.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[Rodrigues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L. C. Rodrigues et al., “Riemannian Procrustes analysis: transfer learning for brain-computer interfaces,” IEEE TBME, 66(8):2390-2401,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Barachant et al., “Multiclass brain-computer interface classification by Riemannian geometry,” IEEE TBME, 59(4), 2012.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[Wang 2021]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D. Wang et al., “Tent: fully test-time adaptation by entropy minimization,” ICLR, 2021.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[Gong 2022]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Gong et al., “NOTE: robust continual test-time adaptation against temporal correlation,” NeurIPS, 2022.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[Geifman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Geifman and R. El-Yaniv, “SelectiveNet: a deep neural network with an integrated reject option,” ICML,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[Pion-Tonachini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Pion-Tonachini et al., “ICLabel: an automated electroencephalographic independent component classifier, dataset, and website,” NeuroImage, 198:181-197,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1241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Shuvo</dc:creator>
  <cp:keywords/>
  <dc:description>generated using python-pptx</dc:description>
  <cp:lastModifiedBy>Wahiduzzaman Suva</cp:lastModifiedBy>
  <cp:revision>1</cp:revision>
  <dcterms:created xsi:type="dcterms:W3CDTF">2013-01-27T09:14:16Z</dcterms:created>
  <dcterms:modified xsi:type="dcterms:W3CDTF">2026-09-17T13:50:22Z</dcterms:modified>
  <cp:category/>
</cp:coreProperties>
</file>