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725912" cy="1737360"/>
          </a:xfrm>
          <a:prstGeom prst="rect">
            <a:avLst/>
          </a:prstGeom>
          <a:noFill/>
        </p:spPr>
        <p:txBody>
          <a:bodyPr wrap="square" anchor="t">
            <a:spAutoFit/>
          </a:bodyPr>
          <a:lstStyle/>
          <a:p>
            <a:pPr algn="ctr">
              <a:lnSpc>
                <a:spcPct val="110000"/>
              </a:lnSpc>
              <a:spcAft>
                <a:spcPts val="800"/>
              </a:spcAft>
            </a:pPr>
            <a:r>
              <a:rPr sz="4000" b="1" i="0">
                <a:solidFill>
                  <a:srgbClr val="111111"/>
                </a:solidFill>
                <a:latin typeface="Times New Roman"/>
              </a:rPr>
              <a:t>Label-free covariance alignment for longitudinal EEG decoding</a:t>
            </a:r>
          </a:p>
        </p:txBody>
      </p:sp>
      <p:sp>
        <p:nvSpPr>
          <p:cNvPr id="4" name="Rectangle 3"/>
          <p:cNvSpPr/>
          <p:nvPr/>
        </p:nvSpPr>
        <p:spPr>
          <a:xfrm>
            <a:off x="4041648" y="3611880"/>
            <a:ext cx="4114800"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3886200"/>
            <a:ext cx="9628632" cy="548640"/>
          </a:xfrm>
          <a:prstGeom prst="rect">
            <a:avLst/>
          </a:prstGeom>
          <a:noFill/>
        </p:spPr>
        <p:txBody>
          <a:bodyPr wrap="square" anchor="t">
            <a:spAutoFit/>
          </a:bodyPr>
          <a:lstStyle/>
          <a:p>
            <a:pPr algn="ctr">
              <a:lnSpc>
                <a:spcPct val="110000"/>
              </a:lnSpc>
              <a:spcAft>
                <a:spcPts val="800"/>
              </a:spcAft>
            </a:pPr>
            <a:r>
              <a:rPr sz="2200" b="0" i="0">
                <a:solidFill>
                  <a:srgbClr val="555555"/>
                </a:solidFill>
                <a:latin typeface="Times New Roman"/>
              </a:rPr>
              <a:t>Updated manuscript</a:t>
            </a:r>
          </a:p>
        </p:txBody>
      </p:sp>
      <p:sp>
        <p:nvSpPr>
          <p:cNvPr id="6" name="TextBox 5"/>
          <p:cNvSpPr txBox="1"/>
          <p:nvPr/>
        </p:nvSpPr>
        <p:spPr>
          <a:xfrm>
            <a:off x="1280160" y="5074920"/>
            <a:ext cx="9628632" cy="1280160"/>
          </a:xfrm>
          <a:prstGeom prst="rect">
            <a:avLst/>
          </a:prstGeom>
          <a:noFill/>
        </p:spPr>
        <p:txBody>
          <a:bodyPr wrap="square" anchor="t">
            <a:spAutoFit/>
          </a:bodyPr>
          <a:lstStyle/>
          <a:p>
            <a:pPr algn="ctr">
              <a:lnSpc>
                <a:spcPct val="110000"/>
              </a:lnSpc>
              <a:spcAft>
                <a:spcPts val="500"/>
              </a:spcAft>
            </a:pPr>
            <a:r>
              <a:rPr sz="1500" b="0" i="0">
                <a:solidFill>
                  <a:srgbClr val="555555"/>
                </a:solidFill>
                <a:latin typeface="Times New Roman"/>
              </a:rPr>
              <a:t>Esm E Moula Chowdhury Abha  [26-94089-2]</a:t>
            </a:r>
          </a:p>
          <a:p>
            <a:pPr algn="ctr">
              <a:lnSpc>
                <a:spcPct val="110000"/>
              </a:lnSpc>
              <a:spcAft>
                <a:spcPts val="500"/>
              </a:spcAft>
            </a:pPr>
            <a:r>
              <a:rPr sz="1500" b="0" i="0">
                <a:solidFill>
                  <a:srgbClr val="555555"/>
                </a:solidFill>
                <a:latin typeface="Times New Roman"/>
              </a:rPr>
              <a:t>Md Wahiduzzaman Suva  [26-94088-2]</a:t>
            </a:r>
          </a:p>
          <a:p>
            <a:pPr algn="ctr">
              <a:lnSpc>
                <a:spcPct val="110000"/>
              </a:lnSpc>
              <a:spcAft>
                <a:spcPts val="800"/>
              </a:spcAft>
            </a:pPr>
            <a:r>
              <a:rPr sz="1500" b="0" i="0">
                <a:solidFill>
                  <a:srgbClr val="555555"/>
                </a:solidFill>
                <a:latin typeface="Times New Roman"/>
              </a:rPr>
              <a:t>Supervisor: Dr. Muhammad Hasibur Rashid Chayon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What Changed Since the Midterm</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908792" cy="4846320"/>
          </a:xfrm>
          <a:prstGeom prst="rect">
            <a:avLst/>
          </a:prstGeom>
          <a:noFill/>
        </p:spPr>
        <p:txBody>
          <a:bodyPr wrap="square" anchor="t">
            <a:spAutoFit/>
          </a:bodyPr>
          <a:lstStyle/>
          <a:p>
            <a:pPr algn="l">
              <a:lnSpc>
                <a:spcPct val="120000"/>
              </a:lnSpc>
              <a:spcAft>
                <a:spcPts val="1600"/>
              </a:spcAft>
            </a:pPr>
            <a:r>
              <a:rPr sz="1800" b="1" i="0">
                <a:solidFill>
                  <a:srgbClr val="111111"/>
                </a:solidFill>
                <a:latin typeface="Times New Roman"/>
              </a:rPr>
              <a:t>The movement-leakage measure was confounded. </a:t>
            </a:r>
            <a:r>
              <a:rPr sz="1700" b="0" i="0">
                <a:solidFill>
                  <a:srgbClr val="555555"/>
                </a:solidFill>
                <a:latin typeface="Times New Roman"/>
              </a:rPr>
              <a:t>A decoder carrying no movement information at all still scored R² = 0.863, because walk and stop differ in movement by definition. The invariance claim was withdrawn and replaced by a probe conditioned on the label.</a:t>
            </a:r>
          </a:p>
          <a:p>
            <a:pPr algn="l">
              <a:lnSpc>
                <a:spcPct val="120000"/>
              </a:lnSpc>
              <a:spcAft>
                <a:spcPts val="1600"/>
              </a:spcAft>
            </a:pPr>
            <a:r>
              <a:rPr sz="1800" b="1" i="0">
                <a:solidFill>
                  <a:srgbClr val="111111"/>
                </a:solidFill>
                <a:latin typeface="Times New Roman"/>
              </a:rPr>
              <a:t>Abstention did not work. </a:t>
            </a:r>
            <a:r>
              <a:rPr sz="1700" b="0" i="0">
                <a:solidFill>
                  <a:srgbClr val="555555"/>
                </a:solidFill>
                <a:latin typeface="Times New Roman"/>
              </a:rPr>
              <a:t>Declining the least-confident 10 % of windows lowers accuracy in 14 of 18 arms. It is reported as a negative result.</a:t>
            </a:r>
          </a:p>
          <a:p>
            <a:pPr algn="l">
              <a:lnSpc>
                <a:spcPct val="120000"/>
              </a:lnSpc>
              <a:spcAft>
                <a:spcPts val="1600"/>
              </a:spcAft>
            </a:pPr>
            <a:r>
              <a:rPr sz="1800" b="1" i="0">
                <a:solidFill>
                  <a:srgbClr val="111111"/>
                </a:solidFill>
                <a:latin typeface="Times New Roman"/>
              </a:rPr>
              <a:t>The contribution moved to longitudinal drift. </a:t>
            </a:r>
            <a:r>
              <a:rPr sz="1700" b="0" i="0">
                <a:solidFill>
                  <a:srgbClr val="555555"/>
                </a:solidFill>
                <a:latin typeface="Times New Roman"/>
              </a:rPr>
              <a:t>When an in-network alignment layer helps across sessions, and when it harms.</a:t>
            </a:r>
          </a:p>
          <a:p>
            <a:pPr algn="l">
              <a:lnSpc>
                <a:spcPct val="120000"/>
              </a:lnSpc>
              <a:spcAft>
                <a:spcPts val="1600"/>
              </a:spcAft>
            </a:pPr>
            <a:r>
              <a:rPr sz="1800" b="1" i="0">
                <a:solidFill>
                  <a:srgbClr val="111111"/>
                </a:solidFill>
                <a:latin typeface="Times New Roman"/>
              </a:rPr>
              <a:t>External validation was added. </a:t>
            </a:r>
            <a:r>
              <a:rPr sz="1700" b="0" i="0">
                <a:solidFill>
                  <a:srgbClr val="555555"/>
                </a:solidFill>
                <a:latin typeface="Times New Roman"/>
              </a:rPr>
              <a:t>An independent second cohort, and a third cohort tested against a prediction registered before any model was trained.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 Decoder Must Keep Working for Weeks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908792" cy="1737360"/>
          </a:xfrm>
          <a:prstGeom prst="rect">
            <a:avLst/>
          </a:prstGeom>
          <a:noFill/>
        </p:spPr>
        <p:txBody>
          <a:bodyPr wrap="square" anchor="t">
            <a:spAutoFit/>
          </a:bodyPr>
          <a:lstStyle/>
          <a:p>
            <a:pPr algn="l">
              <a:lnSpc>
                <a:spcPct val="125000"/>
              </a:lnSpc>
              <a:spcAft>
                <a:spcPts val="800"/>
              </a:spcAft>
            </a:pPr>
            <a:r>
              <a:rPr sz="2000" b="0" i="0">
                <a:solidFill>
                  <a:srgbClr val="111111"/>
                </a:solidFill>
                <a:latin typeface="Times New Roman"/>
              </a:rPr>
              <a:t>An exoskeleton decoder is fitted once and used for weeks. Electrode impedance, montage and skin contact change between sessions, and the second-order statistics every spatial filter depends on drift with them.</a:t>
            </a:r>
          </a:p>
        </p:txBody>
      </p:sp>
      <p:sp>
        <p:nvSpPr>
          <p:cNvPr id="6" name="Rectangle 5"/>
          <p:cNvSpPr/>
          <p:nvPr/>
        </p:nvSpPr>
        <p:spPr>
          <a:xfrm>
            <a:off x="640080" y="3520440"/>
            <a:ext cx="10908792" cy="128016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l">
              <a:lnSpc>
                <a:spcPct val="115000"/>
              </a:lnSpc>
              <a:spcAft>
                <a:spcPts val="800"/>
              </a:spcAft>
            </a:pPr>
            <a:r>
              <a:rPr sz="2100" b="1" i="0">
                <a:solidFill>
                  <a:srgbClr val="111111"/>
                </a:solidFill>
                <a:latin typeface="Times New Roman"/>
              </a:rPr>
              <a:t>Correcting the drift inside the network, without labels, removes the per-session calibration block.</a:t>
            </a:r>
          </a:p>
        </p:txBody>
      </p:sp>
      <p:sp>
        <p:nvSpPr>
          <p:cNvPr id="7" name="TextBox 6"/>
          <p:cNvSpPr txBox="1"/>
          <p:nvPr/>
        </p:nvSpPr>
        <p:spPr>
          <a:xfrm>
            <a:off x="640080" y="5029200"/>
            <a:ext cx="10908792" cy="1188720"/>
          </a:xfrm>
          <a:prstGeom prst="rect">
            <a:avLst/>
          </a:prstGeom>
          <a:noFill/>
        </p:spPr>
        <p:txBody>
          <a:bodyPr wrap="square" anchor="t">
            <a:spAutoFit/>
          </a:bodyPr>
          <a:lstStyle/>
          <a:p>
            <a:pPr algn="l">
              <a:lnSpc>
                <a:spcPct val="120000"/>
              </a:lnSpc>
              <a:spcAft>
                <a:spcPts val="800"/>
              </a:spcAft>
            </a:pPr>
            <a:r>
              <a:rPr sz="1900" b="1" i="0">
                <a:solidFill>
                  <a:srgbClr val="111111"/>
                </a:solidFill>
                <a:latin typeface="Times New Roman"/>
              </a:rPr>
              <a:t>The question. </a:t>
            </a:r>
            <a:r>
              <a:rPr sz="1900" b="0" i="0">
                <a:solidFill>
                  <a:srgbClr val="555555"/>
                </a:solidFill>
                <a:latin typeface="Times New Roman"/>
              </a:rPr>
              <a:t>A running estimate adapts to whatever is currently streaming. Under which recording protocols is that safe?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Architecture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arch_v2.png"/>
          <p:cNvPicPr>
            <a:picLocks noChangeAspect="1"/>
          </p:cNvPicPr>
          <p:nvPr/>
        </p:nvPicPr>
        <p:blipFill>
          <a:blip r:embed="rId2"/>
          <a:stretch>
            <a:fillRect/>
          </a:stretch>
        </p:blipFill>
        <p:spPr>
          <a:xfrm>
            <a:off x="472287" y="1600200"/>
            <a:ext cx="11247120" cy="3210674"/>
          </a:xfrm>
          <a:prstGeom prst="rect">
            <a:avLst/>
          </a:prstGeom>
        </p:spPr>
      </p:pic>
      <p:sp>
        <p:nvSpPr>
          <p:cNvPr id="6" name="TextBox 5"/>
          <p:cNvSpPr txBox="1"/>
          <p:nvPr/>
        </p:nvSpPr>
        <p:spPr>
          <a:xfrm>
            <a:off x="640080" y="5074920"/>
            <a:ext cx="10908792" cy="1371600"/>
          </a:xfrm>
          <a:prstGeom prst="rect">
            <a:avLst/>
          </a:prstGeom>
          <a:noFill/>
        </p:spPr>
        <p:txBody>
          <a:bodyPr wrap="square" anchor="t">
            <a:spAutoFit/>
          </a:bodyPr>
          <a:lstStyle/>
          <a:p>
            <a:pPr algn="l">
              <a:lnSpc>
                <a:spcPct val="125000"/>
              </a:lnSpc>
              <a:spcAft>
                <a:spcPts val="800"/>
              </a:spcAft>
            </a:pPr>
            <a:r>
              <a:rPr sz="1600" b="1" i="0">
                <a:solidFill>
                  <a:srgbClr val="111111"/>
                </a:solidFill>
                <a:latin typeface="Times New Roman"/>
              </a:rPr>
              <a:t>Adaptive alignment </a:t>
            </a:r>
            <a:r>
              <a:rPr sz="1600" b="0" i="0">
                <a:solidFill>
                  <a:srgbClr val="555555"/>
                </a:solidFill>
                <a:latin typeface="Times New Roman"/>
              </a:rPr>
              <a:t>whitens each window by a running covariance estimate, updated without labels at inference.  </a:t>
            </a:r>
            <a:r>
              <a:rPr sz="1600" b="1" i="0">
                <a:solidFill>
                  <a:srgbClr val="111111"/>
                </a:solidFill>
                <a:latin typeface="Times New Roman"/>
              </a:rPr>
              <a:t>Multi-scale power stem </a:t>
            </a:r>
            <a:r>
              <a:rPr sz="1600" b="0" i="0">
                <a:solidFill>
                  <a:srgbClr val="555555"/>
                </a:solidFill>
                <a:latin typeface="Times New Roman"/>
              </a:rPr>
              <a:t>preserves log-power ratios.  </a:t>
            </a:r>
            <a:r>
              <a:rPr sz="1600" b="1" i="0">
                <a:solidFill>
                  <a:srgbClr val="111111"/>
                </a:solidFill>
                <a:latin typeface="Times New Roman"/>
              </a:rPr>
              <a:t>24,181 parameters </a:t>
            </a:r>
            <a:r>
              <a:rPr sz="1600" b="0" i="0">
                <a:solidFill>
                  <a:srgbClr val="555555"/>
                </a:solidFill>
                <a:latin typeface="Times New Roman"/>
              </a:rPr>
              <a:t>in the proposed configuration.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Three Cohorts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908792" cy="3328416"/>
        </p:xfrm>
        <a:graphic>
          <a:graphicData uri="http://schemas.openxmlformats.org/drawingml/2006/table">
            <a:tbl>
              <a:tblPr firstRow="0" bandRow="0">
                <a:tableStyleId>{2D5ABB26-0587-4C30-8999-92F81FD0307C}</a:tableStyleId>
              </a:tblPr>
              <a:tblGrid>
                <a:gridCol w="2953512"/>
                <a:gridCol w="2651760"/>
                <a:gridCol w="2651760"/>
                <a:gridCol w="2651760"/>
              </a:tblGrid>
              <a:tr h="475488">
                <a:tc>
                  <a:txBody>
                    <a:bodyPr/>
                    <a:lstStyle/>
                    <a:p>
                      <a:pPr algn="l"/>
                      <a:r>
                        <a:rPr sz="1600" b="1">
                          <a:solidFill>
                            <a:srgbClr val="111111"/>
                          </a:solidFill>
                          <a:latin typeface="Times New Roman"/>
                        </a:rPr>
                        <a:t/>
                      </a:r>
                    </a:p>
                  </a:txBody>
                  <a:tcPr anchor="ctr" marL="127000" marR="76200" marT="25400" marB="25400">
                    <a:noFill/>
                  </a:tcPr>
                </a:tc>
                <a:tc>
                  <a:txBody>
                    <a:bodyPr/>
                    <a:lstStyle/>
                    <a:p>
                      <a:pPr algn="ctr"/>
                      <a:r>
                        <a:rPr sz="1600" b="1">
                          <a:solidFill>
                            <a:srgbClr val="111111"/>
                          </a:solidFill>
                          <a:latin typeface="Times New Roman"/>
                        </a:rPr>
                        <a:t>Cohort A</a:t>
                      </a:r>
                    </a:p>
                  </a:txBody>
                  <a:tcPr anchor="ctr" marL="127000" marR="76200" marT="25400" marB="25400">
                    <a:noFill/>
                  </a:tcPr>
                </a:tc>
                <a:tc>
                  <a:txBody>
                    <a:bodyPr/>
                    <a:lstStyle/>
                    <a:p>
                      <a:pPr algn="ctr"/>
                      <a:r>
                        <a:rPr sz="1600" b="1">
                          <a:solidFill>
                            <a:srgbClr val="111111"/>
                          </a:solidFill>
                          <a:latin typeface="Times New Roman"/>
                        </a:rPr>
                        <a:t>Cohort B</a:t>
                      </a:r>
                    </a:p>
                  </a:txBody>
                  <a:tcPr anchor="ctr" marL="127000" marR="76200" marT="25400" marB="25400">
                    <a:noFill/>
                  </a:tcPr>
                </a:tc>
                <a:tc>
                  <a:txBody>
                    <a:bodyPr/>
                    <a:lstStyle/>
                    <a:p>
                      <a:pPr algn="ctr"/>
                      <a:r>
                        <a:rPr sz="1600" b="1">
                          <a:solidFill>
                            <a:srgbClr val="111111"/>
                          </a:solidFill>
                          <a:latin typeface="Times New Roman"/>
                        </a:rPr>
                        <a:t>Cohort C</a:t>
                      </a:r>
                    </a:p>
                  </a:txBody>
                  <a:tcPr anchor="ctr" marL="127000" marR="76200" marT="25400" marB="25400">
                    <a:noFill/>
                  </a:tcPr>
                </a:tc>
              </a:tr>
              <a:tr h="475488">
                <a:tc>
                  <a:txBody>
                    <a:bodyPr/>
                    <a:lstStyle/>
                    <a:p>
                      <a:pPr algn="l"/>
                      <a:r>
                        <a:rPr sz="1550" b="0">
                          <a:solidFill>
                            <a:srgbClr val="111111"/>
                          </a:solidFill>
                          <a:latin typeface="Times New Roman"/>
                        </a:rPr>
                        <a:t>Source</a:t>
                      </a:r>
                    </a:p>
                  </a:txBody>
                  <a:tcPr anchor="ctr" marL="127000" marR="76200" marT="25400" marB="25400">
                    <a:noFill/>
                  </a:tcPr>
                </a:tc>
                <a:tc>
                  <a:txBody>
                    <a:bodyPr/>
                    <a:lstStyle/>
                    <a:p>
                      <a:pPr algn="ctr"/>
                      <a:r>
                        <a:rPr sz="1550" b="0">
                          <a:solidFill>
                            <a:srgbClr val="111111"/>
                          </a:solidFill>
                          <a:latin typeface="Times New Roman"/>
                        </a:rPr>
                        <a:t>OpenNeuro ds007788</a:t>
                      </a:r>
                    </a:p>
                  </a:txBody>
                  <a:tcPr anchor="ctr" marL="127000" marR="76200" marT="25400" marB="25400">
                    <a:noFill/>
                  </a:tcPr>
                </a:tc>
                <a:tc>
                  <a:txBody>
                    <a:bodyPr/>
                    <a:lstStyle/>
                    <a:p>
                      <a:pPr algn="ctr"/>
                      <a:r>
                        <a:rPr sz="1550" b="0">
                          <a:solidFill>
                            <a:srgbClr val="111111"/>
                          </a:solidFill>
                          <a:latin typeface="Times New Roman"/>
                        </a:rPr>
                        <a:t>Treadmill MoBI</a:t>
                      </a:r>
                    </a:p>
                  </a:txBody>
                  <a:tcPr anchor="ctr" marL="127000" marR="76200" marT="25400" marB="25400">
                    <a:noFill/>
                  </a:tcPr>
                </a:tc>
                <a:tc>
                  <a:txBody>
                    <a:bodyPr/>
                    <a:lstStyle/>
                    <a:p>
                      <a:pPr algn="ctr"/>
                      <a:r>
                        <a:rPr sz="1550" b="0">
                          <a:solidFill>
                            <a:srgbClr val="111111"/>
                          </a:solidFill>
                          <a:latin typeface="Times New Roman"/>
                        </a:rPr>
                        <a:t>PhysioNet EEGMMIDB</a:t>
                      </a:r>
                    </a:p>
                  </a:txBody>
                  <a:tcPr anchor="ctr" marL="127000" marR="76200" marT="25400" marB="25400">
                    <a:noFill/>
                  </a:tcPr>
                </a:tc>
              </a:tr>
              <a:tr h="475488">
                <a:tc>
                  <a:txBody>
                    <a:bodyPr/>
                    <a:lstStyle/>
                    <a:p>
                      <a:pPr algn="l"/>
                      <a:r>
                        <a:rPr sz="1550" b="0">
                          <a:solidFill>
                            <a:srgbClr val="111111"/>
                          </a:solidFill>
                          <a:latin typeface="Times New Roman"/>
                        </a:rPr>
                        <a:t>Task</a:t>
                      </a:r>
                    </a:p>
                  </a:txBody>
                  <a:tcPr anchor="ctr" marL="127000" marR="76200" marT="25400" marB="25400">
                    <a:noFill/>
                  </a:tcPr>
                </a:tc>
                <a:tc>
                  <a:txBody>
                    <a:bodyPr/>
                    <a:lstStyle/>
                    <a:p>
                      <a:pPr algn="ctr"/>
                      <a:r>
                        <a:rPr sz="1550" b="0">
                          <a:solidFill>
                            <a:srgbClr val="111111"/>
                          </a:solidFill>
                          <a:latin typeface="Times New Roman"/>
                        </a:rPr>
                        <a:t>Exoskeleton walk / stop</a:t>
                      </a:r>
                    </a:p>
                  </a:txBody>
                  <a:tcPr anchor="ctr" marL="127000" marR="76200" marT="25400" marB="25400">
                    <a:noFill/>
                  </a:tcPr>
                </a:tc>
                <a:tc>
                  <a:txBody>
                    <a:bodyPr/>
                    <a:lstStyle/>
                    <a:p>
                      <a:pPr algn="ctr"/>
                      <a:r>
                        <a:rPr sz="1550" b="0">
                          <a:solidFill>
                            <a:srgbClr val="111111"/>
                          </a:solidFill>
                          <a:latin typeface="Times New Roman"/>
                        </a:rPr>
                        <a:t>Treadmill walk / stand</a:t>
                      </a:r>
                    </a:p>
                  </a:txBody>
                  <a:tcPr anchor="ctr" marL="127000" marR="76200" marT="25400" marB="25400">
                    <a:noFill/>
                  </a:tcPr>
                </a:tc>
                <a:tc>
                  <a:txBody>
                    <a:bodyPr/>
                    <a:lstStyle/>
                    <a:p>
                      <a:pPr algn="ctr"/>
                      <a:r>
                        <a:rPr sz="1550" b="0">
                          <a:solidFill>
                            <a:srgbClr val="111111"/>
                          </a:solidFill>
                          <a:latin typeface="Times New Roman"/>
                        </a:rPr>
                        <a:t>Rest / movement</a:t>
                      </a:r>
                    </a:p>
                  </a:txBody>
                  <a:tcPr anchor="ctr" marL="127000" marR="76200" marT="25400" marB="25400">
                    <a:noFill/>
                  </a:tcPr>
                </a:tc>
              </a:tr>
              <a:tr h="475488">
                <a:tc>
                  <a:txBody>
                    <a:bodyPr/>
                    <a:lstStyle/>
                    <a:p>
                      <a:pPr algn="l"/>
                      <a:r>
                        <a:rPr sz="1550" b="0">
                          <a:solidFill>
                            <a:srgbClr val="111111"/>
                          </a:solidFill>
                          <a:latin typeface="Times New Roman"/>
                        </a:rPr>
                        <a:t>Participants</a:t>
                      </a:r>
                    </a:p>
                  </a:txBody>
                  <a:tcPr anchor="ctr" marL="127000" marR="76200" marT="25400" marB="25400">
                    <a:noFill/>
                  </a:tcPr>
                </a:tc>
                <a:tc>
                  <a:txBody>
                    <a:bodyPr/>
                    <a:lstStyle/>
                    <a:p>
                      <a:pPr algn="ctr"/>
                      <a:r>
                        <a:rPr sz="1550" b="0">
                          <a:solidFill>
                            <a:srgbClr val="111111"/>
                          </a:solidFill>
                          <a:latin typeface="Times New Roman"/>
                        </a:rPr>
                        <a:t>7</a:t>
                      </a:r>
                    </a:p>
                  </a:txBody>
                  <a:tcPr anchor="ctr" marL="127000" marR="76200" marT="25400" marB="25400">
                    <a:noFill/>
                  </a:tcPr>
                </a:tc>
                <a:tc>
                  <a:txBody>
                    <a:bodyPr/>
                    <a:lstStyle/>
                    <a:p>
                      <a:pPr algn="ctr"/>
                      <a:r>
                        <a:rPr sz="1550" b="0">
                          <a:solidFill>
                            <a:srgbClr val="111111"/>
                          </a:solidFill>
                          <a:latin typeface="Times New Roman"/>
                        </a:rPr>
                        <a:t>8</a:t>
                      </a:r>
                    </a:p>
                  </a:txBody>
                  <a:tcPr anchor="ctr" marL="127000" marR="76200" marT="25400" marB="25400">
                    <a:noFill/>
                  </a:tcPr>
                </a:tc>
                <a:tc>
                  <a:txBody>
                    <a:bodyPr/>
                    <a:lstStyle/>
                    <a:p>
                      <a:pPr algn="ctr"/>
                      <a:r>
                        <a:rPr sz="1550" b="0">
                          <a:solidFill>
                            <a:srgbClr val="111111"/>
                          </a:solidFill>
                          <a:latin typeface="Times New Roman"/>
                        </a:rPr>
                        <a:t>20</a:t>
                      </a:r>
                    </a:p>
                  </a:txBody>
                  <a:tcPr anchor="ctr" marL="127000" marR="76200" marT="25400" marB="25400">
                    <a:noFill/>
                  </a:tcPr>
                </a:tc>
              </a:tr>
              <a:tr h="475488">
                <a:tc>
                  <a:txBody>
                    <a:bodyPr/>
                    <a:lstStyle/>
                    <a:p>
                      <a:pPr algn="l"/>
                      <a:r>
                        <a:rPr sz="1550" b="0">
                          <a:solidFill>
                            <a:srgbClr val="111111"/>
                          </a:solidFill>
                          <a:latin typeface="Times New Roman"/>
                        </a:rPr>
                        <a:t>Channels</a:t>
                      </a:r>
                    </a:p>
                  </a:txBody>
                  <a:tcPr anchor="ctr" marL="127000" marR="76200" marT="25400" marB="25400">
                    <a:noFill/>
                  </a:tcPr>
                </a:tc>
                <a:tc>
                  <a:txBody>
                    <a:bodyPr/>
                    <a:lstStyle/>
                    <a:p>
                      <a:pPr algn="ctr"/>
                      <a:r>
                        <a:rPr sz="1550" b="0">
                          <a:solidFill>
                            <a:srgbClr val="111111"/>
                          </a:solidFill>
                          <a:latin typeface="Times New Roman"/>
                        </a:rPr>
                        <a:t>60</a:t>
                      </a:r>
                    </a:p>
                  </a:txBody>
                  <a:tcPr anchor="ctr" marL="127000" marR="76200" marT="25400" marB="25400">
                    <a:noFill/>
                  </a:tcPr>
                </a:tc>
                <a:tc>
                  <a:txBody>
                    <a:bodyPr/>
                    <a:lstStyle/>
                    <a:p>
                      <a:pPr algn="ctr"/>
                      <a:r>
                        <a:rPr sz="1550" b="0">
                          <a:solidFill>
                            <a:srgbClr val="111111"/>
                          </a:solidFill>
                          <a:latin typeface="Times New Roman"/>
                        </a:rPr>
                        <a:t>64</a:t>
                      </a:r>
                    </a:p>
                  </a:txBody>
                  <a:tcPr anchor="ctr" marL="127000" marR="76200" marT="25400" marB="25400">
                    <a:noFill/>
                  </a:tcPr>
                </a:tc>
                <a:tc>
                  <a:txBody>
                    <a:bodyPr/>
                    <a:lstStyle/>
                    <a:p>
                      <a:pPr algn="ctr"/>
                      <a:r>
                        <a:rPr sz="1550" b="0">
                          <a:solidFill>
                            <a:srgbClr val="111111"/>
                          </a:solidFill>
                          <a:latin typeface="Times New Roman"/>
                        </a:rPr>
                        <a:t>64</a:t>
                      </a:r>
                    </a:p>
                  </a:txBody>
                  <a:tcPr anchor="ctr" marL="127000" marR="76200" marT="25400" marB="25400">
                    <a:noFill/>
                  </a:tcPr>
                </a:tc>
              </a:tr>
              <a:tr h="475488">
                <a:tc>
                  <a:txBody>
                    <a:bodyPr/>
                    <a:lstStyle/>
                    <a:p>
                      <a:pPr algn="l"/>
                      <a:r>
                        <a:rPr sz="1550" b="0">
                          <a:solidFill>
                            <a:srgbClr val="111111"/>
                          </a:solidFill>
                          <a:latin typeface="Times New Roman"/>
                        </a:rPr>
                        <a:t>Class block (windows)</a:t>
                      </a:r>
                    </a:p>
                  </a:txBody>
                  <a:tcPr anchor="ctr" marL="127000" marR="76200" marT="25400" marB="25400">
                    <a:noFill/>
                  </a:tcPr>
                </a:tc>
                <a:tc>
                  <a:txBody>
                    <a:bodyPr/>
                    <a:lstStyle/>
                    <a:p>
                      <a:pPr algn="ctr"/>
                      <a:r>
                        <a:rPr sz="1550" b="0">
                          <a:solidFill>
                            <a:srgbClr val="111111"/>
                          </a:solidFill>
                          <a:latin typeface="Times New Roman"/>
                        </a:rPr>
                        <a:t>18</a:t>
                      </a:r>
                    </a:p>
                  </a:txBody>
                  <a:tcPr anchor="ctr" marL="127000" marR="76200" marT="25400" marB="25400">
                    <a:noFill/>
                  </a:tcPr>
                </a:tc>
                <a:tc>
                  <a:txBody>
                    <a:bodyPr/>
                    <a:lstStyle/>
                    <a:p>
                      <a:pPr algn="ctr"/>
                      <a:r>
                        <a:rPr sz="1550" b="0">
                          <a:solidFill>
                            <a:srgbClr val="111111"/>
                          </a:solidFill>
                          <a:latin typeface="Times New Roman"/>
                        </a:rPr>
                        <a:t>309</a:t>
                      </a:r>
                    </a:p>
                  </a:txBody>
                  <a:tcPr anchor="ctr" marL="127000" marR="76200" marT="25400" marB="25400">
                    <a:noFill/>
                  </a:tcPr>
                </a:tc>
                <a:tc>
                  <a:txBody>
                    <a:bodyPr/>
                    <a:lstStyle/>
                    <a:p>
                      <a:pPr algn="ctr"/>
                      <a:r>
                        <a:rPr sz="1550" b="0">
                          <a:solidFill>
                            <a:srgbClr val="111111"/>
                          </a:solidFill>
                          <a:latin typeface="Times New Roman"/>
                        </a:rPr>
                        <a:t>5</a:t>
                      </a:r>
                    </a:p>
                  </a:txBody>
                  <a:tcPr anchor="ctr" marL="127000" marR="76200" marT="25400" marB="25400">
                    <a:noFill/>
                  </a:tcPr>
                </a:tc>
              </a:tr>
              <a:tr h="475488">
                <a:tc>
                  <a:txBody>
                    <a:bodyPr/>
                    <a:lstStyle/>
                    <a:p>
                      <a:pPr algn="l"/>
                      <a:r>
                        <a:rPr sz="1550" b="0">
                          <a:solidFill>
                            <a:srgbClr val="111111"/>
                          </a:solidFill>
                          <a:latin typeface="Times New Roman"/>
                        </a:rPr>
                        <a:t>Role</a:t>
                      </a:r>
                    </a:p>
                  </a:txBody>
                  <a:tcPr anchor="ctr" marL="127000" marR="76200" marT="25400" marB="25400">
                    <a:noFill/>
                  </a:tcPr>
                </a:tc>
                <a:tc>
                  <a:txBody>
                    <a:bodyPr/>
                    <a:lstStyle/>
                    <a:p>
                      <a:pPr algn="ctr"/>
                      <a:r>
                        <a:rPr sz="1550" b="0">
                          <a:solidFill>
                            <a:srgbClr val="111111"/>
                          </a:solidFill>
                          <a:latin typeface="Times New Roman"/>
                        </a:rPr>
                        <a:t>Development</a:t>
                      </a:r>
                    </a:p>
                  </a:txBody>
                  <a:tcPr anchor="ctr" marL="127000" marR="76200" marT="25400" marB="25400">
                    <a:noFill/>
                  </a:tcPr>
                </a:tc>
                <a:tc>
                  <a:txBody>
                    <a:bodyPr/>
                    <a:lstStyle/>
                    <a:p>
                      <a:pPr algn="ctr"/>
                      <a:r>
                        <a:rPr sz="1550" b="0">
                          <a:solidFill>
                            <a:srgbClr val="111111"/>
                          </a:solidFill>
                          <a:latin typeface="Times New Roman"/>
                        </a:rPr>
                        <a:t>External validation</a:t>
                      </a:r>
                    </a:p>
                  </a:txBody>
                  <a:tcPr anchor="ctr" marL="127000" marR="76200" marT="25400" marB="25400">
                    <a:noFill/>
                  </a:tcPr>
                </a:tc>
                <a:tc>
                  <a:txBody>
                    <a:bodyPr/>
                    <a:lstStyle/>
                    <a:p>
                      <a:pPr algn="ctr"/>
                      <a:r>
                        <a:rPr sz="1550" b="0">
                          <a:solidFill>
                            <a:srgbClr val="111111"/>
                          </a:solidFill>
                          <a:latin typeface="Times New Roman"/>
                        </a:rPr>
                        <a:t>Registered prediction</a:t>
                      </a:r>
                    </a:p>
                  </a:txBody>
                  <a:tcPr anchor="ctr" marL="127000" marR="76200" marT="25400" marB="25400">
                    <a:noFill/>
                  </a:tcPr>
                </a:tc>
              </a:tr>
            </a:tbl>
          </a:graphicData>
        </a:graphic>
      </p:graphicFrame>
      <p:sp>
        <p:nvSpPr>
          <p:cNvPr id="6" name="Rectangle 5"/>
          <p:cNvSpPr/>
          <p:nvPr/>
        </p:nvSpPr>
        <p:spPr>
          <a:xfrm>
            <a:off x="640080" y="1600200"/>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75688"/>
            <a:ext cx="10908792"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928616"/>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74920"/>
            <a:ext cx="10908792" cy="1280160"/>
          </a:xfrm>
          <a:prstGeom prst="rect">
            <a:avLst/>
          </a:prstGeom>
          <a:noFill/>
        </p:spPr>
        <p:txBody>
          <a:bodyPr wrap="square" anchor="t">
            <a:spAutoFit/>
          </a:bodyPr>
          <a:lstStyle/>
          <a:p>
            <a:pPr algn="l">
              <a:lnSpc>
                <a:spcPct val="120000"/>
              </a:lnSpc>
              <a:spcAft>
                <a:spcPts val="800"/>
              </a:spcAft>
            </a:pPr>
            <a:r>
              <a:rPr sz="1700" b="0" i="1">
                <a:solidFill>
                  <a:srgbClr val="555555"/>
                </a:solidFill>
                <a:latin typeface="Times New Roman"/>
              </a:rPr>
              <a:t>The class-block length, measured in windows, is the property that turns out to decide whether in-network alignment helps.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Alignment Removes Session Drift</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drift.png"/>
          <p:cNvPicPr>
            <a:picLocks noChangeAspect="1"/>
          </p:cNvPicPr>
          <p:nvPr/>
        </p:nvPicPr>
        <p:blipFill>
          <a:blip r:embed="rId2"/>
          <a:stretch>
            <a:fillRect/>
          </a:stretch>
        </p:blipFill>
        <p:spPr>
          <a:xfrm>
            <a:off x="1889607" y="1463040"/>
            <a:ext cx="8412480" cy="3577133"/>
          </a:xfrm>
          <a:prstGeom prst="rect">
            <a:avLst/>
          </a:prstGeom>
        </p:spPr>
      </p:pic>
      <p:sp>
        <p:nvSpPr>
          <p:cNvPr id="6" name="TextBox 5"/>
          <p:cNvSpPr txBox="1"/>
          <p:nvPr/>
        </p:nvSpPr>
        <p:spPr>
          <a:xfrm>
            <a:off x="640080" y="5486400"/>
            <a:ext cx="10908792" cy="1005840"/>
          </a:xfrm>
          <a:prstGeom prst="rect">
            <a:avLst/>
          </a:prstGeom>
          <a:noFill/>
        </p:spPr>
        <p:txBody>
          <a:bodyPr wrap="square" anchor="t">
            <a:spAutoFit/>
          </a:bodyPr>
          <a:lstStyle/>
          <a:p>
            <a:pPr algn="l">
              <a:lnSpc>
                <a:spcPct val="120000"/>
              </a:lnSpc>
              <a:spcAft>
                <a:spcPts val="800"/>
              </a:spcAft>
            </a:pPr>
            <a:r>
              <a:rPr sz="1800" b="1" i="0">
                <a:solidFill>
                  <a:srgbClr val="111111"/>
                </a:solidFill>
                <a:latin typeface="Times New Roman"/>
              </a:rPr>
              <a:t>52.0 ± 4.5 % </a:t>
            </a:r>
            <a:r>
              <a:rPr sz="1800" b="0" i="0">
                <a:solidFill>
                  <a:srgbClr val="555555"/>
                </a:solidFill>
                <a:latin typeface="Times New Roman"/>
              </a:rPr>
              <a:t>on cohort A and </a:t>
            </a:r>
            <a:r>
              <a:rPr sz="1800" b="1" i="0">
                <a:solidFill>
                  <a:srgbClr val="111111"/>
                </a:solidFill>
                <a:latin typeface="Times New Roman"/>
              </a:rPr>
              <a:t>83.9 ± 3.9 % </a:t>
            </a:r>
            <a:r>
              <a:rPr sz="1800" b="0" i="0">
                <a:solidFill>
                  <a:srgbClr val="555555"/>
                </a:solidFill>
                <a:latin typeface="Times New Roman"/>
              </a:rPr>
              <a:t>on cohort B reduction in session-to-session covariance distance, in </a:t>
            </a:r>
            <a:r>
              <a:rPr sz="1800" b="1" i="0">
                <a:solidFill>
                  <a:srgbClr val="111111"/>
                </a:solidFill>
                <a:latin typeface="Times New Roman"/>
              </a:rPr>
              <a:t>15 of 15 participants</a:t>
            </a:r>
            <a:r>
              <a:rPr sz="1800" b="0" i="0">
                <a:solidFill>
                  <a:srgbClr val="555555"/>
                </a:solidFill>
                <a:latin typeface="Times New Roman"/>
              </a:rPr>
              <a:t>, p ≤ 10⁻⁴.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Decoder Accuracy on Cohort A</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908791" cy="2852928"/>
        </p:xfrm>
        <a:graphic>
          <a:graphicData uri="http://schemas.openxmlformats.org/drawingml/2006/table">
            <a:tbl>
              <a:tblPr firstRow="0" bandRow="0">
                <a:tableStyleId>{2D5ABB26-0587-4C30-8999-92F81FD0307C}</a:tableStyleId>
              </a:tblPr>
              <a:tblGrid>
                <a:gridCol w="4050791"/>
                <a:gridCol w="2286000"/>
                <a:gridCol w="2286000"/>
                <a:gridCol w="2286000"/>
              </a:tblGrid>
              <a:tr h="475488">
                <a:tc>
                  <a:txBody>
                    <a:bodyPr/>
                    <a:lstStyle/>
                    <a:p>
                      <a:pPr algn="l"/>
                      <a:r>
                        <a:rPr sz="1600" b="1">
                          <a:solidFill>
                            <a:srgbClr val="111111"/>
                          </a:solidFill>
                          <a:latin typeface="Times New Roman"/>
                        </a:rPr>
                        <a:t>Configuration</a:t>
                      </a:r>
                    </a:p>
                  </a:txBody>
                  <a:tcPr anchor="ctr" marL="127000" marR="76200" marT="25400" marB="25400">
                    <a:noFill/>
                  </a:tcPr>
                </a:tc>
                <a:tc>
                  <a:txBody>
                    <a:bodyPr/>
                    <a:lstStyle/>
                    <a:p>
                      <a:pPr algn="ctr"/>
                      <a:r>
                        <a:rPr sz="1600" b="1">
                          <a:solidFill>
                            <a:srgbClr val="111111"/>
                          </a:solidFill>
                          <a:latin typeface="Times New Roman"/>
                        </a:rPr>
                        <a:t>Balanced acc.</a:t>
                      </a:r>
                    </a:p>
                  </a:txBody>
                  <a:tcPr anchor="ctr" marL="127000" marR="76200" marT="25400" marB="25400">
                    <a:noFill/>
                  </a:tcPr>
                </a:tc>
                <a:tc>
                  <a:txBody>
                    <a:bodyPr/>
                    <a:lstStyle/>
                    <a:p>
                      <a:pPr algn="ctr"/>
                      <a:r>
                        <a:rPr sz="1600" b="1">
                          <a:solidFill>
                            <a:srgbClr val="111111"/>
                          </a:solidFill>
                          <a:latin typeface="Times New Roman"/>
                        </a:rPr>
                        <a:t>ECE</a:t>
                      </a:r>
                    </a:p>
                  </a:txBody>
                  <a:tcPr anchor="ctr" marL="127000" marR="76200" marT="25400" marB="25400">
                    <a:noFill/>
                  </a:tcPr>
                </a:tc>
                <a:tc>
                  <a:txBody>
                    <a:bodyPr/>
                    <a:lstStyle/>
                    <a:p>
                      <a:pPr algn="ctr"/>
                      <a:r>
                        <a:rPr sz="1600" b="1">
                          <a:solidFill>
                            <a:srgbClr val="111111"/>
                          </a:solidFill>
                          <a:latin typeface="Times New Roman"/>
                        </a:rPr>
                        <a:t>Parameters</a:t>
                      </a:r>
                    </a:p>
                  </a:txBody>
                  <a:tcPr anchor="ctr" marL="127000" marR="76200" marT="25400" marB="25400">
                    <a:noFill/>
                  </a:tcPr>
                </a:tc>
              </a:tr>
              <a:tr h="475488">
                <a:tc>
                  <a:txBody>
                    <a:bodyPr/>
                    <a:lstStyle/>
                    <a:p>
                      <a:pPr algn="l"/>
                      <a:r>
                        <a:rPr sz="1550" b="1">
                          <a:solidFill>
                            <a:srgbClr val="111111"/>
                          </a:solidFill>
                          <a:latin typeface="Times New Roman"/>
                        </a:rPr>
                        <a:t>Align + gate (proposed)</a:t>
                      </a:r>
                    </a:p>
                  </a:txBody>
                  <a:tcPr anchor="ctr" marL="127000" marR="76200" marT="25400" marB="25400">
                    <a:noFill/>
                  </a:tcPr>
                </a:tc>
                <a:tc>
                  <a:txBody>
                    <a:bodyPr/>
                    <a:lstStyle/>
                    <a:p>
                      <a:pPr algn="ctr"/>
                      <a:r>
                        <a:rPr sz="1550" b="1">
                          <a:solidFill>
                            <a:srgbClr val="111111"/>
                          </a:solidFill>
                          <a:latin typeface="Times New Roman"/>
                        </a:rPr>
                        <a:t>0.901</a:t>
                      </a:r>
                    </a:p>
                  </a:txBody>
                  <a:tcPr anchor="ctr" marL="127000" marR="76200" marT="25400" marB="25400">
                    <a:noFill/>
                  </a:tcPr>
                </a:tc>
                <a:tc>
                  <a:txBody>
                    <a:bodyPr/>
                    <a:lstStyle/>
                    <a:p>
                      <a:pPr algn="ctr"/>
                      <a:r>
                        <a:rPr sz="1550" b="1">
                          <a:solidFill>
                            <a:srgbClr val="111111"/>
                          </a:solidFill>
                          <a:latin typeface="Times New Roman"/>
                        </a:rPr>
                        <a:t>0.039</a:t>
                      </a:r>
                    </a:p>
                  </a:txBody>
                  <a:tcPr anchor="ctr" marL="127000" marR="76200" marT="25400" marB="25400">
                    <a:noFill/>
                  </a:tcPr>
                </a:tc>
                <a:tc>
                  <a:txBody>
                    <a:bodyPr/>
                    <a:lstStyle/>
                    <a:p>
                      <a:pPr algn="ctr"/>
                      <a:r>
                        <a:rPr sz="1550" b="1">
                          <a:solidFill>
                            <a:srgbClr val="111111"/>
                          </a:solidFill>
                          <a:latin typeface="Times New Roman"/>
                        </a:rPr>
                        <a:t>24,181</a:t>
                      </a:r>
                    </a:p>
                  </a:txBody>
                  <a:tcPr anchor="ctr" marL="127000" marR="76200" marT="25400" marB="25400">
                    <a:noFill/>
                  </a:tcPr>
                </a:tc>
              </a:tr>
              <a:tr h="475488">
                <a:tc>
                  <a:txBody>
                    <a:bodyPr/>
                    <a:lstStyle/>
                    <a:p>
                      <a:pPr algn="l"/>
                      <a:r>
                        <a:rPr sz="1550" b="0">
                          <a:solidFill>
                            <a:srgbClr val="111111"/>
                          </a:solidFill>
                          <a:latin typeface="Times New Roman"/>
                        </a:rPr>
                        <a:t>Align + context + gate</a:t>
                      </a:r>
                    </a:p>
                  </a:txBody>
                  <a:tcPr anchor="ctr" marL="127000" marR="76200" marT="25400" marB="25400">
                    <a:noFill/>
                  </a:tcPr>
                </a:tc>
                <a:tc>
                  <a:txBody>
                    <a:bodyPr/>
                    <a:lstStyle/>
                    <a:p>
                      <a:pPr algn="ctr"/>
                      <a:r>
                        <a:rPr sz="1550" b="0">
                          <a:solidFill>
                            <a:srgbClr val="111111"/>
                          </a:solidFill>
                          <a:latin typeface="Times New Roman"/>
                        </a:rPr>
                        <a:t>0.878</a:t>
                      </a:r>
                    </a:p>
                  </a:txBody>
                  <a:tcPr anchor="ctr" marL="127000" marR="76200" marT="25400" marB="25400">
                    <a:noFill/>
                  </a:tcPr>
                </a:tc>
                <a:tc>
                  <a:txBody>
                    <a:bodyPr/>
                    <a:lstStyle/>
                    <a:p>
                      <a:pPr algn="ctr"/>
                      <a:r>
                        <a:rPr sz="1550" b="0">
                          <a:solidFill>
                            <a:srgbClr val="111111"/>
                          </a:solidFill>
                          <a:latin typeface="Times New Roman"/>
                        </a:rPr>
                        <a:t>0.074</a:t>
                      </a:r>
                    </a:p>
                  </a:txBody>
                  <a:tcPr anchor="ctr" marL="127000" marR="76200" marT="25400" marB="25400">
                    <a:noFill/>
                  </a:tcPr>
                </a:tc>
                <a:tc>
                  <a:txBody>
                    <a:bodyPr/>
                    <a:lstStyle/>
                    <a:p>
                      <a:pPr algn="ctr"/>
                      <a:r>
                        <a:rPr sz="1550" b="0">
                          <a:solidFill>
                            <a:srgbClr val="111111"/>
                          </a:solidFill>
                          <a:latin typeface="Times New Roman"/>
                        </a:rPr>
                        <a:t>618,997</a:t>
                      </a:r>
                    </a:p>
                  </a:txBody>
                  <a:tcPr anchor="ctr" marL="127000" marR="76200" marT="25400" marB="25400">
                    <a:noFill/>
                  </a:tcPr>
                </a:tc>
              </a:tr>
              <a:tr h="475488">
                <a:tc>
                  <a:txBody>
                    <a:bodyPr/>
                    <a:lstStyle/>
                    <a:p>
                      <a:pPr algn="l"/>
                      <a:r>
                        <a:rPr sz="1550" b="0">
                          <a:solidFill>
                            <a:srgbClr val="111111"/>
                          </a:solidFill>
                          <a:latin typeface="Times New Roman"/>
                        </a:rPr>
                        <a:t>Context + gate</a:t>
                      </a:r>
                    </a:p>
                  </a:txBody>
                  <a:tcPr anchor="ctr" marL="127000" marR="76200" marT="25400" marB="25400">
                    <a:noFill/>
                  </a:tcPr>
                </a:tc>
                <a:tc>
                  <a:txBody>
                    <a:bodyPr/>
                    <a:lstStyle/>
                    <a:p>
                      <a:pPr algn="ctr"/>
                      <a:r>
                        <a:rPr sz="1550" b="0">
                          <a:solidFill>
                            <a:srgbClr val="111111"/>
                          </a:solidFill>
                          <a:latin typeface="Times New Roman"/>
                        </a:rPr>
                        <a:t>0.827</a:t>
                      </a:r>
                    </a:p>
                  </a:txBody>
                  <a:tcPr anchor="ctr" marL="127000" marR="76200" marT="25400" marB="25400">
                    <a:noFill/>
                  </a:tcPr>
                </a:tc>
                <a:tc>
                  <a:txBody>
                    <a:bodyPr/>
                    <a:lstStyle/>
                    <a:p>
                      <a:pPr algn="ctr"/>
                      <a:r>
                        <a:rPr sz="1550" b="0">
                          <a:solidFill>
                            <a:srgbClr val="111111"/>
                          </a:solidFill>
                          <a:latin typeface="Times New Roman"/>
                        </a:rPr>
                        <a:t>0.091</a:t>
                      </a:r>
                    </a:p>
                  </a:txBody>
                  <a:tcPr anchor="ctr" marL="127000" marR="76200" marT="25400" marB="25400">
                    <a:noFill/>
                  </a:tcPr>
                </a:tc>
                <a:tc>
                  <a:txBody>
                    <a:bodyPr/>
                    <a:lstStyle/>
                    <a:p>
                      <a:pPr algn="ctr"/>
                      <a:r>
                        <a:rPr sz="1550" b="0">
                          <a:solidFill>
                            <a:srgbClr val="111111"/>
                          </a:solidFill>
                          <a:latin typeface="Times New Roman"/>
                        </a:rPr>
                        <a:t>n/a</a:t>
                      </a:r>
                    </a:p>
                  </a:txBody>
                  <a:tcPr anchor="ctr" marL="127000" marR="76200" marT="25400" marB="25400">
                    <a:noFill/>
                  </a:tcPr>
                </a:tc>
              </a:tr>
              <a:tr h="475488">
                <a:tc>
                  <a:txBody>
                    <a:bodyPr/>
                    <a:lstStyle/>
                    <a:p>
                      <a:pPr algn="l"/>
                      <a:r>
                        <a:rPr sz="1550" b="0">
                          <a:solidFill>
                            <a:srgbClr val="111111"/>
                          </a:solidFill>
                          <a:latin typeface="Times New Roman"/>
                        </a:rPr>
                        <a:t>Stem only</a:t>
                      </a:r>
                    </a:p>
                  </a:txBody>
                  <a:tcPr anchor="ctr" marL="127000" marR="76200" marT="25400" marB="25400">
                    <a:noFill/>
                  </a:tcPr>
                </a:tc>
                <a:tc>
                  <a:txBody>
                    <a:bodyPr/>
                    <a:lstStyle/>
                    <a:p>
                      <a:pPr algn="ctr"/>
                      <a:r>
                        <a:rPr sz="1550" b="0">
                          <a:solidFill>
                            <a:srgbClr val="111111"/>
                          </a:solidFill>
                          <a:latin typeface="Times New Roman"/>
                        </a:rPr>
                        <a:t>0.827</a:t>
                      </a:r>
                    </a:p>
                  </a:txBody>
                  <a:tcPr anchor="ctr" marL="127000" marR="76200" marT="25400" marB="25400">
                    <a:noFill/>
                  </a:tcPr>
                </a:tc>
                <a:tc>
                  <a:txBody>
                    <a:bodyPr/>
                    <a:lstStyle/>
                    <a:p>
                      <a:pPr algn="ctr"/>
                      <a:r>
                        <a:rPr sz="1550" b="0">
                          <a:solidFill>
                            <a:srgbClr val="111111"/>
                          </a:solidFill>
                          <a:latin typeface="Times New Roman"/>
                        </a:rPr>
                        <a:t>0.082</a:t>
                      </a:r>
                    </a:p>
                  </a:txBody>
                  <a:tcPr anchor="ctr" marL="127000" marR="76200" marT="25400" marB="25400">
                    <a:noFill/>
                  </a:tcPr>
                </a:tc>
                <a:tc>
                  <a:txBody>
                    <a:bodyPr/>
                    <a:lstStyle/>
                    <a:p>
                      <a:pPr algn="ctr"/>
                      <a:r>
                        <a:rPr sz="1550" b="0">
                          <a:solidFill>
                            <a:srgbClr val="111111"/>
                          </a:solidFill>
                          <a:latin typeface="Times New Roman"/>
                        </a:rPr>
                        <a:t>n/a</a:t>
                      </a:r>
                    </a:p>
                  </a:txBody>
                  <a:tcPr anchor="ctr" marL="127000" marR="76200" marT="25400" marB="25400">
                    <a:noFill/>
                  </a:tcPr>
                </a:tc>
              </a:tr>
              <a:tr h="475488">
                <a:tc>
                  <a:txBody>
                    <a:bodyPr/>
                    <a:lstStyle/>
                    <a:p>
                      <a:pPr algn="l"/>
                      <a:r>
                        <a:rPr sz="1550" b="0">
                          <a:solidFill>
                            <a:srgbClr val="111111"/>
                          </a:solidFill>
                          <a:latin typeface="Times New Roman"/>
                        </a:rPr>
                        <a:t>ATCNet, same pipeline</a:t>
                      </a:r>
                    </a:p>
                  </a:txBody>
                  <a:tcPr anchor="ctr" marL="127000" marR="76200" marT="25400" marB="25400">
                    <a:noFill/>
                  </a:tcPr>
                </a:tc>
                <a:tc>
                  <a:txBody>
                    <a:bodyPr/>
                    <a:lstStyle/>
                    <a:p>
                      <a:pPr algn="ctr"/>
                      <a:r>
                        <a:rPr sz="1550" b="0">
                          <a:solidFill>
                            <a:srgbClr val="111111"/>
                          </a:solidFill>
                          <a:latin typeface="Times New Roman"/>
                        </a:rPr>
                        <a:t>0.913</a:t>
                      </a:r>
                    </a:p>
                  </a:txBody>
                  <a:tcPr anchor="ctr" marL="127000" marR="76200" marT="25400" marB="25400">
                    <a:noFill/>
                  </a:tcPr>
                </a:tc>
                <a:tc>
                  <a:txBody>
                    <a:bodyPr/>
                    <a:lstStyle/>
                    <a:p>
                      <a:pPr algn="ctr"/>
                      <a:r>
                        <a:rPr sz="1550" b="0">
                          <a:solidFill>
                            <a:srgbClr val="111111"/>
                          </a:solidFill>
                          <a:latin typeface="Times New Roman"/>
                        </a:rPr>
                        <a:t>n/a</a:t>
                      </a:r>
                    </a:p>
                  </a:txBody>
                  <a:tcPr anchor="ctr" marL="127000" marR="76200" marT="25400" marB="25400">
                    <a:noFill/>
                  </a:tcPr>
                </a:tc>
                <a:tc>
                  <a:txBody>
                    <a:bodyPr/>
                    <a:lstStyle/>
                    <a:p>
                      <a:pPr algn="ctr"/>
                      <a:r>
                        <a:rPr sz="1550" b="0">
                          <a:solidFill>
                            <a:srgbClr val="111111"/>
                          </a:solidFill>
                          <a:latin typeface="Times New Roman"/>
                        </a:rPr>
                        <a:t>45,478</a:t>
                      </a:r>
                    </a:p>
                  </a:txBody>
                  <a:tcPr anchor="ctr" marL="127000" marR="76200" marT="25400" marB="25400">
                    <a:noFill/>
                  </a:tcPr>
                </a:tc>
              </a:tr>
            </a:tbl>
          </a:graphicData>
        </a:graphic>
      </p:graphicFrame>
      <p:sp>
        <p:nvSpPr>
          <p:cNvPr id="6" name="Rectangle 5"/>
          <p:cNvSpPr/>
          <p:nvPr/>
        </p:nvSpPr>
        <p:spPr>
          <a:xfrm>
            <a:off x="640080" y="1600200"/>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75688"/>
            <a:ext cx="10908792"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453128"/>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709160"/>
            <a:ext cx="10908792" cy="1737360"/>
          </a:xfrm>
          <a:prstGeom prst="rect">
            <a:avLst/>
          </a:prstGeom>
          <a:noFill/>
        </p:spPr>
        <p:txBody>
          <a:bodyPr wrap="square" anchor="t">
            <a:spAutoFit/>
          </a:bodyPr>
          <a:lstStyle/>
          <a:p>
            <a:pPr algn="l">
              <a:lnSpc>
                <a:spcPct val="125000"/>
              </a:lnSpc>
              <a:spcAft>
                <a:spcPts val="800"/>
              </a:spcAft>
            </a:pPr>
            <a:r>
              <a:rPr sz="1700" b="1" i="0">
                <a:solidFill>
                  <a:srgbClr val="111111"/>
                </a:solidFill>
                <a:latin typeface="Times New Roman"/>
              </a:rPr>
              <a:t>0.901 at 53 % of ATCNet's parameters. </a:t>
            </a:r>
            <a:r>
              <a:rPr sz="1700" b="0" i="0">
                <a:solidFill>
                  <a:srgbClr val="555555"/>
                </a:solidFill>
                <a:latin typeface="Times New Roman"/>
              </a:rPr>
              <a:t>Removing alignment costs 0.074 on this cohort. Seven participants, nine sessions each, fitted on sessions 1–3 and tested on sessions 4–9 recorded weeks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Is the Accuracy Neural</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5394960" cy="4937760"/>
          </a:xfrm>
          <a:prstGeom prst="rect">
            <a:avLst/>
          </a:prstGeom>
          <a:noFill/>
        </p:spPr>
        <p:txBody>
          <a:bodyPr wrap="square" anchor="t">
            <a:spAutoFit/>
          </a:bodyPr>
          <a:lstStyle/>
          <a:p>
            <a:pPr algn="l">
              <a:lnSpc>
                <a:spcPct val="110000"/>
              </a:lnSpc>
              <a:spcAft>
                <a:spcPts val="1200"/>
              </a:spcAft>
            </a:pPr>
            <a:r>
              <a:rPr sz="1800" b="1" i="0">
                <a:solidFill>
                  <a:srgbClr val="111111"/>
                </a:solidFill>
                <a:latin typeface="Times New Roman"/>
              </a:rPr>
              <a:t>Three separate lines of evidence</a:t>
            </a:r>
          </a:p>
          <a:p>
            <a:pPr algn="l">
              <a:lnSpc>
                <a:spcPct val="120000"/>
              </a:lnSpc>
              <a:spcAft>
                <a:spcPts val="1000"/>
              </a:spcAft>
            </a:pPr>
            <a:r>
              <a:rPr sz="1600" b="1" i="0">
                <a:solidFill>
                  <a:srgbClr val="111111"/>
                </a:solidFill>
                <a:latin typeface="Times New Roman"/>
              </a:rPr>
              <a:t>No motion input. </a:t>
            </a:r>
            <a:r>
              <a:rPr sz="1600" b="0" i="0">
                <a:solidFill>
                  <a:srgbClr val="555555"/>
                </a:solidFill>
                <a:latin typeface="Times New Roman"/>
              </a:rPr>
              <a:t>The IMU is used only to score leakage after the fact.</a:t>
            </a:r>
          </a:p>
          <a:p>
            <a:pPr algn="l">
              <a:lnSpc>
                <a:spcPct val="120000"/>
              </a:lnSpc>
              <a:spcAft>
                <a:spcPts val="1000"/>
              </a:spcAft>
            </a:pPr>
            <a:r>
              <a:rPr sz="1600" b="1" i="0">
                <a:solidFill>
                  <a:srgbClr val="111111"/>
                </a:solidFill>
                <a:latin typeface="Times New Roman"/>
              </a:rPr>
              <a:t>8–30 Hz band. </a:t>
            </a:r>
            <a:r>
              <a:rPr sz="1600" b="0" i="0">
                <a:solidFill>
                  <a:srgbClr val="555555"/>
                </a:solidFill>
                <a:latin typeface="Times New Roman"/>
              </a:rPr>
              <a:t>Excludes the 1–2 Hz gait cycle and most muscle activity above 30 Hz.</a:t>
            </a:r>
          </a:p>
          <a:p>
            <a:pPr algn="l">
              <a:lnSpc>
                <a:spcPct val="120000"/>
              </a:lnSpc>
              <a:spcAft>
                <a:spcPts val="1000"/>
              </a:spcAft>
            </a:pPr>
            <a:r>
              <a:rPr sz="1600" b="1" i="0">
                <a:solidFill>
                  <a:srgbClr val="111111"/>
                </a:solidFill>
                <a:latin typeface="Times New Roman"/>
              </a:rPr>
              <a:t>Leakage probe. </a:t>
            </a:r>
            <a:r>
              <a:rPr sz="1600" b="0" i="0">
                <a:solidFill>
                  <a:srgbClr val="555555"/>
                </a:solidFill>
                <a:latin typeface="Times New Roman"/>
              </a:rPr>
              <a:t>Injecting 2 % motion reaches 0.903 accuracy and moves the probe to +0.067. The proposed decoder reaches 0.901 with the probe at −0.068.</a:t>
            </a:r>
          </a:p>
        </p:txBody>
      </p:sp>
      <p:sp>
        <p:nvSpPr>
          <p:cNvPr id="6" name="Rectangle 5"/>
          <p:cNvSpPr/>
          <p:nvPr/>
        </p:nvSpPr>
        <p:spPr>
          <a:xfrm>
            <a:off x="6263640" y="1463040"/>
            <a:ext cx="5285232" cy="4754880"/>
          </a:xfrm>
          <a:prstGeom prst="rect">
            <a:avLst/>
          </a:prstGeom>
          <a:solidFill>
            <a:srgbClr val="FFFFFF"/>
          </a:solidFill>
          <a:ln w="1651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177800"/>
          <a:lstStyle/>
          <a:p>
            <a:pPr algn="l">
              <a:lnSpc>
                <a:spcPct val="110000"/>
              </a:lnSpc>
              <a:spcAft>
                <a:spcPts val="1000"/>
              </a:spcAft>
            </a:pPr>
            <a:r>
              <a:rPr sz="1800" b="1" i="0">
                <a:solidFill>
                  <a:srgbClr val="111111"/>
                </a:solidFill>
                <a:latin typeface="Times New Roman"/>
              </a:rPr>
              <a:t>ICA artefact control</a:t>
            </a:r>
          </a:p>
          <a:p>
            <a:pPr algn="l">
              <a:lnSpc>
                <a:spcPct val="120000"/>
              </a:lnSpc>
              <a:spcAft>
                <a:spcPts val="1200"/>
              </a:spcAft>
            </a:pPr>
            <a:r>
              <a:rPr sz="1500" b="0" i="0">
                <a:solidFill>
                  <a:srgbClr val="555555"/>
                </a:solidFill>
                <a:latin typeface="Times New Roman"/>
              </a:rPr>
              <a:t>ICLabel removes eye, muscle, heart, line-noise and channel-noise components, then the proposed decoder is retrained on the cleaned signal.</a:t>
            </a:r>
          </a:p>
          <a:p>
            <a:pPr algn="l">
              <a:lnSpc>
                <a:spcPct val="110000"/>
              </a:lnSpc>
              <a:spcAft>
                <a:spcPts val="400"/>
              </a:spcAft>
            </a:pPr>
            <a:r>
              <a:rPr sz="1700" b="0" i="0">
                <a:solidFill>
                  <a:srgbClr val="555555"/>
                </a:solidFill>
                <a:latin typeface="Times New Roman"/>
              </a:rPr>
              <a:t>Uncleaned  </a:t>
            </a:r>
            <a:r>
              <a:rPr sz="1700" b="1" i="0">
                <a:solidFill>
                  <a:srgbClr val="111111"/>
                </a:solidFill>
                <a:latin typeface="Times New Roman"/>
              </a:rPr>
              <a:t>0.835</a:t>
            </a:r>
            <a:r>
              <a:rPr sz="1700" b="0" i="0">
                <a:solidFill>
                  <a:srgbClr val="555555"/>
                </a:solidFill>
                <a:latin typeface="Times New Roman"/>
              </a:rPr>
              <a:t>      Cleaned  </a:t>
            </a:r>
            <a:r>
              <a:rPr sz="1700" b="1" i="0">
                <a:solidFill>
                  <a:srgbClr val="111111"/>
                </a:solidFill>
                <a:latin typeface="Times New Roman"/>
              </a:rPr>
              <a:t>0.785</a:t>
            </a:r>
          </a:p>
          <a:p>
            <a:pPr algn="l">
              <a:lnSpc>
                <a:spcPct val="110000"/>
              </a:lnSpc>
              <a:spcAft>
                <a:spcPts val="1200"/>
              </a:spcAft>
            </a:pPr>
            <a:r>
              <a:rPr sz="1700" b="0" i="0">
                <a:solidFill>
                  <a:srgbClr val="555555"/>
                </a:solidFill>
                <a:latin typeface="Times New Roman"/>
              </a:rPr>
              <a:t>Change  </a:t>
            </a:r>
            <a:r>
              <a:rPr sz="1700" b="1" i="0">
                <a:solidFill>
                  <a:srgbClr val="111111"/>
                </a:solidFill>
                <a:latin typeface="Times New Roman"/>
              </a:rPr>
              <a:t>−0.051</a:t>
            </a:r>
            <a:r>
              <a:rPr sz="1400" b="0" i="0">
                <a:solidFill>
                  <a:srgbClr val="555555"/>
                </a:solidFill>
                <a:latin typeface="Times New Roman"/>
              </a:rPr>
              <a:t>   p = 0.22, n = 7</a:t>
            </a:r>
          </a:p>
          <a:p>
            <a:pPr algn="l">
              <a:lnSpc>
                <a:spcPct val="120000"/>
              </a:lnSpc>
              <a:spcAft>
                <a:spcPts val="800"/>
              </a:spcAft>
            </a:pPr>
            <a:r>
              <a:rPr sz="1500" b="1" i="0">
                <a:solidFill>
                  <a:srgbClr val="111111"/>
                </a:solidFill>
                <a:latin typeface="Times New Roman"/>
              </a:rPr>
              <a:t>Most accuracy survives. </a:t>
            </a:r>
            <a:r>
              <a:rPr sz="1500" b="0" i="0">
                <a:solidFill>
                  <a:srgbClr val="555555"/>
                </a:solidFill>
                <a:latin typeface="Times New Roman"/>
              </a:rPr>
              <a:t>Four of seven participants are unchanged or improve.</a:t>
            </a:r>
          </a:p>
          <a:p>
            <a:pPr algn="l">
              <a:lnSpc>
                <a:spcPct val="120000"/>
              </a:lnSpc>
              <a:spcAft>
                <a:spcPts val="800"/>
              </a:spcAft>
            </a:pPr>
            <a:r>
              <a:rPr sz="1500" b="1" i="0">
                <a:solidFill>
                  <a:srgbClr val="111111"/>
                </a:solidFill>
                <a:latin typeface="Times New Roman"/>
              </a:rPr>
              <a:t>Losses do not track muscle. </a:t>
            </a:r>
            <a:r>
              <a:rPr sz="1500" b="0" i="0">
                <a:solidFill>
                  <a:srgbClr val="555555"/>
                </a:solidFill>
                <a:latin typeface="Times New Roman"/>
              </a:rPr>
              <a:t>The participant with the most muscle removed improves; one with almost none removed loses most.</a:t>
            </a:r>
          </a:p>
          <a:p>
            <a:pPr algn="l">
              <a:lnSpc>
                <a:spcPct val="115000"/>
              </a:lnSpc>
              <a:spcAft>
                <a:spcPts val="800"/>
              </a:spcAft>
            </a:pPr>
            <a:r>
              <a:rPr sz="1300" b="0" i="1">
                <a:solidFill>
                  <a:srgbClr val="555555"/>
                </a:solidFill>
                <a:latin typeface="Times New Roman"/>
              </a:rPr>
              <a:t>Seven participants: evidence against muscle dependence, short of proof.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External Validation</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908792" cy="2377440"/>
        </p:xfrm>
        <a:graphic>
          <a:graphicData uri="http://schemas.openxmlformats.org/drawingml/2006/table">
            <a:tbl>
              <a:tblPr firstRow="0" bandRow="0">
                <a:tableStyleId>{2D5ABB26-0587-4C30-8999-92F81FD0307C}</a:tableStyleId>
              </a:tblPr>
              <a:tblGrid>
                <a:gridCol w="5422392"/>
                <a:gridCol w="2743200"/>
                <a:gridCol w="2743200"/>
              </a:tblGrid>
              <a:tr h="475488">
                <a:tc>
                  <a:txBody>
                    <a:bodyPr/>
                    <a:lstStyle/>
                    <a:p>
                      <a:pPr algn="l"/>
                      <a:r>
                        <a:rPr sz="1600" b="1">
                          <a:solidFill>
                            <a:srgbClr val="111111"/>
                          </a:solidFill>
                          <a:latin typeface="Times New Roman"/>
                        </a:rPr>
                        <a:t>Configuration</a:t>
                      </a:r>
                    </a:p>
                  </a:txBody>
                  <a:tcPr anchor="ctr" marL="127000" marR="76200" marT="25400" marB="25400">
                    <a:noFill/>
                  </a:tcPr>
                </a:tc>
                <a:tc>
                  <a:txBody>
                    <a:bodyPr/>
                    <a:lstStyle/>
                    <a:p>
                      <a:pPr algn="ctr"/>
                      <a:r>
                        <a:rPr sz="1600" b="1">
                          <a:solidFill>
                            <a:srgbClr val="111111"/>
                          </a:solidFill>
                          <a:latin typeface="Times New Roman"/>
                        </a:rPr>
                        <a:t>Cohort A</a:t>
                      </a:r>
                    </a:p>
                  </a:txBody>
                  <a:tcPr anchor="ctr" marL="127000" marR="76200" marT="25400" marB="25400">
                    <a:noFill/>
                  </a:tcPr>
                </a:tc>
                <a:tc>
                  <a:txBody>
                    <a:bodyPr/>
                    <a:lstStyle/>
                    <a:p>
                      <a:pPr algn="ctr"/>
                      <a:r>
                        <a:rPr sz="1600" b="1">
                          <a:solidFill>
                            <a:srgbClr val="111111"/>
                          </a:solidFill>
                          <a:latin typeface="Times New Roman"/>
                        </a:rPr>
                        <a:t>Cohort B</a:t>
                      </a:r>
                    </a:p>
                  </a:txBody>
                  <a:tcPr anchor="ctr" marL="127000" marR="76200" marT="25400" marB="25400">
                    <a:noFill/>
                  </a:tcPr>
                </a:tc>
              </a:tr>
              <a:tr h="475488">
                <a:tc>
                  <a:txBody>
                    <a:bodyPr/>
                    <a:lstStyle/>
                    <a:p>
                      <a:pPr algn="l"/>
                      <a:r>
                        <a:rPr sz="1550" b="0">
                          <a:solidFill>
                            <a:srgbClr val="111111"/>
                          </a:solidFill>
                          <a:latin typeface="Times New Roman"/>
                        </a:rPr>
                        <a:t>Align + gate</a:t>
                      </a:r>
                    </a:p>
                  </a:txBody>
                  <a:tcPr anchor="ctr" marL="127000" marR="76200" marT="25400" marB="25400">
                    <a:noFill/>
                  </a:tcPr>
                </a:tc>
                <a:tc>
                  <a:txBody>
                    <a:bodyPr/>
                    <a:lstStyle/>
                    <a:p>
                      <a:pPr algn="ctr"/>
                      <a:r>
                        <a:rPr sz="1550" b="0">
                          <a:solidFill>
                            <a:srgbClr val="111111"/>
                          </a:solidFill>
                          <a:latin typeface="Times New Roman"/>
                        </a:rPr>
                        <a:t>0.901</a:t>
                      </a:r>
                    </a:p>
                  </a:txBody>
                  <a:tcPr anchor="ctr" marL="127000" marR="76200" marT="25400" marB="25400">
                    <a:noFill/>
                  </a:tcPr>
                </a:tc>
                <a:tc>
                  <a:txBody>
                    <a:bodyPr/>
                    <a:lstStyle/>
                    <a:p>
                      <a:pPr algn="ctr"/>
                      <a:r>
                        <a:rPr sz="1550" b="0">
                          <a:solidFill>
                            <a:srgbClr val="111111"/>
                          </a:solidFill>
                          <a:latin typeface="Times New Roman"/>
                        </a:rPr>
                        <a:t>0.581</a:t>
                      </a:r>
                    </a:p>
                  </a:txBody>
                  <a:tcPr anchor="ctr" marL="127000" marR="76200" marT="25400" marB="25400">
                    <a:noFill/>
                  </a:tcPr>
                </a:tc>
              </a:tr>
              <a:tr h="475488">
                <a:tc>
                  <a:txBody>
                    <a:bodyPr/>
                    <a:lstStyle/>
                    <a:p>
                      <a:pPr algn="l"/>
                      <a:r>
                        <a:rPr sz="1550" b="0">
                          <a:solidFill>
                            <a:srgbClr val="111111"/>
                          </a:solidFill>
                          <a:latin typeface="Times New Roman"/>
                        </a:rPr>
                        <a:t>Align + context + gate</a:t>
                      </a:r>
                    </a:p>
                  </a:txBody>
                  <a:tcPr anchor="ctr" marL="127000" marR="76200" marT="25400" marB="25400">
                    <a:noFill/>
                  </a:tcPr>
                </a:tc>
                <a:tc>
                  <a:txBody>
                    <a:bodyPr/>
                    <a:lstStyle/>
                    <a:p>
                      <a:pPr algn="ctr"/>
                      <a:r>
                        <a:rPr sz="1550" b="0">
                          <a:solidFill>
                            <a:srgbClr val="111111"/>
                          </a:solidFill>
                          <a:latin typeface="Times New Roman"/>
                        </a:rPr>
                        <a:t>0.878</a:t>
                      </a:r>
                    </a:p>
                  </a:txBody>
                  <a:tcPr anchor="ctr" marL="127000" marR="76200" marT="25400" marB="25400">
                    <a:noFill/>
                  </a:tcPr>
                </a:tc>
                <a:tc>
                  <a:txBody>
                    <a:bodyPr/>
                    <a:lstStyle/>
                    <a:p>
                      <a:pPr algn="ctr"/>
                      <a:r>
                        <a:rPr sz="1550" b="0">
                          <a:solidFill>
                            <a:srgbClr val="111111"/>
                          </a:solidFill>
                          <a:latin typeface="Times New Roman"/>
                        </a:rPr>
                        <a:t>0.626</a:t>
                      </a:r>
                    </a:p>
                  </a:txBody>
                  <a:tcPr anchor="ctr" marL="127000" marR="76200" marT="25400" marB="25400">
                    <a:noFill/>
                  </a:tcPr>
                </a:tc>
              </a:tr>
              <a:tr h="475488">
                <a:tc>
                  <a:txBody>
                    <a:bodyPr/>
                    <a:lstStyle/>
                    <a:p>
                      <a:pPr algn="l"/>
                      <a:r>
                        <a:rPr sz="1550" b="0">
                          <a:solidFill>
                            <a:srgbClr val="111111"/>
                          </a:solidFill>
                          <a:latin typeface="Times New Roman"/>
                        </a:rPr>
                        <a:t>Context + gate (no alignment)</a:t>
                      </a:r>
                    </a:p>
                  </a:txBody>
                  <a:tcPr anchor="ctr" marL="127000" marR="76200" marT="25400" marB="25400">
                    <a:noFill/>
                  </a:tcPr>
                </a:tc>
                <a:tc>
                  <a:txBody>
                    <a:bodyPr/>
                    <a:lstStyle/>
                    <a:p>
                      <a:pPr algn="ctr"/>
                      <a:r>
                        <a:rPr sz="1550" b="0">
                          <a:solidFill>
                            <a:srgbClr val="111111"/>
                          </a:solidFill>
                          <a:latin typeface="Times New Roman"/>
                        </a:rPr>
                        <a:t>0.827</a:t>
                      </a:r>
                    </a:p>
                  </a:txBody>
                  <a:tcPr anchor="ctr" marL="127000" marR="76200" marT="25400" marB="25400">
                    <a:noFill/>
                  </a:tcPr>
                </a:tc>
                <a:tc>
                  <a:txBody>
                    <a:bodyPr/>
                    <a:lstStyle/>
                    <a:p>
                      <a:pPr algn="ctr"/>
                      <a:r>
                        <a:rPr sz="1550" b="0">
                          <a:solidFill>
                            <a:srgbClr val="111111"/>
                          </a:solidFill>
                          <a:latin typeface="Times New Roman"/>
                        </a:rPr>
                        <a:t>0.792</a:t>
                      </a:r>
                    </a:p>
                  </a:txBody>
                  <a:tcPr anchor="ctr" marL="127000" marR="76200" marT="25400" marB="25400">
                    <a:noFill/>
                  </a:tcPr>
                </a:tc>
              </a:tr>
              <a:tr h="475488">
                <a:tc>
                  <a:txBody>
                    <a:bodyPr/>
                    <a:lstStyle/>
                    <a:p>
                      <a:pPr algn="l"/>
                      <a:r>
                        <a:rPr sz="1550" b="0">
                          <a:solidFill>
                            <a:srgbClr val="111111"/>
                          </a:solidFill>
                          <a:latin typeface="Times New Roman"/>
                        </a:rPr>
                        <a:t>Stem only</a:t>
                      </a:r>
                    </a:p>
                  </a:txBody>
                  <a:tcPr anchor="ctr" marL="127000" marR="76200" marT="25400" marB="25400">
                    <a:noFill/>
                  </a:tcPr>
                </a:tc>
                <a:tc>
                  <a:txBody>
                    <a:bodyPr/>
                    <a:lstStyle/>
                    <a:p>
                      <a:pPr algn="ctr"/>
                      <a:r>
                        <a:rPr sz="1550" b="0">
                          <a:solidFill>
                            <a:srgbClr val="111111"/>
                          </a:solidFill>
                          <a:latin typeface="Times New Roman"/>
                        </a:rPr>
                        <a:t>0.827</a:t>
                      </a:r>
                    </a:p>
                  </a:txBody>
                  <a:tcPr anchor="ctr" marL="127000" marR="76200" marT="25400" marB="25400">
                    <a:noFill/>
                  </a:tcPr>
                </a:tc>
                <a:tc>
                  <a:txBody>
                    <a:bodyPr/>
                    <a:lstStyle/>
                    <a:p>
                      <a:pPr algn="ctr"/>
                      <a:r>
                        <a:rPr sz="1550" b="0">
                          <a:solidFill>
                            <a:srgbClr val="111111"/>
                          </a:solidFill>
                          <a:latin typeface="Times New Roman"/>
                        </a:rPr>
                        <a:t>0.737</a:t>
                      </a:r>
                    </a:p>
                  </a:txBody>
                  <a:tcPr anchor="ctr" marL="127000" marR="76200" marT="25400" marB="25400">
                    <a:noFill/>
                  </a:tcPr>
                </a:tc>
              </a:tr>
            </a:tbl>
          </a:graphicData>
        </a:graphic>
      </p:graphicFrame>
      <p:sp>
        <p:nvSpPr>
          <p:cNvPr id="6" name="Rectangle 5"/>
          <p:cNvSpPr/>
          <p:nvPr/>
        </p:nvSpPr>
        <p:spPr>
          <a:xfrm>
            <a:off x="640080" y="1600200"/>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75688"/>
            <a:ext cx="10908792"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977639"/>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160520"/>
            <a:ext cx="10908792" cy="2194560"/>
          </a:xfrm>
          <a:prstGeom prst="rect">
            <a:avLst/>
          </a:prstGeom>
          <a:noFill/>
        </p:spPr>
        <p:txBody>
          <a:bodyPr wrap="square" anchor="t">
            <a:spAutoFit/>
          </a:bodyPr>
          <a:lstStyle/>
          <a:p>
            <a:pPr algn="l">
              <a:lnSpc>
                <a:spcPct val="120000"/>
              </a:lnSpc>
              <a:spcAft>
                <a:spcPts val="1400"/>
              </a:spcAft>
            </a:pPr>
            <a:r>
              <a:rPr sz="1800" b="1" i="0">
                <a:solidFill>
                  <a:srgbClr val="111111"/>
                </a:solidFill>
                <a:latin typeface="Times New Roman"/>
              </a:rPr>
              <a:t>The decoder transfers. </a:t>
            </a:r>
            <a:r>
              <a:rPr sz="1800" b="0" i="0">
                <a:solidFill>
                  <a:srgbClr val="555555"/>
                </a:solidFill>
                <a:latin typeface="Times New Roman"/>
              </a:rPr>
              <a:t>Without alignment it reaches 0.792 on an independent laboratory's data, with different sensors and reversed class balance.</a:t>
            </a:r>
          </a:p>
          <a:p>
            <a:pPr algn="l">
              <a:lnSpc>
                <a:spcPct val="120000"/>
              </a:lnSpc>
              <a:spcAft>
                <a:spcPts val="800"/>
              </a:spcAft>
            </a:pPr>
            <a:r>
              <a:rPr sz="1800" b="1" i="0">
                <a:solidFill>
                  <a:srgbClr val="111111"/>
                </a:solidFill>
                <a:latin typeface="Times New Roman"/>
              </a:rPr>
              <a:t>The alignment layer inverts. </a:t>
            </a:r>
            <a:r>
              <a:rPr sz="1800" b="0" i="0">
                <a:solidFill>
                  <a:srgbClr val="555555"/>
                </a:solidFill>
                <a:latin typeface="Times New Roman"/>
              </a:rPr>
              <a:t>It adds 0.074 on cohort A and costs 0.211 on cohort 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The Estimator Tracks the Streaming Class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rate.png"/>
          <p:cNvPicPr>
            <a:picLocks noChangeAspect="1"/>
          </p:cNvPicPr>
          <p:nvPr/>
        </p:nvPicPr>
        <p:blipFill>
          <a:blip r:embed="rId2"/>
          <a:stretch>
            <a:fillRect/>
          </a:stretch>
        </p:blipFill>
        <p:spPr>
          <a:xfrm>
            <a:off x="1432407" y="1417320"/>
            <a:ext cx="9326880" cy="3904087"/>
          </a:xfrm>
          <a:prstGeom prst="rect">
            <a:avLst/>
          </a:prstGeom>
        </p:spPr>
      </p:pic>
      <p:sp>
        <p:nvSpPr>
          <p:cNvPr id="6" name="TextBox 5"/>
          <p:cNvSpPr txBox="1"/>
          <p:nvPr/>
        </p:nvSpPr>
        <p:spPr>
          <a:xfrm>
            <a:off x="640080" y="5394960"/>
            <a:ext cx="10908792" cy="1097280"/>
          </a:xfrm>
          <a:prstGeom prst="rect">
            <a:avLst/>
          </a:prstGeom>
          <a:noFill/>
        </p:spPr>
        <p:txBody>
          <a:bodyPr wrap="square" anchor="t">
            <a:spAutoFit/>
          </a:bodyPr>
          <a:lstStyle/>
          <a:p>
            <a:pPr algn="l">
              <a:lnSpc>
                <a:spcPct val="122000"/>
              </a:lnSpc>
              <a:spcAft>
                <a:spcPts val="800"/>
              </a:spcAft>
            </a:pPr>
            <a:r>
              <a:rPr sz="1700" b="0" i="0">
                <a:solidFill>
                  <a:srgbClr val="555555"/>
                </a:solidFill>
                <a:latin typeface="Times New Roman"/>
              </a:rPr>
              <a:t>Cohort B presents each class in blocks of 309 windows, </a:t>
            </a:r>
            <a:r>
              <a:rPr sz="1700" b="1" i="0">
                <a:solidFill>
                  <a:srgbClr val="111111"/>
                </a:solidFill>
                <a:latin typeface="Times New Roman"/>
              </a:rPr>
              <a:t>longer than the estimator's 160-window memory. </a:t>
            </a:r>
            <a:r>
              <a:rPr sz="1700" b="0" i="0">
                <a:solidFill>
                  <a:srgbClr val="555555"/>
                </a:solidFill>
                <a:latin typeface="Times New Roman"/>
              </a:rPr>
              <a:t>The estimate converges to the current class and whitens away the difference between classes. Slowing adaptation recovers 0.090 to 0.098 on every arm that uses alignment and exactly 0.000 on the arms that do not.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The Admissible Rate Band</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11680" y="1600200"/>
            <a:ext cx="8165592" cy="1143000"/>
          </a:xfrm>
          <a:prstGeom prst="rect">
            <a:avLst/>
          </a:prstGeom>
          <a:solidFill>
            <a:srgbClr val="FFFFFF"/>
          </a:solidFill>
          <a:ln w="1905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10000"/>
              </a:lnSpc>
              <a:spcAft>
                <a:spcPts val="800"/>
              </a:spcAft>
            </a:pPr>
            <a:r>
              <a:rPr sz="3400" b="1" i="0">
                <a:solidFill>
                  <a:srgbClr val="111111"/>
                </a:solidFill>
                <a:latin typeface="Times New Roman"/>
              </a:rPr>
              <a:t>τ_block   &lt;   μ   &lt;   τ_drift</a:t>
            </a:r>
          </a:p>
        </p:txBody>
      </p:sp>
      <p:sp>
        <p:nvSpPr>
          <p:cNvPr id="6" name="TextBox 5"/>
          <p:cNvSpPr txBox="1"/>
          <p:nvPr/>
        </p:nvSpPr>
        <p:spPr>
          <a:xfrm>
            <a:off x="640080" y="3017520"/>
            <a:ext cx="10908792" cy="3474720"/>
          </a:xfrm>
          <a:prstGeom prst="rect">
            <a:avLst/>
          </a:prstGeom>
          <a:noFill/>
        </p:spPr>
        <p:txBody>
          <a:bodyPr wrap="square" anchor="t">
            <a:spAutoFit/>
          </a:bodyPr>
          <a:lstStyle/>
          <a:p>
            <a:pPr algn="l">
              <a:lnSpc>
                <a:spcPct val="120000"/>
              </a:lnSpc>
              <a:spcAft>
                <a:spcPts val="1200"/>
              </a:spcAft>
            </a:pPr>
            <a:r>
              <a:rPr sz="1800" b="1" i="0">
                <a:solidFill>
                  <a:srgbClr val="111111"/>
                </a:solidFill>
                <a:latin typeface="Times New Roman"/>
              </a:rPr>
              <a:t>Lower bound. </a:t>
            </a:r>
            <a:r>
              <a:rPr sz="1800" b="0" i="0">
                <a:solidFill>
                  <a:srgbClr val="555555"/>
                </a:solidFill>
                <a:latin typeface="Times New Roman"/>
              </a:rPr>
              <a:t>The estimator's memory must outlast a class block, or it tracks the class.</a:t>
            </a:r>
          </a:p>
          <a:p>
            <a:pPr algn="l">
              <a:lnSpc>
                <a:spcPct val="120000"/>
              </a:lnSpc>
              <a:spcAft>
                <a:spcPts val="1200"/>
              </a:spcAft>
            </a:pPr>
            <a:r>
              <a:rPr sz="1800" b="1" i="0">
                <a:solidFill>
                  <a:srgbClr val="111111"/>
                </a:solidFill>
                <a:latin typeface="Times New Roman"/>
              </a:rPr>
              <a:t>Upper bound. </a:t>
            </a:r>
            <a:r>
              <a:rPr sz="1800" b="0" i="0">
                <a:solidFill>
                  <a:srgbClr val="555555"/>
                </a:solidFill>
                <a:latin typeface="Times New Roman"/>
              </a:rPr>
              <a:t>It must adapt faster than the session drifts, or it has nothing to correct.</a:t>
            </a:r>
          </a:p>
          <a:p>
            <a:pPr algn="l">
              <a:lnSpc>
                <a:spcPct val="120000"/>
              </a:lnSpc>
              <a:spcAft>
                <a:spcPts val="1200"/>
              </a:spcAft>
            </a:pPr>
            <a:r>
              <a:rPr sz="1800" b="1" i="0">
                <a:solidFill>
                  <a:srgbClr val="111111"/>
                </a:solidFill>
                <a:latin typeface="Times New Roman"/>
              </a:rPr>
              <a:t>One model, one switch. </a:t>
            </a:r>
            <a:r>
              <a:rPr sz="1800" b="0" i="0">
                <a:solidFill>
                  <a:srgbClr val="555555"/>
                </a:solidFill>
                <a:latin typeface="Times New Roman"/>
              </a:rPr>
              <a:t>Cohort A (18 &lt; 160) enables alignment and reaches 0.901. Cohort B (309 &gt; 160) disables it and reaches 0.792. Both bounds come from the recording protocol, before any training.</a:t>
            </a:r>
          </a:p>
          <a:p>
            <a:pPr algn="l">
              <a:lnSpc>
                <a:spcPct val="120000"/>
              </a:lnSpc>
              <a:spcAft>
                <a:spcPts val="800"/>
              </a:spcAft>
            </a:pPr>
            <a:r>
              <a:rPr sz="1500" b="0" i="1">
                <a:solidFill>
                  <a:srgbClr val="555555"/>
                </a:solidFill>
                <a:latin typeface="Times New Roman"/>
              </a:rPr>
              <a:t>A learned gate cannot find this switch itself. The failure appears only at test time, so no training gradient contains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A Prediction Registered in Advance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908792" cy="1188720"/>
          </a:xfrm>
          <a:prstGeom prst="rect">
            <a:avLst/>
          </a:prstGeom>
          <a:noFill/>
        </p:spPr>
        <p:txBody>
          <a:bodyPr wrap="square" anchor="t">
            <a:spAutoFit/>
          </a:bodyPr>
          <a:lstStyle/>
          <a:p>
            <a:pPr algn="l">
              <a:lnSpc>
                <a:spcPct val="122000"/>
              </a:lnSpc>
              <a:spcAft>
                <a:spcPts val="800"/>
              </a:spcAft>
            </a:pPr>
            <a:r>
              <a:rPr sz="1700" b="1" i="0">
                <a:solidFill>
                  <a:srgbClr val="111111"/>
                </a:solidFill>
                <a:latin typeface="Times New Roman"/>
              </a:rPr>
              <a:t>Cohort C, PhysioNet EEGMMIDB. </a:t>
            </a:r>
            <a:r>
              <a:rPr sz="1700" b="0" i="0">
                <a:solidFill>
                  <a:srgbClr val="555555"/>
                </a:solidFill>
                <a:latin typeface="Times New Roman"/>
              </a:rPr>
              <a:t>Class blocks of 5 windows, far inside the 160-window memory. The prediction and its thresholds were committed to version control before any model was trained on this cohort.</a:t>
            </a:r>
          </a:p>
        </p:txBody>
      </p:sp>
      <p:graphicFrame>
        <p:nvGraphicFramePr>
          <p:cNvPr id="6" name="Table 5"/>
          <p:cNvGraphicFramePr>
            <a:graphicFrameLocks noGrp="1"/>
          </p:cNvGraphicFramePr>
          <p:nvPr/>
        </p:nvGraphicFramePr>
        <p:xfrm>
          <a:off x="640080" y="2880360"/>
          <a:ext cx="10908792" cy="1499616"/>
        </p:xfrm>
        <a:graphic>
          <a:graphicData uri="http://schemas.openxmlformats.org/drawingml/2006/table">
            <a:tbl>
              <a:tblPr firstRow="0" bandRow="0">
                <a:tableStyleId>{2D5ABB26-0587-4C30-8999-92F81FD0307C}</a:tableStyleId>
              </a:tblPr>
              <a:tblGrid>
                <a:gridCol w="3776472"/>
                <a:gridCol w="3108960"/>
                <a:gridCol w="2011680"/>
                <a:gridCol w="2011680"/>
              </a:tblGrid>
              <a:tr h="475488">
                <a:tc>
                  <a:txBody>
                    <a:bodyPr/>
                    <a:lstStyle/>
                    <a:p>
                      <a:pPr algn="l"/>
                      <a:r>
                        <a:rPr sz="1600" b="1">
                          <a:solidFill>
                            <a:srgbClr val="111111"/>
                          </a:solidFill>
                          <a:latin typeface="Times New Roman"/>
                        </a:rPr>
                        <a:t>Prediction</a:t>
                      </a:r>
                    </a:p>
                  </a:txBody>
                  <a:tcPr anchor="ctr" marL="127000" marR="76200" marT="25400" marB="25400">
                    <a:noFill/>
                  </a:tcPr>
                </a:tc>
                <a:tc>
                  <a:txBody>
                    <a:bodyPr/>
                    <a:lstStyle/>
                    <a:p>
                      <a:pPr algn="ctr"/>
                      <a:r>
                        <a:rPr sz="1600" b="1">
                          <a:solidFill>
                            <a:srgbClr val="111111"/>
                          </a:solidFill>
                          <a:latin typeface="Times New Roman"/>
                        </a:rPr>
                        <a:t>Rule</a:t>
                      </a:r>
                    </a:p>
                  </a:txBody>
                  <a:tcPr anchor="ctr" marL="127000" marR="76200" marT="25400" marB="25400">
                    <a:noFill/>
                  </a:tcPr>
                </a:tc>
                <a:tc>
                  <a:txBody>
                    <a:bodyPr/>
                    <a:lstStyle/>
                    <a:p>
                      <a:pPr algn="ctr"/>
                      <a:r>
                        <a:rPr sz="1600" b="1">
                          <a:solidFill>
                            <a:srgbClr val="111111"/>
                          </a:solidFill>
                          <a:latin typeface="Times New Roman"/>
                        </a:rPr>
                        <a:t>Observed</a:t>
                      </a:r>
                    </a:p>
                  </a:txBody>
                  <a:tcPr anchor="ctr" marL="127000" marR="76200" marT="25400" marB="25400">
                    <a:noFill/>
                  </a:tcPr>
                </a:tc>
                <a:tc>
                  <a:txBody>
                    <a:bodyPr/>
                    <a:lstStyle/>
                    <a:p>
                      <a:pPr algn="ctr"/>
                      <a:r>
                        <a:rPr sz="1600" b="1">
                          <a:solidFill>
                            <a:srgbClr val="111111"/>
                          </a:solidFill>
                          <a:latin typeface="Times New Roman"/>
                        </a:rPr>
                        <a:t>Verdict</a:t>
                      </a:r>
                    </a:p>
                  </a:txBody>
                  <a:tcPr anchor="ctr" marL="127000" marR="76200" marT="25400" marB="25400">
                    <a:noFill/>
                  </a:tcPr>
                </a:tc>
              </a:tr>
              <a:tr h="512064">
                <a:tc>
                  <a:txBody>
                    <a:bodyPr/>
                    <a:lstStyle/>
                    <a:p>
                      <a:pPr algn="l"/>
                      <a:r>
                        <a:rPr sz="1550" b="0">
                          <a:solidFill>
                            <a:srgbClr val="111111"/>
                          </a:solidFill>
                          <a:latin typeface="Times New Roman"/>
                        </a:rPr>
                        <a:t>P1  Alignment costs little</a:t>
                      </a:r>
                    </a:p>
                  </a:txBody>
                  <a:tcPr anchor="ctr" marL="127000" marR="76200" marT="25400" marB="25400">
                    <a:noFill/>
                  </a:tcPr>
                </a:tc>
                <a:tc>
                  <a:txBody>
                    <a:bodyPr/>
                    <a:lstStyle/>
                    <a:p>
                      <a:pPr algn="ctr"/>
                      <a:r>
                        <a:rPr sz="1550" b="0">
                          <a:solidFill>
                            <a:srgbClr val="111111"/>
                          </a:solidFill>
                          <a:latin typeface="Times New Roman"/>
                        </a:rPr>
                        <a:t>mean difference &gt; −0.05</a:t>
                      </a:r>
                    </a:p>
                  </a:txBody>
                  <a:tcPr anchor="ctr" marL="127000" marR="76200" marT="25400" marB="25400">
                    <a:noFill/>
                  </a:tcPr>
                </a:tc>
                <a:tc>
                  <a:txBody>
                    <a:bodyPr/>
                    <a:lstStyle/>
                    <a:p>
                      <a:pPr algn="ctr"/>
                      <a:r>
                        <a:rPr sz="1550" b="0">
                          <a:solidFill>
                            <a:srgbClr val="111111"/>
                          </a:solidFill>
                          <a:latin typeface="Times New Roman"/>
                        </a:rPr>
                        <a:t>+0.002</a:t>
                      </a:r>
                    </a:p>
                  </a:txBody>
                  <a:tcPr anchor="ctr" marL="127000" marR="76200" marT="25400" marB="25400">
                    <a:noFill/>
                  </a:tcPr>
                </a:tc>
                <a:tc>
                  <a:txBody>
                    <a:bodyPr/>
                    <a:lstStyle/>
                    <a:p>
                      <a:pPr algn="ctr"/>
                      <a:r>
                        <a:rPr sz="1550" b="0">
                          <a:solidFill>
                            <a:srgbClr val="111111"/>
                          </a:solidFill>
                          <a:latin typeface="Times New Roman"/>
                        </a:rPr>
                        <a:t>Confirmed</a:t>
                      </a:r>
                    </a:p>
                  </a:txBody>
                  <a:tcPr anchor="ctr" marL="127000" marR="76200" marT="25400" marB="25400">
                    <a:noFill/>
                  </a:tcPr>
                </a:tc>
              </a:tr>
              <a:tr h="512064">
                <a:tc>
                  <a:txBody>
                    <a:bodyPr/>
                    <a:lstStyle/>
                    <a:p>
                      <a:pPr algn="l"/>
                      <a:r>
                        <a:rPr sz="1550" b="0">
                          <a:solidFill>
                            <a:srgbClr val="111111"/>
                          </a:solidFill>
                          <a:latin typeface="Times New Roman"/>
                        </a:rPr>
                        <a:t>P2  Slowing does not help</a:t>
                      </a:r>
                    </a:p>
                  </a:txBody>
                  <a:tcPr anchor="ctr" marL="127000" marR="76200" marT="25400" marB="25400">
                    <a:noFill/>
                  </a:tcPr>
                </a:tc>
                <a:tc>
                  <a:txBody>
                    <a:bodyPr/>
                    <a:lstStyle/>
                    <a:p>
                      <a:pPr algn="ctr"/>
                      <a:r>
                        <a:rPr sz="1550" b="0">
                          <a:solidFill>
                            <a:srgbClr val="111111"/>
                          </a:solidFill>
                          <a:latin typeface="Times New Roman"/>
                        </a:rPr>
                        <a:t>mean difference &lt; +0.05</a:t>
                      </a:r>
                    </a:p>
                  </a:txBody>
                  <a:tcPr anchor="ctr" marL="127000" marR="76200" marT="25400" marB="25400">
                    <a:noFill/>
                  </a:tcPr>
                </a:tc>
                <a:tc>
                  <a:txBody>
                    <a:bodyPr/>
                    <a:lstStyle/>
                    <a:p>
                      <a:pPr algn="ctr"/>
                      <a:r>
                        <a:rPr sz="1550" b="0">
                          <a:solidFill>
                            <a:srgbClr val="111111"/>
                          </a:solidFill>
                          <a:latin typeface="Times New Roman"/>
                        </a:rPr>
                        <a:t>−0.006</a:t>
                      </a:r>
                    </a:p>
                  </a:txBody>
                  <a:tcPr anchor="ctr" marL="127000" marR="76200" marT="25400" marB="25400">
                    <a:noFill/>
                  </a:tcPr>
                </a:tc>
                <a:tc>
                  <a:txBody>
                    <a:bodyPr/>
                    <a:lstStyle/>
                    <a:p>
                      <a:pPr algn="ctr"/>
                      <a:r>
                        <a:rPr sz="1550" b="0">
                          <a:solidFill>
                            <a:srgbClr val="111111"/>
                          </a:solidFill>
                          <a:latin typeface="Times New Roman"/>
                        </a:rPr>
                        <a:t>Confirmed</a:t>
                      </a:r>
                    </a:p>
                  </a:txBody>
                  <a:tcPr anchor="ctr" marL="127000" marR="76200" marT="25400" marB="25400">
                    <a:noFill/>
                  </a:tcPr>
                </a:tc>
              </a:tr>
            </a:tbl>
          </a:graphicData>
        </a:graphic>
      </p:graphicFrame>
      <p:sp>
        <p:nvSpPr>
          <p:cNvPr id="7" name="Rectangle 6"/>
          <p:cNvSpPr/>
          <p:nvPr/>
        </p:nvSpPr>
        <p:spPr>
          <a:xfrm>
            <a:off x="640080" y="2880360"/>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355848"/>
            <a:ext cx="10908792"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379976"/>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617720"/>
            <a:ext cx="10908792" cy="1828800"/>
          </a:xfrm>
          <a:prstGeom prst="rect">
            <a:avLst/>
          </a:prstGeom>
          <a:noFill/>
        </p:spPr>
        <p:txBody>
          <a:bodyPr wrap="square" anchor="t">
            <a:spAutoFit/>
          </a:bodyPr>
          <a:lstStyle/>
          <a:p>
            <a:pPr algn="l">
              <a:lnSpc>
                <a:spcPct val="122000"/>
              </a:lnSpc>
              <a:spcAft>
                <a:spcPts val="1200"/>
              </a:spcAft>
            </a:pPr>
            <a:r>
              <a:rPr sz="1700" b="1" i="0">
                <a:solidFill>
                  <a:srgbClr val="111111"/>
                </a:solidFill>
                <a:latin typeface="Times New Roman"/>
              </a:rPr>
              <a:t>Why P2 matters. </a:t>
            </a:r>
            <a:r>
              <a:rPr sz="1700" b="0" i="0">
                <a:solidFill>
                  <a:srgbClr val="555555"/>
                </a:solidFill>
                <a:latin typeface="Times New Roman"/>
              </a:rPr>
              <a:t>On cohort B, slowing adaptation recovered 0.090. The condition predicts the same intervention does nothing here, because there is no class tracking to stop.</a:t>
            </a:r>
          </a:p>
          <a:p>
            <a:pPr algn="l">
              <a:lnSpc>
                <a:spcPct val="120000"/>
              </a:lnSpc>
              <a:spcAft>
                <a:spcPts val="800"/>
              </a:spcAft>
            </a:pPr>
            <a:r>
              <a:rPr sz="1400" b="0" i="1">
                <a:solidFill>
                  <a:srgbClr val="555555"/>
                </a:solidFill>
                <a:latin typeface="Times New Roman"/>
              </a:rPr>
              <a:t>Paired over 20 participants. Direction counts and Wilcoxon tests are reported but do not change the verdict.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Results Reported as Negative</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691640"/>
            <a:ext cx="3602736" cy="30632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28600"/>
          <a:lstStyle/>
          <a:p>
            <a:pPr algn="l">
              <a:lnSpc>
                <a:spcPct val="105000"/>
              </a:lnSpc>
              <a:spcAft>
                <a:spcPts val="1200"/>
              </a:spcAft>
            </a:pPr>
            <a:r>
              <a:rPr sz="2000" b="1" i="0">
                <a:solidFill>
                  <a:srgbClr val="111111"/>
                </a:solidFill>
                <a:latin typeface="Times New Roman"/>
              </a:rPr>
              <a:t>The selective head</a:t>
            </a:r>
          </a:p>
          <a:p>
            <a:pPr algn="l">
              <a:lnSpc>
                <a:spcPct val="125000"/>
              </a:lnSpc>
              <a:spcAft>
                <a:spcPts val="800"/>
              </a:spcAft>
            </a:pPr>
            <a:r>
              <a:rPr sz="1600" b="0" i="0">
                <a:solidFill>
                  <a:srgbClr val="555555"/>
                </a:solidFill>
                <a:latin typeface="Times New Roman"/>
              </a:rPr>
              <a:t>Declining uncertain windows lowers accuracy in 14 of 18 arms. It adds no accuracy either: alignment alone reaches 0.883, with the head 0.884.</a:t>
            </a:r>
          </a:p>
        </p:txBody>
      </p:sp>
      <p:sp>
        <p:nvSpPr>
          <p:cNvPr id="6" name="Rectangle 5"/>
          <p:cNvSpPr/>
          <p:nvPr/>
        </p:nvSpPr>
        <p:spPr>
          <a:xfrm>
            <a:off x="4384548" y="1691640"/>
            <a:ext cx="3602736" cy="30632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28600"/>
          <a:lstStyle/>
          <a:p>
            <a:pPr algn="l">
              <a:lnSpc>
                <a:spcPct val="105000"/>
              </a:lnSpc>
              <a:spcAft>
                <a:spcPts val="1200"/>
              </a:spcAft>
            </a:pPr>
            <a:r>
              <a:rPr sz="2000" b="1" i="0">
                <a:solidFill>
                  <a:srgbClr val="111111"/>
                </a:solidFill>
                <a:latin typeface="Times New Roman"/>
              </a:rPr>
              <a:t>The no-op control</a:t>
            </a:r>
          </a:p>
          <a:p>
            <a:pPr algn="l">
              <a:lnSpc>
                <a:spcPct val="125000"/>
              </a:lnSpc>
              <a:spcAft>
                <a:spcPts val="800"/>
              </a:spcAft>
            </a:pPr>
            <a:r>
              <a:rPr sz="1600" b="0" i="0">
                <a:solidFill>
                  <a:srgbClr val="555555"/>
                </a:solidFill>
                <a:latin typeface="Times New Roman"/>
              </a:rPr>
              <a:t>It is not inert. It moves distance by −28.8 % to +45.0 % per participant, because trace normalisation after a fixed map breaks affine invariance.</a:t>
            </a:r>
          </a:p>
        </p:txBody>
      </p:sp>
      <p:sp>
        <p:nvSpPr>
          <p:cNvPr id="7" name="Rectangle 6"/>
          <p:cNvSpPr/>
          <p:nvPr/>
        </p:nvSpPr>
        <p:spPr>
          <a:xfrm>
            <a:off x="8129016" y="1691640"/>
            <a:ext cx="3602736" cy="3063240"/>
          </a:xfrm>
          <a:prstGeom prst="rect">
            <a:avLst/>
          </a:prstGeom>
          <a:solidFill>
            <a:srgbClr val="FFFFFF"/>
          </a:solidFill>
          <a:ln w="12700">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28600"/>
          <a:lstStyle/>
          <a:p>
            <a:pPr algn="l">
              <a:lnSpc>
                <a:spcPct val="105000"/>
              </a:lnSpc>
              <a:spcAft>
                <a:spcPts val="1200"/>
              </a:spcAft>
            </a:pPr>
            <a:r>
              <a:rPr sz="2000" b="1" i="0">
                <a:solidFill>
                  <a:srgbClr val="111111"/>
                </a:solidFill>
                <a:latin typeface="Times New Roman"/>
              </a:rPr>
              <a:t>Temporal smoothing</a:t>
            </a:r>
          </a:p>
          <a:p>
            <a:pPr algn="l">
              <a:lnSpc>
                <a:spcPct val="125000"/>
              </a:lnSpc>
              <a:spcAft>
                <a:spcPts val="800"/>
              </a:spcAft>
            </a:pPr>
            <a:r>
              <a:rPr sz="1600" b="0" i="0">
                <a:solidFill>
                  <a:srgbClr val="555555"/>
                </a:solidFill>
                <a:latin typeface="Times New Roman"/>
              </a:rPr>
              <a:t>Its gains are consistent in sign, 6 of 7 participants, but do not survive Holm correction at n = 7. Only the shuffled control does.</a:t>
            </a:r>
          </a:p>
        </p:txBody>
      </p:sp>
      <p:sp>
        <p:nvSpPr>
          <p:cNvPr id="8" name="TextBox 7"/>
          <p:cNvSpPr txBox="1"/>
          <p:nvPr/>
        </p:nvSpPr>
        <p:spPr>
          <a:xfrm>
            <a:off x="640080" y="4983480"/>
            <a:ext cx="10908792" cy="731520"/>
          </a:xfrm>
          <a:prstGeom prst="rect">
            <a:avLst/>
          </a:prstGeom>
          <a:noFill/>
        </p:spPr>
        <p:txBody>
          <a:bodyPr wrap="square" anchor="t">
            <a:spAutoFit/>
          </a:bodyPr>
          <a:lstStyle/>
          <a:p>
            <a:pPr algn="l">
              <a:lnSpc>
                <a:spcPct val="110000"/>
              </a:lnSpc>
              <a:spcAft>
                <a:spcPts val="800"/>
              </a:spcAft>
            </a:pPr>
            <a:r>
              <a:rPr sz="1500" b="0" i="1">
                <a:solidFill>
                  <a:srgbClr val="555555"/>
                </a:solidFill>
                <a:latin typeface="Times New Roman"/>
              </a:rPr>
              <a:t>Calibration (ECE 0.039) is a separate result and stands.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Limitations and Next Steps</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5349240" cy="4937760"/>
          </a:xfrm>
          <a:prstGeom prst="rect">
            <a:avLst/>
          </a:prstGeom>
          <a:noFill/>
        </p:spPr>
        <p:txBody>
          <a:bodyPr wrap="square" anchor="t">
            <a:spAutoFit/>
          </a:bodyPr>
          <a:lstStyle/>
          <a:p>
            <a:pPr algn="l">
              <a:lnSpc>
                <a:spcPct val="110000"/>
              </a:lnSpc>
              <a:spcAft>
                <a:spcPts val="1200"/>
              </a:spcAft>
            </a:pPr>
            <a:r>
              <a:rPr sz="1900" b="1" i="0">
                <a:solidFill>
                  <a:srgbClr val="111111"/>
                </a:solidFill>
                <a:latin typeface="Times New Roman"/>
              </a:rPr>
              <a:t>Limitations</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Headline ablation is a single seed.</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Condition 1 was formulated after cohort B; cohort C is its first advance test.</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No published decoder has been run on cohort B.</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The leakage probe cannot register artefact constant within a class.</a:t>
            </a:r>
          </a:p>
        </p:txBody>
      </p:sp>
      <p:sp>
        <p:nvSpPr>
          <p:cNvPr id="6" name="TextBox 5"/>
          <p:cNvSpPr txBox="1"/>
          <p:nvPr/>
        </p:nvSpPr>
        <p:spPr>
          <a:xfrm>
            <a:off x="6217920" y="1463040"/>
            <a:ext cx="5349240" cy="4937760"/>
          </a:xfrm>
          <a:prstGeom prst="rect">
            <a:avLst/>
          </a:prstGeom>
          <a:noFill/>
        </p:spPr>
        <p:txBody>
          <a:bodyPr wrap="square" anchor="t">
            <a:spAutoFit/>
          </a:bodyPr>
          <a:lstStyle/>
          <a:p>
            <a:pPr algn="l">
              <a:lnSpc>
                <a:spcPct val="110000"/>
              </a:lnSpc>
              <a:spcAft>
                <a:spcPts val="1200"/>
              </a:spcAft>
            </a:pPr>
            <a:r>
              <a:rPr sz="1900" b="1" i="0">
                <a:solidFill>
                  <a:srgbClr val="111111"/>
                </a:solidFill>
                <a:latin typeface="Times New Roman"/>
              </a:rPr>
              <a:t>Next</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Multi-seed headline, about 47 GPU hours.</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A cohort whose blocks outlast drift, to test the empty band.</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Published baselines on cohort B.</a:t>
            </a:r>
          </a:p>
          <a:p>
            <a:pPr algn="l">
              <a:lnSpc>
                <a:spcPct val="120000"/>
              </a:lnSpc>
              <a:spcAft>
                <a:spcPts val="1000"/>
              </a:spcAft>
            </a:pPr>
            <a:r>
              <a:rPr sz="1600" b="1" i="0">
                <a:solidFill>
                  <a:srgbClr val="111111"/>
                </a:solidFill>
                <a:latin typeface="Times New Roman"/>
              </a:rPr>
              <a:t>•  </a:t>
            </a:r>
            <a:r>
              <a:rPr sz="1600" b="0" i="0">
                <a:solidFill>
                  <a:srgbClr val="555555"/>
                </a:solidFill>
                <a:latin typeface="Times New Roman"/>
              </a:rPr>
              <a:t>Measure the drift timescale directly, without a decoder.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777240"/>
          </a:xfrm>
          <a:prstGeom prst="rect">
            <a:avLst/>
          </a:prstGeom>
          <a:noFill/>
        </p:spPr>
        <p:txBody>
          <a:bodyPr wrap="square" anchor="t">
            <a:spAutoFit/>
          </a:bodyPr>
          <a:lstStyle/>
          <a:p>
            <a:pPr algn="l">
              <a:lnSpc>
                <a:spcPct val="100000"/>
              </a:lnSpc>
              <a:spcAft>
                <a:spcPts val="800"/>
              </a:spcAft>
            </a:pPr>
            <a:r>
              <a:rPr sz="3000" b="1" i="0">
                <a:solidFill>
                  <a:srgbClr val="111111"/>
                </a:solidFill>
                <a:latin typeface="Times New Roman"/>
              </a:rPr>
              <a:t>Methods Corrected Since Submission</a:t>
            </a:r>
          </a:p>
        </p:txBody>
      </p:sp>
      <p:sp>
        <p:nvSpPr>
          <p:cNvPr id="4" name="Rectangle 3"/>
          <p:cNvSpPr/>
          <p:nvPr/>
        </p:nvSpPr>
        <p:spPr>
          <a:xfrm>
            <a:off x="640080" y="1207008"/>
            <a:ext cx="10908792" cy="177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908792" cy="2852928"/>
        </p:xfrm>
        <a:graphic>
          <a:graphicData uri="http://schemas.openxmlformats.org/drawingml/2006/table">
            <a:tbl>
              <a:tblPr firstRow="0" bandRow="0">
                <a:tableStyleId>{2D5ABB26-0587-4C30-8999-92F81FD0307C}</a:tableStyleId>
              </a:tblPr>
              <a:tblGrid>
                <a:gridCol w="2651760"/>
                <a:gridCol w="3291840"/>
                <a:gridCol w="4965192"/>
              </a:tblGrid>
              <a:tr h="475488">
                <a:tc>
                  <a:txBody>
                    <a:bodyPr/>
                    <a:lstStyle/>
                    <a:p>
                      <a:pPr algn="l"/>
                      <a:r>
                        <a:rPr sz="1500" b="1">
                          <a:solidFill>
                            <a:srgbClr val="111111"/>
                          </a:solidFill>
                          <a:latin typeface="Times New Roman"/>
                        </a:rPr>
                        <a:t>Setting</a:t>
                      </a:r>
                    </a:p>
                  </a:txBody>
                  <a:tcPr anchor="ctr" marL="127000" marR="76200" marT="25400" marB="25400">
                    <a:noFill/>
                  </a:tcPr>
                </a:tc>
                <a:tc>
                  <a:txBody>
                    <a:bodyPr/>
                    <a:lstStyle/>
                    <a:p>
                      <a:pPr algn="ctr"/>
                      <a:r>
                        <a:rPr sz="1500" b="1">
                          <a:solidFill>
                            <a:srgbClr val="111111"/>
                          </a:solidFill>
                          <a:latin typeface="Times New Roman"/>
                        </a:rPr>
                        <a:t>Submitted</a:t>
                      </a:r>
                    </a:p>
                  </a:txBody>
                  <a:tcPr anchor="ctr" marL="127000" marR="76200" marT="25400" marB="25400">
                    <a:noFill/>
                  </a:tcPr>
                </a:tc>
                <a:tc>
                  <a:txBody>
                    <a:bodyPr/>
                    <a:lstStyle/>
                    <a:p>
                      <a:pPr algn="ctr"/>
                      <a:r>
                        <a:rPr sz="1500" b="1">
                          <a:solidFill>
                            <a:srgbClr val="111111"/>
                          </a:solidFill>
                          <a:latin typeface="Times New Roman"/>
                        </a:rPr>
                        <a:t>Corrected to match the code</a:t>
                      </a:r>
                    </a:p>
                  </a:txBody>
                  <a:tcPr anchor="ctr" marL="127000" marR="76200" marT="25400" marB="25400">
                    <a:noFill/>
                  </a:tcPr>
                </a:tc>
              </a:tr>
              <a:tr h="475488">
                <a:tc>
                  <a:txBody>
                    <a:bodyPr/>
                    <a:lstStyle/>
                    <a:p>
                      <a:pPr algn="l"/>
                      <a:r>
                        <a:rPr sz="1450" b="0">
                          <a:solidFill>
                            <a:srgbClr val="111111"/>
                          </a:solidFill>
                          <a:latin typeface="Times New Roman"/>
                        </a:rPr>
                        <a:t>Band-pass</a:t>
                      </a:r>
                    </a:p>
                  </a:txBody>
                  <a:tcPr anchor="ctr" marL="127000" marR="76200" marT="25400" marB="25400">
                    <a:noFill/>
                  </a:tcPr>
                </a:tc>
                <a:tc>
                  <a:txBody>
                    <a:bodyPr/>
                    <a:lstStyle/>
                    <a:p>
                      <a:pPr algn="ctr"/>
                      <a:r>
                        <a:rPr sz="1450" b="0">
                          <a:solidFill>
                            <a:srgbClr val="111111"/>
                          </a:solidFill>
                          <a:latin typeface="Times New Roman"/>
                        </a:rPr>
                        <a:t>0.5–40 Hz</a:t>
                      </a:r>
                    </a:p>
                  </a:txBody>
                  <a:tcPr anchor="ctr" marL="127000" marR="76200" marT="25400" marB="25400">
                    <a:noFill/>
                  </a:tcPr>
                </a:tc>
                <a:tc>
                  <a:txBody>
                    <a:bodyPr/>
                    <a:lstStyle/>
                    <a:p>
                      <a:pPr algn="ctr"/>
                      <a:r>
                        <a:rPr sz="1450" b="0">
                          <a:solidFill>
                            <a:srgbClr val="111111"/>
                          </a:solidFill>
                          <a:latin typeface="Times New Roman"/>
                        </a:rPr>
                        <a:t>8–30 Hz, zero-phase</a:t>
                      </a:r>
                    </a:p>
                  </a:txBody>
                  <a:tcPr anchor="ctr" marL="127000" marR="76200" marT="25400" marB="25400">
                    <a:noFill/>
                  </a:tcPr>
                </a:tc>
              </a:tr>
              <a:tr h="475488">
                <a:tc>
                  <a:txBody>
                    <a:bodyPr/>
                    <a:lstStyle/>
                    <a:p>
                      <a:pPr algn="l"/>
                      <a:r>
                        <a:rPr sz="1450" b="0">
                          <a:solidFill>
                            <a:srgbClr val="111111"/>
                          </a:solidFill>
                          <a:latin typeface="Times New Roman"/>
                        </a:rPr>
                        <a:t>Artefact step</a:t>
                      </a:r>
                    </a:p>
                  </a:txBody>
                  <a:tcPr anchor="ctr" marL="127000" marR="76200" marT="25400" marB="25400">
                    <a:noFill/>
                  </a:tcPr>
                </a:tc>
                <a:tc>
                  <a:txBody>
                    <a:bodyPr/>
                    <a:lstStyle/>
                    <a:p>
                      <a:pPr algn="ctr"/>
                      <a:r>
                        <a:rPr sz="1450" b="0">
                          <a:solidFill>
                            <a:srgbClr val="111111"/>
                          </a:solidFill>
                          <a:latin typeface="Times New Roman"/>
                        </a:rPr>
                        <a:t>none</a:t>
                      </a:r>
                    </a:p>
                  </a:txBody>
                  <a:tcPr anchor="ctr" marL="127000" marR="76200" marT="25400" marB="25400">
                    <a:noFill/>
                  </a:tcPr>
                </a:tc>
                <a:tc>
                  <a:txBody>
                    <a:bodyPr/>
                    <a:lstStyle/>
                    <a:p>
                      <a:pPr algn="ctr"/>
                      <a:r>
                        <a:rPr sz="1450" b="0">
                          <a:solidFill>
                            <a:srgbClr val="111111"/>
                          </a:solidFill>
                          <a:latin typeface="Times New Roman"/>
                        </a:rPr>
                        <a:t>EOG regression on cohort A</a:t>
                      </a:r>
                    </a:p>
                  </a:txBody>
                  <a:tcPr anchor="ctr" marL="127000" marR="76200" marT="25400" marB="25400">
                    <a:noFill/>
                  </a:tcPr>
                </a:tc>
              </a:tr>
              <a:tr h="475488">
                <a:tc>
                  <a:txBody>
                    <a:bodyPr/>
                    <a:lstStyle/>
                    <a:p>
                      <a:pPr algn="l"/>
                      <a:r>
                        <a:rPr sz="1450" b="0">
                          <a:solidFill>
                            <a:srgbClr val="111111"/>
                          </a:solidFill>
                          <a:latin typeface="Times New Roman"/>
                        </a:rPr>
                        <a:t>Optimiser</a:t>
                      </a:r>
                    </a:p>
                  </a:txBody>
                  <a:tcPr anchor="ctr" marL="127000" marR="76200" marT="25400" marB="25400">
                    <a:noFill/>
                  </a:tcPr>
                </a:tc>
                <a:tc>
                  <a:txBody>
                    <a:bodyPr/>
                    <a:lstStyle/>
                    <a:p>
                      <a:pPr algn="ctr"/>
                      <a:r>
                        <a:rPr sz="1450" b="0">
                          <a:solidFill>
                            <a:srgbClr val="111111"/>
                          </a:solidFill>
                          <a:latin typeface="Times New Roman"/>
                        </a:rPr>
                        <a:t>Adam, lr 10⁻³</a:t>
                      </a:r>
                    </a:p>
                  </a:txBody>
                  <a:tcPr anchor="ctr" marL="127000" marR="76200" marT="25400" marB="25400">
                    <a:noFill/>
                  </a:tcPr>
                </a:tc>
                <a:tc>
                  <a:txBody>
                    <a:bodyPr/>
                    <a:lstStyle/>
                    <a:p>
                      <a:pPr algn="ctr"/>
                      <a:r>
                        <a:rPr sz="1450" b="0">
                          <a:solidFill>
                            <a:srgbClr val="111111"/>
                          </a:solidFill>
                          <a:latin typeface="Times New Roman"/>
                        </a:rPr>
                        <a:t>AdamW, lr 3×10⁻⁴, wd 10⁻², one-cycle</a:t>
                      </a:r>
                    </a:p>
                  </a:txBody>
                  <a:tcPr anchor="ctr" marL="127000" marR="76200" marT="25400" marB="25400">
                    <a:noFill/>
                  </a:tcPr>
                </a:tc>
              </a:tr>
              <a:tr h="475488">
                <a:tc>
                  <a:txBody>
                    <a:bodyPr/>
                    <a:lstStyle/>
                    <a:p>
                      <a:pPr algn="l"/>
                      <a:r>
                        <a:rPr sz="1450" b="0">
                          <a:solidFill>
                            <a:srgbClr val="111111"/>
                          </a:solidFill>
                          <a:latin typeface="Times New Roman"/>
                        </a:rPr>
                        <a:t>Early stopping</a:t>
                      </a:r>
                    </a:p>
                  </a:txBody>
                  <a:tcPr anchor="ctr" marL="127000" marR="76200" marT="25400" marB="25400">
                    <a:noFill/>
                  </a:tcPr>
                </a:tc>
                <a:tc>
                  <a:txBody>
                    <a:bodyPr/>
                    <a:lstStyle/>
                    <a:p>
                      <a:pPr algn="ctr"/>
                      <a:r>
                        <a:rPr sz="1450" b="0">
                          <a:solidFill>
                            <a:srgbClr val="111111"/>
                          </a:solidFill>
                          <a:latin typeface="Times New Roman"/>
                        </a:rPr>
                        <a:t>not stated</a:t>
                      </a:r>
                    </a:p>
                  </a:txBody>
                  <a:tcPr anchor="ctr" marL="127000" marR="76200" marT="25400" marB="25400">
                    <a:noFill/>
                  </a:tcPr>
                </a:tc>
                <a:tc>
                  <a:txBody>
                    <a:bodyPr/>
                    <a:lstStyle/>
                    <a:p>
                      <a:pPr algn="ctr"/>
                      <a:r>
                        <a:rPr sz="1450" b="0">
                          <a:solidFill>
                            <a:srgbClr val="111111"/>
                          </a:solidFill>
                          <a:latin typeface="Times New Roman"/>
                        </a:rPr>
                        <a:t>patience 12</a:t>
                      </a:r>
                    </a:p>
                  </a:txBody>
                  <a:tcPr anchor="ctr" marL="127000" marR="76200" marT="25400" marB="25400">
                    <a:noFill/>
                  </a:tcPr>
                </a:tc>
              </a:tr>
              <a:tr h="475488">
                <a:tc>
                  <a:txBody>
                    <a:bodyPr/>
                    <a:lstStyle/>
                    <a:p>
                      <a:pPr algn="l"/>
                      <a:r>
                        <a:rPr sz="1450" b="0">
                          <a:solidFill>
                            <a:srgbClr val="111111"/>
                          </a:solidFill>
                          <a:latin typeface="Times New Roman"/>
                        </a:rPr>
                        <a:t>Leakage bound</a:t>
                      </a:r>
                    </a:p>
                  </a:txBody>
                  <a:tcPr anchor="ctr" marL="127000" marR="76200" marT="25400" marB="25400">
                    <a:noFill/>
                  </a:tcPr>
                </a:tc>
                <a:tc>
                  <a:txBody>
                    <a:bodyPr/>
                    <a:lstStyle/>
                    <a:p>
                      <a:pPr algn="ctr"/>
                      <a:r>
                        <a:rPr sz="1450" b="0">
                          <a:solidFill>
                            <a:srgbClr val="111111"/>
                          </a:solidFill>
                          <a:latin typeface="Times New Roman"/>
                        </a:rPr>
                        <a:t>stated for the decoder</a:t>
                      </a:r>
                    </a:p>
                  </a:txBody>
                  <a:tcPr anchor="ctr" marL="127000" marR="76200" marT="25400" marB="25400">
                    <a:noFill/>
                  </a:tcPr>
                </a:tc>
                <a:tc>
                  <a:txBody>
                    <a:bodyPr/>
                    <a:lstStyle/>
                    <a:p>
                      <a:pPr algn="ctr"/>
                      <a:r>
                        <a:rPr sz="1450" b="0">
                          <a:solidFill>
                            <a:srgbClr val="111111"/>
                          </a:solidFill>
                          <a:latin typeface="Times New Roman"/>
                        </a:rPr>
                        <a:t>measured on tangent features</a:t>
                      </a:r>
                    </a:p>
                  </a:txBody>
                  <a:tcPr anchor="ctr" marL="127000" marR="76200" marT="25400" marB="25400">
                    <a:noFill/>
                  </a:tcPr>
                </a:tc>
              </a:tr>
            </a:tbl>
          </a:graphicData>
        </a:graphic>
      </p:graphicFrame>
      <p:sp>
        <p:nvSpPr>
          <p:cNvPr id="6" name="Rectangle 5"/>
          <p:cNvSpPr/>
          <p:nvPr/>
        </p:nvSpPr>
        <p:spPr>
          <a:xfrm>
            <a:off x="640080" y="1600200"/>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75688"/>
            <a:ext cx="10908792" cy="127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453128"/>
            <a:ext cx="10908792" cy="1905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572000"/>
            <a:ext cx="10908792" cy="1645920"/>
          </a:xfrm>
          <a:prstGeom prst="rect">
            <a:avLst/>
          </a:prstGeom>
          <a:noFill/>
        </p:spPr>
        <p:txBody>
          <a:bodyPr wrap="square" anchor="t">
            <a:spAutoFit/>
          </a:bodyPr>
          <a:lstStyle/>
          <a:p>
            <a:pPr algn="l">
              <a:lnSpc>
                <a:spcPct val="125000"/>
              </a:lnSpc>
              <a:spcAft>
                <a:spcPts val="800"/>
              </a:spcAft>
            </a:pPr>
            <a:r>
              <a:rPr sz="1600" b="0" i="1">
                <a:solidFill>
                  <a:srgbClr val="555555"/>
                </a:solidFill>
                <a:latin typeface="Times New Roman"/>
              </a:rPr>
              <a:t>Found while checking the pipeline overnight. None changes a reported number; each would have stopped a reviewer reproducing the work. The true band excludes more artefact than the submitted text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