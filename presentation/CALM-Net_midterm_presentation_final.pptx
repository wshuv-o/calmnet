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Md Wahiduzzaman Suva and Esme Moula Chowdhury Abha, and our supervisor is Dr. Muhammad Hasibur Rashid Chayon.</a:t>
            </a:r>
          </a:p>
          <a:p/>
          <a:p>
            <a:r>
              <a:t>Our project is CALM-Net. Today we present our midterm progress on label-free covariance alignment for longitudinal EEG decoding.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Lower-limb exoskeletons controlled by EEG can help people with spinal cord injury or stroke walk again. EEG is non-invasive, so it requires no surgery.</a:t>
            </a:r>
          </a:p>
          <a:p/>
          <a:p>
            <a:r>
              <a:t>In practice, a decoder is trained once but must keep working across sessions recorded over several weeks. Between sessions, electrode placement and impedance change, and this alters the statistics of the EEG signal that the decoder was trained on.</a:t>
            </a:r>
          </a:p>
          <a:p/>
          <a:p>
            <a:r>
              <a:t>In this work, we propose a compact decoder that adapts to each new session without labels, and we evaluate it on three EEG datasets.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address three challenges.</a:t>
            </a:r>
          </a:p>
          <a:p/>
          <a:p>
            <a:r>
              <a:t>The first is session drift: the signal statistics shift from one session to the next.</a:t>
            </a:r>
          </a:p>
          <a:p/>
          <a:p>
            <a:r>
              <a:t>The second is movement artefact: walking produces motion and muscle activity that can appear in the EEG recording.</a:t>
            </a:r>
          </a:p>
          <a:p/>
          <a:p>
            <a:r>
              <a:t>The third is reliable decisions: exoskeleton control needs consistent accuracy across sessions and well-calibrated confidence.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objective is an adaptive alignment layer that corrects session drift without labels, both during training and at test time.</a:t>
            </a:r>
          </a:p>
          <a:p/>
          <a:p>
            <a:r>
              <a:t>The second is accurate and calibrated decoding, with accuracy comparable to published decoders from a compact model.</a:t>
            </a:r>
          </a:p>
          <a:p/>
          <a:p>
            <a:r>
              <a:t>The third is a design rule, read from the recording protocol, that sets how fast the alignment layer should adapt.</a:t>
            </a:r>
          </a:p>
          <a:p/>
          <a:p>
            <a:r>
              <a:t>Together these answer our research question: can a compact decoder adapt to session drift without labels while remaining accurate and 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reviewed four areas of related work.</a:t>
            </a:r>
          </a:p>
          <a:p/>
          <a:p>
            <a:r>
              <a:t>In exoskeleton BCI, recent work includes the NeuroRex longitudinal dataset, deep-learning control of lower-limb exoskeletons, error-related potentials, and robot-assisted gait.</a:t>
            </a:r>
          </a:p>
          <a:p/>
          <a:p>
            <a:r>
              <a:t>For EEG decoding, EEGNet, ShallowFBCSPNet and EEG Conformer are widely used models.</a:t>
            </a:r>
          </a:p>
          <a:p/>
          <a:p>
            <a:r>
              <a:t>For domain alignment, Euclidean alignment and Riemannian Procrustes analysis align covariance matrices across sessions and subjects.</a:t>
            </a:r>
          </a:p>
          <a:p/>
          <a:p>
            <a:r>
              <a:t>For test-time adaptation, methods such as Tent and NOTE update models on unlabelled test data.</a:t>
            </a:r>
          </a:p>
          <a:p/>
          <a:p>
            <a:r>
              <a:t>The research gap is that existing alignment methods operate offline on complete recordings. Our work places alignment inside the network, adapts it online without labels, and provides a rule for choosing its adaptation 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proposed decoder. The input is 60 channels of EEG in four-second windows at 100 Hz.</a:t>
            </a:r>
          </a:p>
          <a:p/>
          <a:p>
            <a:r>
              <a:t>The first block is adaptive alignment. The layer keeps a running estimate of the covariance matrix M and whitens each window by M to the power of minus one half. A learned gate g combines the aligned and the original signal. The estimate updates without labels, including during inference.</a:t>
            </a:r>
          </a:p>
          <a:p/>
          <a:p>
            <a:r>
              <a:t>The second block is a multi-scale power stem. Temporal convolutions at 64, 128 and 256 milliseconds are followed by depthwise spatial filters, then squaring, pooling and a logarithm, which produces band-power features.</a:t>
            </a:r>
          </a:p>
          <a:p/>
          <a:p>
            <a:r>
              <a:t>An optional context module, a transformer over eight consecutive windows, can use longer temporal context.</a:t>
            </a:r>
          </a:p>
          <a:p/>
          <a:p>
            <a:r>
              <a:t>Finally, the selective head outputs the walk or stop decision with its confidence.</a:t>
            </a:r>
          </a:p>
          <a:p/>
          <a:p>
            <a:r>
              <a:t>The default configuration has 24,181 parameters.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alignment layer maintains an exponential moving average of the spatial covariance of incoming windows.</a:t>
            </a:r>
          </a:p>
          <a:p/>
          <a:p>
            <a:r>
              <a:t>Each window is multiplied by the inverse square root of that estimate before feature extraction, which removes session-level differences in the covariance.</a:t>
            </a:r>
          </a:p>
          <a:p/>
          <a:p>
            <a:r>
              <a:t>Because the update needs no labels, the estimate keeps adapting when a new session begins.</a:t>
            </a:r>
          </a:p>
          <a:p/>
          <a:p>
            <a:r>
              <a:t>The adaptation rate sets how many windows the estimate remembers. Our rule is that this memory should be longer than the length of a single-class block in the recording protocol, so the estimate reflects the session and not the class being performed.</a:t>
            </a:r>
          </a:p>
          <a:p/>
          <a:p>
            <a:r>
              <a:t>The key idea is that session drift is corrected inside the network, and the recording protocol determines the adaptation rate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three datasets.</a:t>
            </a:r>
          </a:p>
          <a:p/>
          <a:p>
            <a:r>
              <a:t>Cohort A is an exoskeleton dataset with 7 participants and 9 sessions over several weeks. We train on sessions 1 to 3 and test on sessions 4 to 9.</a:t>
            </a:r>
          </a:p>
          <a:p/>
          <a:p>
            <a:r>
              <a:t>Cohort B is a treadmill walking dataset with 8 participants, recorded in an independent laboratory.</a:t>
            </a:r>
          </a:p>
          <a:p/>
          <a:p>
            <a:r>
              <a:t>Cohort C is the PhysioNet motor execution dataset with 20 participants. For this cohort, we registered our analysis plan before training any model.</a:t>
            </a:r>
          </a:p>
          <a:p/>
          <a:p>
            <a:r>
              <a:t>All models use the same protocol: 8 to 30 Hz filtering, AdamW optimisation with early stopping, and three data-split seeds. Seven published decoders were trained with identical settings for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measured how much session drift the alignment layer removes. The bars show the Riemannian distance between the training-session covariance and each test session.</a:t>
            </a:r>
          </a:p>
          <a:p/>
          <a:p>
            <a:r>
              <a:t>Orange is the raw signal, grey is a control that never updates its estimate, and black is the aligned signal.</a:t>
            </a:r>
          </a:p>
          <a:p/>
          <a:p>
            <a:r>
              <a:t>Alignment reduces the distance by 45.9 percent on cohort A and 62.5 percent on cohort B, and the reduction appears in all 15 participants. The control leaves the distance unchanged, which shows that the reduction comes from adaptation.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gives the values for every participant.</a:t>
            </a:r>
          </a:p>
          <a:p/>
          <a:p>
            <a:r>
              <a:t>On cohort A, the reduction ranges from 38.7 to 51.2 percent, and on cohort B from 43.8 to 82.1 percent.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compare our decoder with published models, all trained in the same pipeline and averaged over three data-split seeds.</a:t>
            </a:r>
          </a:p>
          <a:p/>
          <a:p>
            <a:r>
              <a:t>On cohort A, our decoder reaches 0.868 balanced accuracy, comparable to the best baseline at 0.876, and it uses fewer parameters than six of the seven baselines.</a:t>
            </a:r>
          </a:p>
          <a:p/>
          <a:p>
            <a:r>
              <a:t>On cohort C, our decoder has the highest accuracy, 0.796.</a:t>
            </a:r>
          </a:p>
          <a:p/>
          <a:p>
            <a:r>
              <a:t>On cohort B, the protocol rule selects the configuration without alignment, which reaches 0.729, second of the eight models.</a:t>
            </a:r>
          </a:p>
          <a:p/>
          <a:p>
            <a:r>
              <a:t>Calibration error also stays low, 0.058 on cohort A and 0.061 on cohort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shows why the adaptation rate matters. The top row traces the alignment estimate during a recording, and the bottom row shows its distance to the walk and stop covariances.</a:t>
            </a:r>
          </a:p>
          <a:p/>
          <a:p>
            <a:r>
              <a:t>On cohort A, where class blocks are short, the estimate stays between the two classes.</a:t>
            </a:r>
          </a:p>
          <a:p/>
          <a:p>
            <a:r>
              <a:t>On cohort B, where class blocks are long, a fast estimate follows the class currently being performed. This is exactly the situation our adaptation rate rule is designed to detect.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the rule on cohort B by changing the adaptation rate.</a:t>
            </a:r>
          </a:p>
          <a:p/>
          <a:p>
            <a:r>
              <a:t>As the estimator memory increases from 160 to 3200 windows, accuracy rises from 0.580 to 0.698, as the rule predicts.</a:t>
            </a:r>
          </a:p>
          <a:p/>
          <a:p>
            <a:r>
              <a:t>Because cohort B has class blocks longer than the default memory, the rule selects the configuration without alignment, which reaches 0.729.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the rule in advance, we registered two predictions for cohort C before training any model on it.</a:t>
            </a:r>
          </a:p>
          <a:p/>
          <a:p>
            <a:r>
              <a:t>The first prediction was that enabling alignment would not reduce accuracy. The second was that a slower adaptation rate would bring no change, because cohort C has short class blocks.</a:t>
            </a:r>
          </a:p>
          <a:p/>
          <a:p>
            <a:r>
              <a:t>Both predictions were confirmed: accuracy changed by plus 0.002 with alignment, and the slower rate made no meaningful difference. Two additional data-split seeds support the same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ablation study on cohort A shows the contribution of each component, averaged over three seeds.</a:t>
            </a:r>
          </a:p>
          <a:p/>
          <a:p>
            <a:r>
              <a:t>Adding the alignment layer raises balanced accuracy from 0.842 with the gate alone to 0.868.</a:t>
            </a:r>
          </a:p>
          <a:p/>
          <a:p>
            <a:r>
              <a:t>The cross-epoch context module reduces spurious activations from 1.60 to 1.16 per minute of standing, which is valuable for safe exoskeleton control.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walking can introduce artefacts, we retrained the decoder after removing non-neural components with independent component analysis and ICLabel.</a:t>
            </a:r>
          </a:p>
          <a:p/>
          <a:p>
            <a:r>
              <a:t>After cleaning, mean balanced accuracy is 0.785, well above chance, and the change for each participant does not follow the number of muscle components removed.</a:t>
            </a:r>
          </a:p>
          <a:p/>
          <a:p>
            <a:r>
              <a:t>These results are consistent with the decoder using neural EEG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topography shows one participant. The right panel compares 8 to 30 Hz power during walking and standing.</a:t>
            </a:r>
          </a:p>
          <a:p/>
          <a:p>
            <a:r>
              <a:t>Power decreases over sensorimotor electrodes during walking, which is consistent with mu and beta desynchronisation during movement.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current work has some limitations.</a:t>
            </a:r>
          </a:p>
          <a:p/>
          <a:p>
            <a:r>
              <a:t>The datasets include 7, 8 and 20 participants. All results come from recorded datasets, and closed-loop testing is planned. The architecture is still under development, and we will evaluate further variants. The adaptation rate is currently set by a rule and could be learned from data.</a:t>
            </a:r>
          </a:p>
          <a:p/>
          <a:p>
            <a:r>
              <a:t>In future work, we plan real-time evaluation with an exoskeleton, larger cohorts, and recording protocols designed to refine the adaptation rate rule.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we presented a compact EEG decoder with an adaptive alignment layer that corrects session drift without labels.</a:t>
            </a:r>
          </a:p>
          <a:p/>
          <a:p>
            <a:r>
              <a:t>The decoder reduces session drift by 46 to 63 percent, achieves accuracy comparable to published decoders, and follows a protocol-based rule that was confirmed prospectively.</a:t>
            </a:r>
          </a:p>
          <a:p/>
          <a:p>
            <a:r>
              <a:t>This approach supports longitudinal use of EEG-controlled exoskeletons with less recalibration.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works we cited. Thank you for your attention.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Label-Free Covariance Alignment for Longitudinal EEG Decoding</a:t>
            </a:r>
          </a:p>
          <a:p>
            <a:pPr algn="ctr">
              <a:lnSpc>
                <a:spcPct val="115000"/>
              </a:lnSpc>
              <a:spcAft>
                <a:spcPts val="800"/>
              </a:spcAft>
            </a:pPr>
            <a:r>
              <a:rPr sz="1800" b="0" i="0">
                <a:solidFill>
                  <a:srgbClr val="555555"/>
                </a:solidFill>
                <a:latin typeface="Times New Roman"/>
              </a:rPr>
              <a:t>Midterm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Introduction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Lower-limb exoskeletons controlled by non-invasive EEG can restore walking for people with spinal cord injury or stroke. A decoder is trained once but must operate across sessions recorded over several weeks.</a:t>
            </a:r>
          </a:p>
        </p:txBody>
      </p:sp>
      <p:sp>
        <p:nvSpPr>
          <p:cNvPr id="6" name="Rectangle 5"/>
          <p:cNvSpPr/>
          <p:nvPr/>
        </p:nvSpPr>
        <p:spPr>
          <a:xfrm>
            <a:off x="640080" y="3429000"/>
            <a:ext cx="10908792" cy="1234440"/>
          </a:xfrm>
          <a:prstGeom prst="rect">
            <a:avLst/>
          </a:prstGeom>
          <a:solidFill>
            <a:srgbClr val="FFFFFF"/>
          </a:solidFill>
          <a:ln w="16510">
            <a:no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800"/>
              </a:spcAft>
            </a:pPr>
            <a:r>
              <a:rPr sz="2200" b="1" i="0">
                <a:solidFill>
                  <a:srgbClr val="111111"/>
                </a:solidFill>
                <a:latin typeface="Times New Roman"/>
              </a:rPr>
              <a:t>Changes in electrode placement and impedance between sessions alter the EEG signal statistics that a trained decoder relies on.</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This work:  </a:t>
            </a:r>
            <a:r>
              <a:rPr sz="1900" b="0" i="0">
                <a:solidFill>
                  <a:srgbClr val="555555"/>
                </a:solidFill>
                <a:latin typeface="Times New Roman"/>
              </a:rPr>
              <a:t>a compact EEG decoder that adapts to each new session without labels, evaluated on three EEG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Research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2000" b="1" i="0">
                <a:solidFill>
                  <a:srgbClr val="111111"/>
                </a:solidFill>
                <a:latin typeface="Times New Roman"/>
              </a:rPr>
              <a:t>Session drift</a:t>
            </a:r>
          </a:p>
          <a:p>
            <a:pPr algn="l">
              <a:lnSpc>
                <a:spcPct val="122000"/>
              </a:lnSpc>
              <a:spcAft>
                <a:spcPts val="800"/>
              </a:spcAft>
            </a:pPr>
            <a:r>
              <a:rPr sz="1600" b="0" i="0">
                <a:solidFill>
                  <a:srgbClr val="555555"/>
                </a:solidFill>
                <a:latin typeface="Times New Roman"/>
              </a:rPr>
              <a:t>Electrode position and impedance change between sessions, shifting the signal statistics a trained decoder depends on.</a:t>
            </a:r>
          </a:p>
        </p:txBody>
      </p:sp>
      <p:sp>
        <p:nvSpPr>
          <p:cNvPr id="6" name="Rectangle 5"/>
          <p:cNvSpPr/>
          <p:nvPr/>
        </p:nvSpPr>
        <p:spPr>
          <a:xfrm>
            <a:off x="4384548" y="1691640"/>
            <a:ext cx="3602736" cy="338328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2000" b="1" i="0">
                <a:solidFill>
                  <a:srgbClr val="111111"/>
                </a:solidFill>
                <a:latin typeface="Times New Roman"/>
              </a:rPr>
              <a:t>Movement artefact</a:t>
            </a:r>
          </a:p>
          <a:p>
            <a:pPr algn="l">
              <a:lnSpc>
                <a:spcPct val="122000"/>
              </a:lnSpc>
              <a:spcAft>
                <a:spcPts val="800"/>
              </a:spcAft>
            </a:pPr>
            <a:r>
              <a:rPr sz="1600" b="0" i="0">
                <a:solidFill>
                  <a:srgbClr val="555555"/>
                </a:solidFill>
                <a:latin typeface="Times New Roman"/>
              </a:rPr>
              <a:t>Walking produces motion and muscle activity that can mix with the EEG recording.</a:t>
            </a:r>
          </a:p>
        </p:txBody>
      </p:sp>
      <p:sp>
        <p:nvSpPr>
          <p:cNvPr id="7" name="Rectangle 6"/>
          <p:cNvSpPr/>
          <p:nvPr/>
        </p:nvSpPr>
        <p:spPr>
          <a:xfrm>
            <a:off x="8129016" y="1691640"/>
            <a:ext cx="3602736" cy="338328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2000" b="1" i="0">
                <a:solidFill>
                  <a:srgbClr val="111111"/>
                </a:solidFill>
                <a:latin typeface="Times New Roman"/>
              </a:rPr>
              <a:t>Reliable decisions</a:t>
            </a:r>
          </a:p>
          <a:p>
            <a:pPr algn="l">
              <a:lnSpc>
                <a:spcPct val="122000"/>
              </a:lnSpc>
              <a:spcAft>
                <a:spcPts val="800"/>
              </a:spcAft>
            </a:pPr>
            <a:r>
              <a:rPr sz="1600" b="0" i="0">
                <a:solidFill>
                  <a:srgbClr val="555555"/>
                </a:solidFill>
                <a:latin typeface="Times New Roman"/>
              </a:rPr>
              <a:t>Exoskeleton control needs consistent accuracy across sessions and well-calibrated confidence.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Research Objectives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100" b="1" i="0">
                <a:solidFill>
                  <a:srgbClr val="111111"/>
                </a:solidFill>
                <a:latin typeface="Times New Roman"/>
              </a:rPr>
              <a:t>Adaptive alignment</a:t>
            </a:r>
          </a:p>
          <a:p>
            <a:pPr algn="l">
              <a:lnSpc>
                <a:spcPct val="112000"/>
              </a:lnSpc>
              <a:spcAft>
                <a:spcPts val="800"/>
              </a:spcAft>
            </a:pPr>
            <a:r>
              <a:rPr sz="1600" b="0" i="0">
                <a:solidFill>
                  <a:srgbClr val="555555"/>
                </a:solidFill>
                <a:latin typeface="Times New Roman"/>
              </a:rPr>
              <a:t>Design an alignment layer that corrects session drift without labels, during training and at test time.</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100" b="1" i="0">
                <a:solidFill>
                  <a:srgbClr val="111111"/>
                </a:solidFill>
                <a:latin typeface="Times New Roman"/>
              </a:rPr>
              <a:t>Accurate and calibrated decoding</a:t>
            </a:r>
          </a:p>
          <a:p>
            <a:pPr algn="l">
              <a:lnSpc>
                <a:spcPct val="112000"/>
              </a:lnSpc>
              <a:spcAft>
                <a:spcPts val="800"/>
              </a:spcAft>
            </a:pPr>
            <a:r>
              <a:rPr sz="1600" b="0" i="0">
                <a:solidFill>
                  <a:srgbClr val="555555"/>
                </a:solidFill>
                <a:latin typeface="Times New Roman"/>
              </a:rPr>
              <a:t>Achieve accuracy comparable to published decoders with a compact model and calibrated confidence.</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100" b="1" i="0">
                <a:solidFill>
                  <a:srgbClr val="111111"/>
                </a:solidFill>
                <a:latin typeface="Times New Roman"/>
              </a:rPr>
              <a:t>A design rule for adaptation</a:t>
            </a:r>
          </a:p>
          <a:p>
            <a:pPr algn="l">
              <a:lnSpc>
                <a:spcPct val="112000"/>
              </a:lnSpc>
              <a:spcAft>
                <a:spcPts val="800"/>
              </a:spcAft>
            </a:pPr>
            <a:r>
              <a:rPr sz="1600" b="0" i="0">
                <a:solidFill>
                  <a:srgbClr val="555555"/>
                </a:solidFill>
                <a:latin typeface="Times New Roman"/>
              </a:rPr>
              <a:t>Derive and validate a rule, read from the recording protocol, that sets the adaptation rate of the alignment layer.</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Research question:  </a:t>
            </a:r>
            <a:r>
              <a:rPr sz="1700" b="0" i="1">
                <a:solidFill>
                  <a:srgbClr val="555555"/>
                </a:solidFill>
                <a:latin typeface="Times New Roman"/>
              </a:rPr>
              <a:t>can a compact decoder adapt to session drift without labels while remaining accurate and reliable?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decoding models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 Conformer  [Song 2023]</a:t>
            </a:r>
          </a:p>
        </p:txBody>
      </p:sp>
      <p:sp>
        <p:nvSpPr>
          <p:cNvPr id="7" name="Rectangle 6"/>
          <p:cNvSpPr/>
          <p:nvPr/>
        </p:nvSpPr>
        <p:spPr>
          <a:xfrm>
            <a:off x="6150254" y="1508760"/>
            <a:ext cx="2651760" cy="260604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Domain alignment</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a:p>
            <a:pPr algn="l">
              <a:lnSpc>
                <a:spcPct val="110000"/>
              </a:lnSpc>
              <a:spcAft>
                <a:spcPts val="700"/>
              </a:spcAft>
            </a:pPr>
            <a:r>
              <a:rPr sz="1200" b="0" i="0">
                <a:solidFill>
                  <a:srgbClr val="555555"/>
                </a:solidFill>
                <a:latin typeface="Times New Roman"/>
              </a:rPr>
              <a:t>Riemannian classifiers  [Barachant 2012]</a:t>
            </a:r>
          </a:p>
        </p:txBody>
      </p:sp>
      <p:sp>
        <p:nvSpPr>
          <p:cNvPr id="8" name="Rectangle 7"/>
          <p:cNvSpPr/>
          <p:nvPr/>
        </p:nvSpPr>
        <p:spPr>
          <a:xfrm>
            <a:off x="8905341" y="1508760"/>
            <a:ext cx="2651760" cy="260604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Entropy minimisation  [Wang 2021]</a:t>
            </a:r>
          </a:p>
          <a:p>
            <a:pPr algn="l">
              <a:lnSpc>
                <a:spcPct val="110000"/>
              </a:lnSpc>
              <a:spcAft>
                <a:spcPts val="700"/>
              </a:spcAft>
            </a:pPr>
            <a:r>
              <a:rPr sz="1200" b="0" i="0">
                <a:solidFill>
                  <a:srgbClr val="555555"/>
                </a:solidFill>
                <a:latin typeface="Times New Roman"/>
              </a:rPr>
              <a:t>Temporal correlation  [Gong 2022]</a:t>
            </a:r>
          </a:p>
          <a:p>
            <a:pPr algn="l">
              <a:lnSpc>
                <a:spcPct val="110000"/>
              </a:lnSpc>
              <a:spcAft>
                <a:spcPts val="700"/>
              </a:spcAft>
            </a:pPr>
            <a:r>
              <a:rPr sz="1200" b="0" i="0">
                <a:solidFill>
                  <a:srgbClr val="555555"/>
                </a:solidFill>
                <a:latin typeface="Times New Roman"/>
              </a:rPr>
              <a:t>Selective prediction  [Geifman 2019]</a:t>
            </a:r>
          </a:p>
        </p:txBody>
      </p:sp>
      <p:sp>
        <p:nvSpPr>
          <p:cNvPr id="9" name="Rectangle 8"/>
          <p:cNvSpPr/>
          <p:nvPr/>
        </p:nvSpPr>
        <p:spPr>
          <a:xfrm>
            <a:off x="640080" y="4343400"/>
            <a:ext cx="10908792" cy="1463040"/>
          </a:xfrm>
          <a:prstGeom prst="rect">
            <a:avLst/>
          </a:prstGeom>
          <a:solidFill>
            <a:srgbClr val="FFFFFF"/>
          </a:solidFill>
          <a:ln w="20320">
            <a:no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900" b="0" i="0">
                <a:solidFill>
                  <a:srgbClr val="111111"/>
                </a:solidFill>
                <a:latin typeface="Times New Roman"/>
              </a:rPr>
              <a:t>Existing alignment methods operate offline on complete recordings. This work places alignment inside the network, adapts it online without labels, and provides a rule for choosing its adaptation rate.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listed on the References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Proposed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Proposed decoder (24,181 parameters):  </a:t>
            </a:r>
            <a:r>
              <a:rPr sz="1600" b="0" i="0">
                <a:solidFill>
                  <a:srgbClr val="555555"/>
                </a:solidFill>
                <a:latin typeface="Times New Roman"/>
              </a:rPr>
              <a:t>an adaptive alignment layer, a multi-scale power stem, an optional cross-epoch context module and a selective classification head.</a:t>
            </a:r>
          </a:p>
        </p:txBody>
      </p:sp>
      <p:pic>
        <p:nvPicPr>
          <p:cNvPr id="7" name="Picture 6" descr="fig_arch_paper.png"/>
          <p:cNvPicPr>
            <a:picLocks noChangeAspect="1"/>
          </p:cNvPicPr>
          <p:nvPr/>
        </p:nvPicPr>
        <p:blipFill>
          <a:blip r:embed="rId2"/>
          <a:stretch>
            <a:fillRect/>
          </a:stretch>
        </p:blipFill>
        <p:spPr>
          <a:xfrm>
            <a:off x="795528" y="1921006"/>
            <a:ext cx="10607040" cy="319886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Adaptive Alignment Method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300"/>
              </a:spcAft>
            </a:pPr>
            <a:r>
              <a:rPr sz="1900" b="1" i="0">
                <a:solidFill>
                  <a:srgbClr val="111111"/>
                </a:solidFill>
                <a:latin typeface="Times New Roman"/>
              </a:rPr>
              <a:t>•  Running covariance estimate:</a:t>
            </a:r>
            <a:r>
              <a:rPr sz="1900" b="0" i="0">
                <a:solidFill>
                  <a:srgbClr val="555555"/>
                </a:solidFill>
                <a:latin typeface="Times New Roman"/>
              </a:rPr>
              <a:t> an exponential moving average of the spatial covariance of incoming EEG windows.</a:t>
            </a:r>
          </a:p>
          <a:p>
            <a:pPr algn="l">
              <a:lnSpc>
                <a:spcPct val="118000"/>
              </a:lnSpc>
              <a:spcAft>
                <a:spcPts val="1300"/>
              </a:spcAft>
            </a:pPr>
            <a:r>
              <a:rPr sz="1900" b="1" i="0">
                <a:solidFill>
                  <a:srgbClr val="111111"/>
                </a:solidFill>
                <a:latin typeface="Times New Roman"/>
              </a:rPr>
              <a:t>•  Whitening:</a:t>
            </a:r>
            <a:r>
              <a:rPr sz="1900" b="0" i="0">
                <a:solidFill>
                  <a:srgbClr val="555555"/>
                </a:solidFill>
                <a:latin typeface="Times New Roman"/>
              </a:rPr>
              <a:t> each window is multiplied by the inverse square root of that estimate before feature extraction.</a:t>
            </a:r>
          </a:p>
          <a:p>
            <a:pPr algn="l">
              <a:lnSpc>
                <a:spcPct val="118000"/>
              </a:lnSpc>
              <a:spcAft>
                <a:spcPts val="1300"/>
              </a:spcAft>
            </a:pPr>
            <a:r>
              <a:rPr sz="1900" b="1" i="0">
                <a:solidFill>
                  <a:srgbClr val="111111"/>
                </a:solidFill>
                <a:latin typeface="Times New Roman"/>
              </a:rPr>
              <a:t>•  Label-free adaptation:</a:t>
            </a:r>
            <a:r>
              <a:rPr sz="1900" b="0" i="0">
                <a:solidFill>
                  <a:srgbClr val="555555"/>
                </a:solidFill>
                <a:latin typeface="Times New Roman"/>
              </a:rPr>
              <a:t> the estimate continues to update on new sessions without labels.</a:t>
            </a:r>
          </a:p>
          <a:p>
            <a:pPr algn="l">
              <a:lnSpc>
                <a:spcPct val="118000"/>
              </a:lnSpc>
              <a:spcAft>
                <a:spcPts val="1300"/>
              </a:spcAft>
            </a:pPr>
            <a:r>
              <a:rPr sz="1900" b="1" i="0">
                <a:solidFill>
                  <a:srgbClr val="111111"/>
                </a:solidFill>
                <a:latin typeface="Times New Roman"/>
              </a:rPr>
              <a:t>•  Adaptation rate rule:</a:t>
            </a:r>
            <a:r>
              <a:rPr sz="1900" b="0" i="0">
                <a:solidFill>
                  <a:srgbClr val="555555"/>
                </a:solidFill>
                <a:latin typeface="Times New Roman"/>
              </a:rPr>
              <a:t> the estimator memory is set longer than the class block length of the recording protocol.</a:t>
            </a:r>
          </a:p>
        </p:txBody>
      </p:sp>
      <p:sp>
        <p:nvSpPr>
          <p:cNvPr id="6" name="Rectangle 5"/>
          <p:cNvSpPr/>
          <p:nvPr/>
        </p:nvSpPr>
        <p:spPr>
          <a:xfrm>
            <a:off x="640080" y="4892040"/>
            <a:ext cx="10908792" cy="1325880"/>
          </a:xfrm>
          <a:prstGeom prst="rect">
            <a:avLst/>
          </a:prstGeom>
          <a:solidFill>
            <a:srgbClr val="FFFFFF"/>
          </a:solidFill>
          <a:ln w="16510">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KEY IDEA   </a:t>
            </a:r>
            <a:r>
              <a:rPr sz="1800" b="0" i="1">
                <a:solidFill>
                  <a:srgbClr val="111111"/>
                </a:solidFill>
                <a:latin typeface="Times New Roman"/>
              </a:rPr>
              <a:t>Session drift is corrected inside the network, and the recording protocol determines the adaptation rate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Experimental Setup</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A</a:t>
            </a:r>
          </a:p>
          <a:p>
            <a:pPr algn="l">
              <a:lnSpc>
                <a:spcPct val="105000"/>
              </a:lnSpc>
              <a:spcAft>
                <a:spcPts val="1000"/>
              </a:spcAft>
            </a:pPr>
            <a:r>
              <a:rPr sz="2000" b="1" i="0">
                <a:solidFill>
                  <a:srgbClr val="111111"/>
                </a:solidFill>
                <a:latin typeface="Times New Roman"/>
              </a:rPr>
              <a:t>Exoskeleton EEG  [Sarkar 2026]</a:t>
            </a:r>
          </a:p>
          <a:p>
            <a:pPr algn="l">
              <a:lnSpc>
                <a:spcPct val="122000"/>
              </a:lnSpc>
              <a:spcAft>
                <a:spcPts val="800"/>
              </a:spcAft>
            </a:pPr>
            <a:r>
              <a:rPr sz="1600" b="0" i="0">
                <a:solidFill>
                  <a:srgbClr val="555555"/>
                </a:solidFill>
                <a:latin typeface="Times New Roman"/>
              </a:rPr>
              <a:t>7 participants, 9 sessions over several weeks. Trained on sessions 1 to 3 and tested on sessions 4 to 9.</a:t>
            </a:r>
          </a:p>
        </p:txBody>
      </p:sp>
      <p:sp>
        <p:nvSpPr>
          <p:cNvPr id="6" name="Rectangle 5"/>
          <p:cNvSpPr/>
          <p:nvPr/>
        </p:nvSpPr>
        <p:spPr>
          <a:xfrm>
            <a:off x="4384548" y="1691640"/>
            <a:ext cx="3602736" cy="338328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B</a:t>
            </a:r>
          </a:p>
          <a:p>
            <a:pPr algn="l">
              <a:lnSpc>
                <a:spcPct val="105000"/>
              </a:lnSpc>
              <a:spcAft>
                <a:spcPts val="1000"/>
              </a:spcAft>
            </a:pPr>
            <a:r>
              <a:rPr sz="2000" b="1" i="0">
                <a:solidFill>
                  <a:srgbClr val="111111"/>
                </a:solidFill>
                <a:latin typeface="Times New Roman"/>
              </a:rPr>
              <a:t>Treadmill walking  [Luu 2017]</a:t>
            </a:r>
          </a:p>
          <a:p>
            <a:pPr algn="l">
              <a:lnSpc>
                <a:spcPct val="122000"/>
              </a:lnSpc>
              <a:spcAft>
                <a:spcPts val="800"/>
              </a:spcAft>
            </a:pPr>
            <a:r>
              <a:rPr sz="1600" b="0" i="0">
                <a:solidFill>
                  <a:srgbClr val="555555"/>
                </a:solidFill>
                <a:latin typeface="Times New Roman"/>
              </a:rPr>
              <a:t>8 participants with 3 trials each, recorded in an independent laboratory.</a:t>
            </a:r>
          </a:p>
        </p:txBody>
      </p:sp>
      <p:sp>
        <p:nvSpPr>
          <p:cNvPr id="7" name="Rectangle 6"/>
          <p:cNvSpPr/>
          <p:nvPr/>
        </p:nvSpPr>
        <p:spPr>
          <a:xfrm>
            <a:off x="8129016" y="1691640"/>
            <a:ext cx="3602736" cy="3383280"/>
          </a:xfrm>
          <a:prstGeom prst="rect">
            <a:avLst/>
          </a:prstGeom>
          <a:solidFill>
            <a:srgbClr val="FFFFFF"/>
          </a:solidFill>
          <a:ln w="12700">
            <a:no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C</a:t>
            </a:r>
          </a:p>
          <a:p>
            <a:pPr algn="l">
              <a:lnSpc>
                <a:spcPct val="105000"/>
              </a:lnSpc>
              <a:spcAft>
                <a:spcPts val="1000"/>
              </a:spcAft>
            </a:pPr>
            <a:r>
              <a:rPr sz="2000" b="1" i="0">
                <a:solidFill>
                  <a:srgbClr val="111111"/>
                </a:solidFill>
                <a:latin typeface="Times New Roman"/>
              </a:rPr>
              <a:t>Motor execution  [Schalk 2004]</a:t>
            </a:r>
          </a:p>
          <a:p>
            <a:pPr algn="l">
              <a:lnSpc>
                <a:spcPct val="122000"/>
              </a:lnSpc>
              <a:spcAft>
                <a:spcPts val="800"/>
              </a:spcAft>
            </a:pPr>
            <a:r>
              <a:rPr sz="1600" b="0" i="0">
                <a:solidFill>
                  <a:srgbClr val="555555"/>
                </a:solidFill>
                <a:latin typeface="Times New Roman"/>
              </a:rPr>
              <a:t>20 participants from PhysioNet EEGMMIDB, with the analysis plan registered before training.</a:t>
            </a:r>
          </a:p>
        </p:txBody>
      </p:sp>
      <p:sp>
        <p:nvSpPr>
          <p:cNvPr id="7" name="TextBox 6"/>
          <p:cNvSpPr txBox="1"/>
          <p:nvPr/>
        </p:nvSpPr>
        <p:spPr>
          <a:xfrm>
            <a:off x="640080" y="5349240"/>
            <a:ext cx="10972800" cy="1005840"/>
          </a:xfrm>
          <a:prstGeom prst="rect">
            <a:avLst/>
          </a:prstGeom>
          <a:noFill/>
        </p:spPr>
        <p:txBody>
          <a:bodyPr wrap="square" anchor="t">
            <a:spAutoFit/>
          </a:bodyPr>
          <a:lstStyle/>
          <a:p>
            <a:pPr algn="l">
              <a:lnSpc>
                <a:spcPct val="120000"/>
              </a:lnSpc>
              <a:spcAft>
                <a:spcPts val="800"/>
              </a:spcAft>
            </a:pPr>
            <a:r>
              <a:rPr sz="1700" b="1" i="0">
                <a:solidFill>
                  <a:srgbClr val="111111"/>
                </a:solidFill>
                <a:latin typeface="Times New Roman"/>
              </a:rPr>
              <a:t>Protocol:  </a:t>
            </a:r>
            <a:r>
              <a:rPr sz="1700" b="0" i="0">
                <a:solidFill>
                  <a:srgbClr val="555555"/>
                </a:solidFill>
                <a:latin typeface="Times New Roman"/>
              </a:rPr>
              <a:t>8 to 30 Hz filtering, AdamW optimisation with early stopping, and three data-split seeds; seven published decoders trained with identical settings.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Session Drift Reduction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Drift reduced in all 15 participants:  </a:t>
            </a:r>
            <a:r>
              <a:rPr sz="1600" b="0" i="0">
                <a:solidFill>
                  <a:srgbClr val="555555"/>
                </a:solidFill>
                <a:latin typeface="Times New Roman"/>
              </a:rPr>
              <a:t>the alignment layer reduces the covariance distance between sessions by 45.9 % on cohort A and 62.5 % on cohort B, while a control without updates leaves it unchanged.</a:t>
            </a:r>
          </a:p>
        </p:txBody>
      </p:sp>
      <p:pic>
        <p:nvPicPr>
          <p:cNvPr id="7" name="Picture 6" descr="fig_drift.png"/>
          <p:cNvPicPr>
            <a:picLocks noChangeAspect="1"/>
          </p:cNvPicPr>
          <p:nvPr/>
        </p:nvPicPr>
        <p:blipFill>
          <a:blip r:embed="rId2"/>
          <a:stretch>
            <a:fillRect/>
          </a:stretch>
        </p:blipFill>
        <p:spPr>
          <a:xfrm>
            <a:off x="1159511" y="1417320"/>
            <a:ext cx="9879072" cy="42062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Per-Participant Drift Reduction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365760"/>
          </a:xfrm>
          <a:prstGeom prst="rect">
            <a:avLst/>
          </a:prstGeom>
          <a:noFill/>
        </p:spPr>
        <p:txBody>
          <a:bodyPr wrap="square" anchor="t">
            <a:spAutoFit/>
          </a:bodyPr>
          <a:lstStyle/>
          <a:p>
            <a:pPr algn="l">
              <a:lnSpc>
                <a:spcPct val="110000"/>
              </a:lnSpc>
              <a:spcAft>
                <a:spcPts val="800"/>
              </a:spcAft>
            </a:pPr>
            <a:r>
              <a:rPr sz="1350" b="0" i="1">
                <a:solidFill>
                  <a:srgbClr val="555555"/>
                </a:solidFill>
                <a:latin typeface="Times New Roman"/>
              </a:rPr>
              <a:t>Riemannian distance between the training-session covariance and the test sessions, before and after alignment.</a:t>
            </a:r>
          </a:p>
        </p:txBody>
      </p:sp>
      <p:sp>
        <p:nvSpPr>
          <p:cNvPr id="11" name="TextBox 10"/>
          <p:cNvSpPr txBox="1"/>
          <p:nvPr/>
        </p:nvSpPr>
        <p:spPr>
          <a:xfrm>
            <a:off x="640080" y="5532120"/>
            <a:ext cx="10908792" cy="1097280"/>
          </a:xfrm>
          <a:prstGeom prst="rect">
            <a:avLst/>
          </a:prstGeom>
          <a:noFill/>
        </p:spPr>
        <p:txBody>
          <a:bodyPr wrap="square" anchor="t">
            <a:spAutoFit/>
          </a:bodyPr>
          <a:lstStyle/>
          <a:p>
            <a:pPr algn="l">
              <a:lnSpc>
                <a:spcPct val="120000"/>
              </a:lnSpc>
              <a:spcAft>
                <a:spcPts val="800"/>
              </a:spcAft>
            </a:pPr>
            <a:r>
              <a:rPr sz="1500" b="1" i="0">
                <a:solidFill>
                  <a:srgbClr val="111111"/>
                </a:solidFill>
                <a:latin typeface="Times New Roman"/>
              </a:rPr>
              <a:t>Cohort A:  </a:t>
            </a:r>
            <a:r>
              <a:rPr sz="1500" b="0" i="0">
                <a:solidFill>
                  <a:srgbClr val="555555"/>
                </a:solidFill>
                <a:latin typeface="Times New Roman"/>
              </a:rPr>
              <a:t>38.7 to 51.2 % reduction for each participant.</a:t>
            </a:r>
          </a:p>
          <a:p>
            <a:pPr algn="l">
              <a:lnSpc>
                <a:spcPct val="120000"/>
              </a:lnSpc>
              <a:spcAft>
                <a:spcPts val="800"/>
              </a:spcAft>
            </a:pPr>
            <a:r>
              <a:rPr sz="1500" b="1" i="0">
                <a:solidFill>
                  <a:srgbClr val="111111"/>
                </a:solidFill>
                <a:latin typeface="Times New Roman"/>
              </a:rPr>
              <a:t>Cohort B:  </a:t>
            </a:r>
            <a:r>
              <a:rPr sz="1500" b="0" i="0">
                <a:solidFill>
                  <a:srgbClr val="555555"/>
                </a:solidFill>
                <a:latin typeface="Times New Roman"/>
              </a:rPr>
              <a:t>43.8 to 82.1 % reduction for each participant.</a:t>
            </a:r>
          </a:p>
        </p:txBody>
      </p:sp>
      <p:pic>
        <p:nvPicPr>
          <p:cNvPr id="12" name="Picture 11" descr="tab_drift.png"/>
          <p:cNvPicPr>
            <a:picLocks noChangeAspect="1"/>
          </p:cNvPicPr>
          <p:nvPr/>
        </p:nvPicPr>
        <p:blipFill>
          <a:blip r:embed="rId2"/>
          <a:stretch>
            <a:fillRect/>
          </a:stretch>
        </p:blipFill>
        <p:spPr>
          <a:xfrm>
            <a:off x="4223757" y="1783080"/>
            <a:ext cx="3741436" cy="3611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Baseline Models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365760"/>
          </a:xfrm>
          <a:prstGeom prst="rect">
            <a:avLst/>
          </a:prstGeom>
          <a:noFill/>
        </p:spPr>
        <p:txBody>
          <a:bodyPr wrap="square" anchor="t">
            <a:spAutoFit/>
          </a:bodyPr>
          <a:lstStyle/>
          <a:p>
            <a:pPr algn="l">
              <a:lnSpc>
                <a:spcPct val="110000"/>
              </a:lnSpc>
              <a:spcAft>
                <a:spcPts val="800"/>
              </a:spcAft>
            </a:pPr>
            <a:r>
              <a:rPr sz="1350" b="0" i="1">
                <a:solidFill>
                  <a:srgbClr val="555555"/>
                </a:solidFill>
                <a:latin typeface="Times New Roman"/>
              </a:rPr>
              <a:t>Balanced accuracy (Acc) and expected calibration error (ECE), mean over three data-split seeds; all models trained in the same pipeline.</a:t>
            </a:r>
          </a:p>
        </p:txBody>
      </p:sp>
      <p:sp>
        <p:nvSpPr>
          <p:cNvPr id="10" name="TextBox 9"/>
          <p:cNvSpPr txBox="1"/>
          <p:nvPr/>
        </p:nvSpPr>
        <p:spPr>
          <a:xfrm>
            <a:off x="640080" y="4846320"/>
            <a:ext cx="10908792" cy="320040"/>
          </a:xfrm>
          <a:prstGeom prst="rect">
            <a:avLst/>
          </a:prstGeom>
          <a:noFill/>
        </p:spPr>
        <p:txBody>
          <a:bodyPr wrap="square" anchor="t">
            <a:spAutoFit/>
          </a:bodyPr>
          <a:lstStyle/>
          <a:p>
            <a:pPr algn="l">
              <a:lnSpc>
                <a:spcPct val="110000"/>
              </a:lnSpc>
              <a:spcAft>
                <a:spcPts val="800"/>
              </a:spcAft>
            </a:pPr>
            <a:r>
              <a:rPr sz="1150" b="0" i="1">
                <a:solidFill>
                  <a:srgbClr val="555555"/>
                </a:solidFill>
                <a:latin typeface="Times New Roman"/>
              </a:rPr>
              <a:t>† below 0.55 accuracy for at least five of twenty participants on one seed.</a:t>
            </a:r>
          </a:p>
        </p:txBody>
      </p:sp>
      <p:sp>
        <p:nvSpPr>
          <p:cNvPr id="11" name="TextBox 10"/>
          <p:cNvSpPr txBox="1"/>
          <p:nvPr/>
        </p:nvSpPr>
        <p:spPr>
          <a:xfrm>
            <a:off x="640080" y="5138928"/>
            <a:ext cx="10908792" cy="1444752"/>
          </a:xfrm>
          <a:prstGeom prst="rect">
            <a:avLst/>
          </a:prstGeom>
          <a:noFill/>
        </p:spPr>
        <p:txBody>
          <a:bodyPr wrap="square" anchor="t">
            <a:spAutoFit/>
          </a:bodyPr>
          <a:lstStyle/>
          <a:p>
            <a:pPr algn="l">
              <a:lnSpc>
                <a:spcPct val="120000"/>
              </a:lnSpc>
              <a:spcAft>
                <a:spcPts val="800"/>
              </a:spcAft>
            </a:pPr>
            <a:r>
              <a:rPr sz="1600" b="1" i="0">
                <a:solidFill>
                  <a:srgbClr val="111111"/>
                </a:solidFill>
                <a:latin typeface="Times New Roman"/>
              </a:rPr>
              <a:t>Cohort A:  </a:t>
            </a:r>
            <a:r>
              <a:rPr sz="1600" b="0" i="0">
                <a:solidFill>
                  <a:srgbClr val="555555"/>
                </a:solidFill>
                <a:latin typeface="Times New Roman"/>
              </a:rPr>
              <a:t>0.868 balanced accuracy, comparable to the best baseline (0.876), with fewer parameters than six of the seven baselines.</a:t>
            </a:r>
          </a:p>
          <a:p>
            <a:pPr algn="l">
              <a:lnSpc>
                <a:spcPct val="120000"/>
              </a:lnSpc>
              <a:spcAft>
                <a:spcPts val="800"/>
              </a:spcAft>
            </a:pPr>
            <a:r>
              <a:rPr sz="1600" b="1" i="0">
                <a:solidFill>
                  <a:srgbClr val="111111"/>
                </a:solidFill>
                <a:latin typeface="Times New Roman"/>
              </a:rPr>
              <a:t>Cohorts C and B:  </a:t>
            </a:r>
            <a:r>
              <a:rPr sz="1600" b="0" i="0">
                <a:solidFill>
                  <a:srgbClr val="555555"/>
                </a:solidFill>
                <a:latin typeface="Times New Roman"/>
              </a:rPr>
              <a:t>highest accuracy on cohort C (0.796); on cohort B, with alignment set by the protocol rule, 0.729, second of eight models.</a:t>
            </a:r>
          </a:p>
        </p:txBody>
      </p:sp>
      <p:pic>
        <p:nvPicPr>
          <p:cNvPr id="12" name="Picture 11" descr="tab_compare_ppt.png"/>
          <p:cNvPicPr>
            <a:picLocks noChangeAspect="1"/>
          </p:cNvPicPr>
          <p:nvPr/>
        </p:nvPicPr>
        <p:blipFill>
          <a:blip r:embed="rId2"/>
          <a:stretch>
            <a:fillRect/>
          </a:stretch>
        </p:blipFill>
        <p:spPr>
          <a:xfrm>
            <a:off x="2111315" y="1783080"/>
            <a:ext cx="7966320" cy="3063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Estimate During Recording</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Estimate trajectory, one participant per cohort:  </a:t>
            </a:r>
            <a:r>
              <a:rPr sz="1600" b="0" i="0">
                <a:solidFill>
                  <a:srgbClr val="555555"/>
                </a:solidFill>
                <a:latin typeface="Times New Roman"/>
              </a:rPr>
              <a:t>with short class blocks (cohort A) the estimate stays between the class covariances; with long class blocks (cohort B) it follows the active class, the case the adaptation rate rule addresses.</a:t>
            </a:r>
          </a:p>
        </p:txBody>
      </p:sp>
      <p:pic>
        <p:nvPicPr>
          <p:cNvPr id="7" name="Picture 6" descr="fig_class_tracking.png"/>
          <p:cNvPicPr>
            <a:picLocks noChangeAspect="1"/>
          </p:cNvPicPr>
          <p:nvPr/>
        </p:nvPicPr>
        <p:blipFill>
          <a:blip r:embed="rId2"/>
          <a:stretch>
            <a:fillRect/>
          </a:stretch>
        </p:blipFill>
        <p:spPr>
          <a:xfrm>
            <a:off x="2899349" y="1325880"/>
            <a:ext cx="6399396" cy="4434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Adaptation Rate Analysis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365760"/>
          </a:xfrm>
          <a:prstGeom prst="rect">
            <a:avLst/>
          </a:prstGeom>
          <a:noFill/>
        </p:spPr>
        <p:txBody>
          <a:bodyPr wrap="square" anchor="t">
            <a:spAutoFit/>
          </a:bodyPr>
          <a:lstStyle/>
          <a:p>
            <a:pPr algn="l">
              <a:lnSpc>
                <a:spcPct val="110000"/>
              </a:lnSpc>
              <a:spcAft>
                <a:spcPts val="800"/>
              </a:spcAft>
            </a:pPr>
            <a:r>
              <a:rPr sz="1350" b="0" i="1">
                <a:solidFill>
                  <a:srgbClr val="555555"/>
                </a:solidFill>
                <a:latin typeface="Times New Roman"/>
              </a:rPr>
              <a:t>Cohort B, three data-split seeds: balanced accuracy of align + gate at four adaptation rates.</a:t>
            </a:r>
          </a:p>
        </p:txBody>
      </p:sp>
      <p:sp>
        <p:nvSpPr>
          <p:cNvPr id="11" name="TextBox 10"/>
          <p:cNvSpPr txBox="1"/>
          <p:nvPr/>
        </p:nvSpPr>
        <p:spPr>
          <a:xfrm>
            <a:off x="640080" y="4663440"/>
            <a:ext cx="10908792" cy="1920240"/>
          </a:xfrm>
          <a:prstGeom prst="rect">
            <a:avLst/>
          </a:prstGeom>
          <a:noFill/>
        </p:spPr>
        <p:txBody>
          <a:bodyPr wrap="square" anchor="t">
            <a:spAutoFit/>
          </a:bodyPr>
          <a:lstStyle/>
          <a:p>
            <a:pPr algn="l">
              <a:lnSpc>
                <a:spcPct val="120000"/>
              </a:lnSpc>
              <a:spcAft>
                <a:spcPts val="800"/>
              </a:spcAft>
            </a:pPr>
            <a:r>
              <a:rPr sz="1600" b="1" i="0">
                <a:solidFill>
                  <a:srgbClr val="111111"/>
                </a:solidFill>
                <a:latin typeface="Times New Roman"/>
              </a:rPr>
              <a:t>Effect of the rate:  </a:t>
            </a:r>
            <a:r>
              <a:rPr sz="1600" b="0" i="0">
                <a:solidFill>
                  <a:srgbClr val="555555"/>
                </a:solidFill>
                <a:latin typeface="Times New Roman"/>
              </a:rPr>
              <a:t>lengthening the estimator memory from 160 to 3200 windows raises accuracy from 0.580 to 0.698, as the adaptation rate rule predicts.</a:t>
            </a:r>
          </a:p>
          <a:p>
            <a:pPr algn="l">
              <a:lnSpc>
                <a:spcPct val="120000"/>
              </a:lnSpc>
              <a:spcAft>
                <a:spcPts val="800"/>
              </a:spcAft>
            </a:pPr>
            <a:r>
              <a:rPr sz="1600" b="1" i="0">
                <a:solidFill>
                  <a:srgbClr val="111111"/>
                </a:solidFill>
                <a:latin typeface="Times New Roman"/>
              </a:rPr>
              <a:t>Protocol rule:  </a:t>
            </a:r>
            <a:r>
              <a:rPr sz="1600" b="0" i="0">
                <a:solidFill>
                  <a:srgbClr val="555555"/>
                </a:solidFill>
                <a:latin typeface="Times New Roman"/>
              </a:rPr>
              <a:t>when class blocks are longer than the estimator memory, the rule selects the configuration without alignment, which reaches 0.729 on this cohort.</a:t>
            </a:r>
          </a:p>
        </p:txBody>
      </p:sp>
      <p:pic>
        <p:nvPicPr>
          <p:cNvPr id="12" name="Picture 11" descr="tab_ratecurve_ppt.png"/>
          <p:cNvPicPr>
            <a:picLocks noChangeAspect="1"/>
          </p:cNvPicPr>
          <p:nvPr/>
        </p:nvPicPr>
        <p:blipFill>
          <a:blip r:embed="rId2"/>
          <a:stretch>
            <a:fillRect/>
          </a:stretch>
        </p:blipFill>
        <p:spPr>
          <a:xfrm>
            <a:off x="3491752" y="1828800"/>
            <a:ext cx="5178014" cy="26060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Prospective Validation on Cohort C</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365760"/>
          </a:xfrm>
          <a:prstGeom prst="rect">
            <a:avLst/>
          </a:prstGeom>
          <a:noFill/>
        </p:spPr>
        <p:txBody>
          <a:bodyPr wrap="square" anchor="t">
            <a:spAutoFit/>
          </a:bodyPr>
          <a:lstStyle/>
          <a:p>
            <a:pPr algn="l">
              <a:lnSpc>
                <a:spcPct val="110000"/>
              </a:lnSpc>
              <a:spcAft>
                <a:spcPts val="800"/>
              </a:spcAft>
            </a:pPr>
            <a:r>
              <a:rPr sz="1350" b="0" i="1">
                <a:solidFill>
                  <a:srgbClr val="555555"/>
                </a:solidFill>
                <a:latin typeface="Times New Roman"/>
              </a:rPr>
              <a:t>Predictions registered before any model was trained on cohort C; balanced accuracy, seed 0.</a:t>
            </a:r>
          </a:p>
        </p:txBody>
      </p:sp>
      <p:sp>
        <p:nvSpPr>
          <p:cNvPr id="11" name="TextBox 10"/>
          <p:cNvSpPr txBox="1"/>
          <p:nvPr/>
        </p:nvSpPr>
        <p:spPr>
          <a:xfrm>
            <a:off x="640080" y="4069080"/>
            <a:ext cx="10908792" cy="2514600"/>
          </a:xfrm>
          <a:prstGeom prst="rect">
            <a:avLst/>
          </a:prstGeom>
          <a:noFill/>
        </p:spPr>
        <p:txBody>
          <a:bodyPr wrap="square" anchor="t">
            <a:spAutoFit/>
          </a:bodyPr>
          <a:lstStyle/>
          <a:p>
            <a:pPr algn="l">
              <a:lnSpc>
                <a:spcPct val="120000"/>
              </a:lnSpc>
              <a:spcAft>
                <a:spcPts val="800"/>
              </a:spcAft>
            </a:pPr>
            <a:r>
              <a:rPr sz="1600" b="1" i="0">
                <a:solidFill>
                  <a:srgbClr val="111111"/>
                </a:solidFill>
                <a:latin typeface="Times New Roman"/>
              </a:rPr>
              <a:t>Both predictions confirmed:  </a:t>
            </a:r>
            <a:r>
              <a:rPr sz="1600" b="0" i="0">
                <a:solidFill>
                  <a:srgbClr val="555555"/>
                </a:solidFill>
                <a:latin typeface="Times New Roman"/>
              </a:rPr>
              <a:t>enabling alignment preserved accuracy (+0.002), and a slower adaptation rate brought no change, as the rule predicts for short class blocks.</a:t>
            </a:r>
          </a:p>
          <a:p>
            <a:pPr algn="l">
              <a:lnSpc>
                <a:spcPct val="120000"/>
              </a:lnSpc>
              <a:spcAft>
                <a:spcPts val="800"/>
              </a:spcAft>
            </a:pPr>
            <a:r>
              <a:rPr sz="1600" b="1" i="0">
                <a:solidFill>
                  <a:srgbClr val="111111"/>
                </a:solidFill>
                <a:latin typeface="Times New Roman"/>
              </a:rPr>
              <a:t>Replication:  </a:t>
            </a:r>
            <a:r>
              <a:rPr sz="1600" b="0" i="0">
                <a:solidFill>
                  <a:srgbClr val="555555"/>
                </a:solidFill>
                <a:latin typeface="Times New Roman"/>
              </a:rPr>
              <a:t>two additional data-split seeds support the same conclusions.</a:t>
            </a:r>
          </a:p>
        </p:txBody>
      </p:sp>
      <p:pic>
        <p:nvPicPr>
          <p:cNvPr id="12" name="Picture 11" descr="tab_prereg.png"/>
          <p:cNvPicPr>
            <a:picLocks noChangeAspect="1"/>
          </p:cNvPicPr>
          <p:nvPr/>
        </p:nvPicPr>
        <p:blipFill>
          <a:blip r:embed="rId2"/>
          <a:stretch>
            <a:fillRect/>
          </a:stretch>
        </p:blipFill>
        <p:spPr>
          <a:xfrm>
            <a:off x="1097280" y="1985917"/>
            <a:ext cx="9966960" cy="160600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365760"/>
          </a:xfrm>
          <a:prstGeom prst="rect">
            <a:avLst/>
          </a:prstGeom>
          <a:noFill/>
        </p:spPr>
        <p:txBody>
          <a:bodyPr wrap="square" anchor="t">
            <a:spAutoFit/>
          </a:bodyPr>
          <a:lstStyle/>
          <a:p>
            <a:pPr algn="l">
              <a:lnSpc>
                <a:spcPct val="110000"/>
              </a:lnSpc>
              <a:spcAft>
                <a:spcPts val="800"/>
              </a:spcAft>
            </a:pPr>
            <a:r>
              <a:rPr sz="1350" b="0" i="1">
                <a:solidFill>
                  <a:srgbClr val="555555"/>
                </a:solidFill>
                <a:latin typeface="Times New Roman"/>
              </a:rPr>
              <a:t>Cohort A, three data-split seeds.</a:t>
            </a:r>
          </a:p>
        </p:txBody>
      </p:sp>
      <p:sp>
        <p:nvSpPr>
          <p:cNvPr id="10" name="TextBox 9"/>
          <p:cNvSpPr txBox="1"/>
          <p:nvPr/>
        </p:nvSpPr>
        <p:spPr>
          <a:xfrm>
            <a:off x="640080" y="4251960"/>
            <a:ext cx="10908792" cy="320040"/>
          </a:xfrm>
          <a:prstGeom prst="rect">
            <a:avLst/>
          </a:prstGeom>
          <a:noFill/>
        </p:spPr>
        <p:txBody>
          <a:bodyPr wrap="square" anchor="t">
            <a:spAutoFit/>
          </a:bodyPr>
          <a:lstStyle/>
          <a:p>
            <a:pPr algn="l">
              <a:lnSpc>
                <a:spcPct val="110000"/>
              </a:lnSpc>
              <a:spcAft>
                <a:spcPts val="800"/>
              </a:spcAft>
            </a:pPr>
            <a:r>
              <a:rPr sz="1150" b="0" i="1">
                <a:solidFill>
                  <a:srgbClr val="555555"/>
                </a:solidFill>
                <a:latin typeface="Times New Roman"/>
              </a:rPr>
              <a:t>FA/min: spurious activations per minute of standing. Acc@90: accuracy at 90 % coverage.</a:t>
            </a:r>
          </a:p>
        </p:txBody>
      </p:sp>
      <p:sp>
        <p:nvSpPr>
          <p:cNvPr id="11" name="TextBox 10"/>
          <p:cNvSpPr txBox="1"/>
          <p:nvPr/>
        </p:nvSpPr>
        <p:spPr>
          <a:xfrm>
            <a:off x="640080" y="4663440"/>
            <a:ext cx="10908792" cy="1920240"/>
          </a:xfrm>
          <a:prstGeom prst="rect">
            <a:avLst/>
          </a:prstGeom>
          <a:noFill/>
        </p:spPr>
        <p:txBody>
          <a:bodyPr wrap="square" anchor="t">
            <a:spAutoFit/>
          </a:bodyPr>
          <a:lstStyle/>
          <a:p>
            <a:pPr algn="l">
              <a:lnSpc>
                <a:spcPct val="120000"/>
              </a:lnSpc>
              <a:spcAft>
                <a:spcPts val="800"/>
              </a:spcAft>
            </a:pPr>
            <a:r>
              <a:rPr sz="1600" b="1" i="0">
                <a:solidFill>
                  <a:srgbClr val="111111"/>
                </a:solidFill>
                <a:latin typeface="Times New Roman"/>
              </a:rPr>
              <a:t>Alignment layer:  </a:t>
            </a:r>
            <a:r>
              <a:rPr sz="1600" b="0" i="0">
                <a:solidFill>
                  <a:srgbClr val="555555"/>
                </a:solidFill>
                <a:latin typeface="Times New Roman"/>
              </a:rPr>
              <a:t>adding alignment raises balanced accuracy from 0.842 (gate only) to 0.868.</a:t>
            </a:r>
          </a:p>
          <a:p>
            <a:pPr algn="l">
              <a:lnSpc>
                <a:spcPct val="120000"/>
              </a:lnSpc>
              <a:spcAft>
                <a:spcPts val="800"/>
              </a:spcAft>
            </a:pPr>
            <a:r>
              <a:rPr sz="1600" b="1" i="0">
                <a:solidFill>
                  <a:srgbClr val="111111"/>
                </a:solidFill>
                <a:latin typeface="Times New Roman"/>
              </a:rPr>
              <a:t>Cross-epoch context:  </a:t>
            </a:r>
            <a:r>
              <a:rPr sz="1600" b="0" i="0">
                <a:solidFill>
                  <a:srgbClr val="555555"/>
                </a:solidFill>
                <a:latin typeface="Times New Roman"/>
              </a:rPr>
              <a:t>reduces spurious activations from 1.60 to 1.16 per minute of standing.</a:t>
            </a:r>
          </a:p>
        </p:txBody>
      </p:sp>
      <p:pic>
        <p:nvPicPr>
          <p:cNvPr id="12" name="Picture 11" descr="tab_ablation3_ppt.png"/>
          <p:cNvPicPr>
            <a:picLocks noChangeAspect="1"/>
          </p:cNvPicPr>
          <p:nvPr/>
        </p:nvPicPr>
        <p:blipFill>
          <a:blip r:embed="rId2"/>
          <a:stretch>
            <a:fillRect/>
          </a:stretch>
        </p:blipFill>
        <p:spPr>
          <a:xfrm>
            <a:off x="1645920" y="1930880"/>
            <a:ext cx="8869680" cy="208183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Analysis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800" b="1" i="0">
                <a:solidFill>
                  <a:srgbClr val="111111"/>
                </a:solidFill>
                <a:latin typeface="Times New Roman"/>
              </a:rPr>
              <a:t>Accuracy after ICA artefact removal</a:t>
            </a:r>
          </a:p>
          <a:p>
            <a:pPr algn="l">
              <a:lnSpc>
                <a:spcPct val="118000"/>
              </a:lnSpc>
              <a:spcAft>
                <a:spcPts val="1200"/>
              </a:spcAft>
            </a:pPr>
            <a:r>
              <a:rPr sz="1700" b="0" i="0">
                <a:solidFill>
                  <a:srgbClr val="555555"/>
                </a:solidFill>
                <a:latin typeface="Times New Roman"/>
              </a:rPr>
              <a:t>Eye, muscle and other non-neural components were removed with ICLabel [Pion-Tonachini 2019] before retraining the decoder.</a:t>
            </a:r>
          </a:p>
          <a:p>
            <a:pPr algn="l">
              <a:lnSpc>
                <a:spcPct val="118000"/>
              </a:lnSpc>
              <a:spcAft>
                <a:spcPts val="1200"/>
              </a:spcAft>
            </a:pPr>
            <a:r>
              <a:rPr sz="1700" b="0" i="0">
                <a:solidFill>
                  <a:srgbClr val="555555"/>
                </a:solidFill>
                <a:latin typeface="Times New Roman"/>
              </a:rPr>
              <a:t>Mean balanced accuracy remains at </a:t>
            </a:r>
            <a:r>
              <a:rPr sz="1700" b="1" i="0">
                <a:solidFill>
                  <a:srgbClr val="111111"/>
                </a:solidFill>
                <a:latin typeface="Times New Roman"/>
              </a:rPr>
              <a:t>0.785</a:t>
            </a:r>
            <a:r>
              <a:rPr sz="1700" b="0" i="0">
                <a:solidFill>
                  <a:srgbClr val="555555"/>
                </a:solidFill>
                <a:latin typeface="Times New Roman"/>
              </a:rPr>
              <a:t>, well above chance, and the change for each participant is unrelated to the number of muscle components removed.</a:t>
            </a:r>
          </a:p>
          <a:p>
            <a:pPr algn="l">
              <a:lnSpc>
                <a:spcPct val="118000"/>
              </a:lnSpc>
              <a:spcAft>
                <a:spcPts val="800"/>
              </a:spcAft>
            </a:pPr>
            <a:r>
              <a:rPr sz="1800" b="1" i="0">
                <a:solidFill>
                  <a:srgbClr val="111111"/>
                </a:solidFill>
                <a:latin typeface="Times New Roman"/>
              </a:rPr>
              <a:t>The results are consistent with decoding from neural EEG activity.</a:t>
            </a:r>
          </a:p>
        </p:txBody>
      </p:sp>
      <p:pic>
        <p:nvPicPr>
          <p:cNvPr id="7" name="Picture 6" descr="tab_artefact.png"/>
          <p:cNvPicPr>
            <a:picLocks noChangeAspect="1"/>
          </p:cNvPicPr>
          <p:nvPr/>
        </p:nvPicPr>
        <p:blipFill>
          <a:blip r:embed="rId2"/>
          <a:stretch>
            <a:fillRect/>
          </a:stretch>
        </p:blipFill>
        <p:spPr>
          <a:xfrm>
            <a:off x="502920" y="2488321"/>
            <a:ext cx="5760720" cy="261287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participant, 8 to 30 Hz power:  </a:t>
            </a:r>
            <a:r>
              <a:rPr sz="1600" b="0" i="0">
                <a:solidFill>
                  <a:srgbClr val="555555"/>
                </a:solidFill>
                <a:latin typeface="Times New Roman"/>
              </a:rPr>
              <a:t>power decreases over sensorimotor electrodes during walking, consistent with mu and beta desynchronisation during movement.</a:t>
            </a:r>
          </a:p>
        </p:txBody>
      </p:sp>
      <p:pic>
        <p:nvPicPr>
          <p:cNvPr id="7" name="Picture 6" descr="fig_topography.png"/>
          <p:cNvPicPr>
            <a:picLocks noChangeAspect="1"/>
          </p:cNvPicPr>
          <p:nvPr/>
        </p:nvPicPr>
        <p:blipFill>
          <a:blip r:embed="rId2"/>
          <a:stretch>
            <a:fillRect/>
          </a:stretch>
        </p:blipFill>
        <p:spPr>
          <a:xfrm>
            <a:off x="795528" y="1788306"/>
            <a:ext cx="10607040" cy="3464267"/>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Future Work</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300"/>
              </a:spcAft>
            </a:pPr>
            <a:r>
              <a:rPr sz="1900" b="1" i="0">
                <a:solidFill>
                  <a:srgbClr val="111111"/>
                </a:solidFill>
                <a:latin typeface="Times New Roman"/>
              </a:rPr>
              <a:t>•  Cohort size:</a:t>
            </a:r>
            <a:r>
              <a:rPr sz="1900" b="0" i="0">
                <a:solidFill>
                  <a:srgbClr val="555555"/>
                </a:solidFill>
                <a:latin typeface="Times New Roman"/>
              </a:rPr>
              <a:t> the three datasets include 7, 8 and 20 participants.</a:t>
            </a:r>
          </a:p>
          <a:p>
            <a:pPr algn="l">
              <a:lnSpc>
                <a:spcPct val="118000"/>
              </a:lnSpc>
              <a:spcAft>
                <a:spcPts val="1300"/>
              </a:spcAft>
            </a:pPr>
            <a:r>
              <a:rPr sz="1900" b="1" i="0">
                <a:solidFill>
                  <a:srgbClr val="111111"/>
                </a:solidFill>
                <a:latin typeface="Times New Roman"/>
              </a:rPr>
              <a:t>•  Offline evaluation:</a:t>
            </a:r>
            <a:r>
              <a:rPr sz="1900" b="0" i="0">
                <a:solidFill>
                  <a:srgbClr val="555555"/>
                </a:solidFill>
                <a:latin typeface="Times New Roman"/>
              </a:rPr>
              <a:t> all results are from recorded datasets; closed-loop testing is planned.</a:t>
            </a:r>
          </a:p>
          <a:p>
            <a:pPr algn="l">
              <a:lnSpc>
                <a:spcPct val="118000"/>
              </a:lnSpc>
              <a:spcAft>
                <a:spcPts val="1300"/>
              </a:spcAft>
            </a:pPr>
            <a:r>
              <a:rPr sz="1900" b="1" i="0">
                <a:solidFill>
                  <a:srgbClr val="111111"/>
                </a:solidFill>
                <a:latin typeface="Times New Roman"/>
              </a:rPr>
              <a:t>•  Architecture development:</a:t>
            </a:r>
            <a:r>
              <a:rPr sz="1900" b="0" i="0">
                <a:solidFill>
                  <a:srgbClr val="555555"/>
                </a:solidFill>
                <a:latin typeface="Times New Roman"/>
              </a:rPr>
              <a:t> the architecture is under active development, and further variants will be evaluated.</a:t>
            </a:r>
          </a:p>
          <a:p>
            <a:pPr algn="l">
              <a:lnSpc>
                <a:spcPct val="118000"/>
              </a:lnSpc>
              <a:spcAft>
                <a:spcPts val="1300"/>
              </a:spcAft>
            </a:pPr>
            <a:r>
              <a:rPr sz="1900" b="1" i="0">
                <a:solidFill>
                  <a:srgbClr val="111111"/>
                </a:solidFill>
                <a:latin typeface="Times New Roman"/>
              </a:rPr>
              <a:t>•  Adaptation rate selection:</a:t>
            </a:r>
            <a:r>
              <a:rPr sz="1900" b="0" i="0">
                <a:solidFill>
                  <a:srgbClr val="555555"/>
                </a:solidFill>
                <a:latin typeface="Times New Roman"/>
              </a:rPr>
              <a:t> the rate is currently set by a rule and could be learned from data.</a:t>
            </a:r>
          </a:p>
        </p:txBody>
      </p:sp>
      <p:sp>
        <p:nvSpPr>
          <p:cNvPr id="6" name="Rectangle 5"/>
          <p:cNvSpPr/>
          <p:nvPr/>
        </p:nvSpPr>
        <p:spPr>
          <a:xfrm>
            <a:off x="640080" y="4892040"/>
            <a:ext cx="10908792" cy="1325880"/>
          </a:xfrm>
          <a:prstGeom prst="rect">
            <a:avLst/>
          </a:prstGeom>
          <a:solidFill>
            <a:srgbClr val="FFFFFF"/>
          </a:solidFill>
          <a:ln w="16510">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FUTURE WORK   </a:t>
            </a:r>
            <a:r>
              <a:rPr sz="1800" b="0" i="1">
                <a:solidFill>
                  <a:srgbClr val="111111"/>
                </a:solidFill>
                <a:latin typeface="Times New Roman"/>
              </a:rPr>
              <a:t>Real-time evaluation with an exoskeleton, larger cohorts, and recording protocols designed to refine the adaptation rate rule.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This work presents a compact EEG decoder with an adaptive alignment layer that corrects session drift without labels.</a:t>
            </a:r>
          </a:p>
        </p:txBody>
      </p:sp>
      <p:sp>
        <p:nvSpPr>
          <p:cNvPr id="6" name="Rectangle 5"/>
          <p:cNvSpPr/>
          <p:nvPr/>
        </p:nvSpPr>
        <p:spPr>
          <a:xfrm>
            <a:off x="640080" y="3429000"/>
            <a:ext cx="10908792" cy="1234440"/>
          </a:xfrm>
          <a:prstGeom prst="rect">
            <a:avLst/>
          </a:prstGeom>
          <a:solidFill>
            <a:srgbClr val="FFFFFF"/>
          </a:solidFill>
          <a:ln w="16510">
            <a:no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800"/>
              </a:spcAft>
            </a:pPr>
            <a:r>
              <a:rPr sz="2200" b="1" i="0">
                <a:solidFill>
                  <a:srgbClr val="111111"/>
                </a:solidFill>
                <a:latin typeface="Times New Roman"/>
              </a:rPr>
              <a:t>The decoder reduces session drift by 46 % to 63 %, achieves accuracy comparable to published decoders, and follows a protocol-based rule confirmed prospectively.</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Outlook:  </a:t>
            </a:r>
            <a:r>
              <a:rPr sz="1900" b="0" i="0">
                <a:solidFill>
                  <a:srgbClr val="555555"/>
                </a:solidFill>
                <a:latin typeface="Times New Roman"/>
              </a:rPr>
              <a:t>the approach supports longitudinal use of EEG-controlled exoskeletons with less recalibration.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[Geifman 2019]  </a:t>
            </a:r>
            <a:r>
              <a:rPr sz="1050" b="0" i="0">
                <a:solidFill>
                  <a:srgbClr val="555555"/>
                </a:solidFill>
                <a:latin typeface="Times New Roman"/>
              </a:rPr>
              <a:t>Y. Geifman and R. El-Yaniv, “SelectiveNet: a deep neural network with an integrated reject option,” ICML, 2019.</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dataset, and website,”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