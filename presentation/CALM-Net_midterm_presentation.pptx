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7" r:id="rId27"/>
    <p:sldId id="278" r:id="rId28"/>
    <p:sldId id="279" r:id="rId29"/>
    <p:sldId id="280" r:id="rId30"/>
    <p:sldId id="282" r:id="rId32"/>
    <p:sldId id="283" r:id="rId33"/>
    <p:sldId id="284" r:id="rId34"/>
    <p:sldId id="287" r:id="rId37"/>
    <p:sldId id="288" r:id="rId38"/>
    <p:sldId id="289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82" y="31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965960"/>
            <a:ext cx="1127455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800"/>
              </a:spcAft>
            </a:pPr>
            <a:r>
              <a:rPr sz="5400" b="1" i="0">
                <a:solidFill>
                  <a:srgbClr val="111111"/>
                </a:solidFill>
                <a:latin typeface="Times New Roman"/>
              </a:rPr>
              <a:t>CALM-Net</a:t>
            </a:r>
          </a:p>
        </p:txBody>
      </p:sp>
      <p:sp>
        <p:nvSpPr>
          <p:cNvPr id="4" name="Rectangle 3"/>
          <p:cNvSpPr/>
          <p:nvPr/>
        </p:nvSpPr>
        <p:spPr>
          <a:xfrm>
            <a:off x="4041648" y="3035808"/>
            <a:ext cx="4114800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80160" y="3246120"/>
            <a:ext cx="962863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400" b="0" i="0">
                <a:solidFill>
                  <a:srgbClr val="111111"/>
                </a:solidFill>
                <a:latin typeface="Times New Roman"/>
              </a:rPr>
              <a:t>Label-free covariance alignment for longitudinal EEG decoding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800" b="0" i="0">
                <a:solidFill>
                  <a:srgbClr val="555555"/>
                </a:solidFill>
                <a:latin typeface="Times New Roman"/>
              </a:rPr>
              <a:t>Midterm proposal, updated with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5440680"/>
            <a:ext cx="96286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500"/>
              </a:spcAft>
            </a:pPr>
            <a:r>
              <a:rPr sz="1500" b="0" i="0">
                <a:solidFill>
                  <a:srgbClr val="555555"/>
                </a:solidFill>
                <a:latin typeface="Times New Roman"/>
              </a:rPr>
              <a:t>Md Wahiduzzaman Suva  [26-94088-2]</a:t>
            </a:r>
          </a:p>
          <a:p>
            <a:pPr algn="ctr">
              <a:lnSpc>
                <a:spcPct val="110000"/>
              </a:lnSpc>
              <a:spcAft>
                <a:spcPts val="500"/>
              </a:spcAft>
            </a:pPr>
            <a:r>
              <a:rPr sz="1500" b="0" i="0">
                <a:solidFill>
                  <a:srgbClr val="555555"/>
                </a:solidFill>
                <a:latin typeface="Times New Roman"/>
              </a:rPr>
              <a:t>Esme Moula Chowdhury Abha  [26-94089-2]</a:t>
            </a:r>
          </a:p>
          <a:p>
            <a:pPr algn="ctr">
              <a:lnSpc>
                <a:spcPct val="110000"/>
              </a:lnSpc>
              <a:spcAft>
                <a:spcPts val="800"/>
              </a:spcAft>
            </a:pPr>
            <a:r>
              <a:rPr sz="1500" b="0" i="0">
                <a:solidFill>
                  <a:srgbClr val="555555"/>
                </a:solidFill>
                <a:latin typeface="Times New Roman"/>
              </a:rPr>
              <a:t>Supervisor: Dr. Muhammad Hasibur Rashid Chayon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2000" b="0" i="0">
                <a:solidFill>
                  <a:srgbClr val="111111"/>
                </a:solidFill>
                <a:latin typeface="Times New Roman"/>
              </a:rPr>
              <a:t>For someone who cannot walk after a spinal cord injury or stroke, an exoskeleton driven by their own brain activity restores mobility. Only non-invasive EEG requires no surgery, so it is the only version most patients could ever use.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429000"/>
            <a:ext cx="10908792" cy="1234440"/>
          </a:xfrm>
          <a:prstGeom prst="rect">
            <a:avLst/>
          </a:prstGeom>
          <a:solidFill>
            <a:srgbClr val="FFFFFF"/>
          </a:solidFill>
          <a:ln w="1651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tlCol="0" anchor="ctr"/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200" b="1" i="0">
                <a:solidFill>
                  <a:srgbClr val="111111"/>
                </a:solidFill>
                <a:latin typeface="Times New Roman"/>
              </a:rPr>
              <a:t>A confident wrong “walk” command at the top of a staircase is a fall, not a rounding error.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93776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900" b="1" i="0">
                <a:solidFill>
                  <a:srgbClr val="111111"/>
                </a:solidFill>
                <a:latin typeface="Times New Roman"/>
              </a:rPr>
              <a:t>Accuracy is the wrong target. </a:t>
            </a:r>
            <a:r>
              <a:rPr sz="1900" b="0" i="0">
                <a:solidFill>
                  <a:srgbClr val="555555"/>
                </a:solidFill>
                <a:latin typeface="Times New Roman"/>
              </a:rPr>
              <a:t>A machine that moves your legs needs honest confidence and the ability to stop.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Key Challenges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3602736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228600" rIns="203200" rtlCol="0" anchor="t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1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000" b="1" i="0">
                <a:solidFill>
                  <a:srgbClr val="111111"/>
                </a:solidFill>
                <a:latin typeface="Times New Roman"/>
              </a:rPr>
              <a:t>What is actually decoded?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600" b="0" i="0">
                <a:solidFill>
                  <a:srgbClr val="555555"/>
                </a:solidFill>
                <a:latin typeface="Times New Roman"/>
              </a:rPr>
              <a:t>The exoskeleton moves the wearer during walking, so accuracy can reflect movement rather than neural intent.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4548" y="1691640"/>
            <a:ext cx="3602736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228600" rIns="203200" rtlCol="0" anchor="t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2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000" b="1" i="0">
                <a:solidFill>
                  <a:srgbClr val="111111"/>
                </a:solidFill>
                <a:latin typeface="Times New Roman"/>
              </a:rPr>
              <a:t>The signal drifts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600" b="0" i="0">
                <a:solidFill>
                  <a:srgbClr val="555555"/>
                </a:solidFill>
                <a:latin typeface="Times New Roman"/>
              </a:rPr>
              <a:t>EEG is non-stationary; a decoder calibrated one day is miscalibrated the next, over weeks of use.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9016" y="1691640"/>
            <a:ext cx="3602736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228600" rIns="203200" rtlCol="0" anchor="t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3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000" b="1" i="0">
                <a:solidFill>
                  <a:srgbClr val="111111"/>
                </a:solidFill>
                <a:latin typeface="Times New Roman"/>
              </a:rPr>
              <a:t>No reject option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600" b="0" i="0">
                <a:solidFill>
                  <a:srgbClr val="555555"/>
                </a:solidFill>
                <a:latin typeface="Times New Roman"/>
              </a:rPr>
              <a:t>Deployed decoders must guess every input; they cannot abstain to a safe stop when unsure.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Objectives and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  <a:spcAft>
                <a:spcPts val="800"/>
              </a:spcAft>
            </a:pPr>
            <a:r>
              <a:rPr sz="2400" b="1" i="0">
                <a:solidFill>
                  <a:srgbClr val="111111"/>
                </a:solidFill>
                <a:latin typeface="Times New Roman"/>
              </a:rPr>
              <a:t>O1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664208"/>
            <a:ext cx="96926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100" b="1" i="0">
                <a:solidFill>
                  <a:srgbClr val="111111"/>
                </a:solidFill>
                <a:latin typeface="Times New Roman"/>
              </a:rPr>
              <a:t>Movement-invariant intent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600" b="0" i="0">
                <a:solidFill>
                  <a:srgbClr val="555555"/>
                </a:solidFill>
                <a:latin typeface="Times New Roman"/>
              </a:rPr>
              <a:t>Outcome: tested with a conditional leakage probe and an ICA retraining control; most of the accuracy is neural.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35224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  <a:spcAft>
                <a:spcPts val="800"/>
              </a:spcAft>
            </a:pPr>
            <a:r>
              <a:rPr sz="2400" b="1" i="0">
                <a:solidFill>
                  <a:srgbClr val="111111"/>
                </a:solidFill>
                <a:latin typeface="Times New Roman"/>
              </a:rPr>
              <a:t>O2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907792"/>
            <a:ext cx="96926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100" b="1" i="0">
                <a:solidFill>
                  <a:srgbClr val="111111"/>
                </a:solidFill>
                <a:latin typeface="Times New Roman"/>
              </a:rPr>
              <a:t>Calibrated across time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600" b="0" i="0">
                <a:solidFill>
                  <a:srgbClr val="555555"/>
                </a:solidFill>
                <a:latin typeface="Times New Roman"/>
              </a:rPr>
              <a:t>Outcome: the main contribution. A label-free alignment layer adapts at test time and removes 46 % and 63 % of session drift.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178808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  <a:spcAft>
                <a:spcPts val="800"/>
              </a:spcAft>
            </a:pPr>
            <a:r>
              <a:rPr sz="2400" b="1" i="0">
                <a:solidFill>
                  <a:srgbClr val="111111"/>
                </a:solidFill>
                <a:latin typeface="Times New Roman"/>
              </a:rPr>
              <a:t>O3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4151376"/>
            <a:ext cx="96926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100" b="1" i="0">
                <a:solidFill>
                  <a:srgbClr val="111111"/>
                </a:solidFill>
                <a:latin typeface="Times New Roman"/>
              </a:rPr>
              <a:t>Abstain with a guarantee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600" b="0" i="0">
                <a:solidFill>
                  <a:srgbClr val="555555"/>
                </a:solidFill>
                <a:latin typeface="Times New Roman"/>
              </a:rPr>
              <a:t>Outcome: the selective head is kept as an option in the decoder; its gains in accuracy were not demonstrated, so the paper makes no claim for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6235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1" i="0">
                <a:solidFill>
                  <a:srgbClr val="111111"/>
                </a:solidFill>
                <a:latin typeface="Times New Roman"/>
              </a:rPr>
              <a:t>Question answered:  </a:t>
            </a:r>
            <a:r>
              <a:rPr sz="1700" b="0" i="1">
                <a:solidFill>
                  <a:srgbClr val="555555"/>
                </a:solidFill>
                <a:latin typeface="Times New Roman"/>
              </a:rPr>
              <a:t>when does test-time alignment help a longitudinal EEG decoder, and when does it harm it?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Literature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26517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9700" tIns="165100" rIns="114300" rtlCol="0" anchor="t"/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111111"/>
                </a:solidFill>
                <a:latin typeface="Times New Roman"/>
              </a:rPr>
              <a:t>Lower-limb exoskeleton BCI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0" i="0">
                <a:solidFill>
                  <a:srgbClr val="555555"/>
                </a:solidFill>
                <a:latin typeface="Times New Roman"/>
              </a:rPr>
              <a:t>NeuroRex dataset  [Sarkar 2026]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0" i="0">
                <a:solidFill>
                  <a:srgbClr val="555555"/>
                </a:solidFill>
                <a:latin typeface="Times New Roman"/>
              </a:rPr>
              <a:t>Deep-learning control  [Ferrero 2024]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0" i="0">
                <a:solidFill>
                  <a:srgbClr val="555555"/>
                </a:solidFill>
                <a:latin typeface="Times New Roman"/>
              </a:rPr>
              <a:t>Exo error potentials  [Soriano 2025]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0" i="0">
                <a:solidFill>
                  <a:srgbClr val="555555"/>
                </a:solidFill>
                <a:latin typeface="Times New Roman"/>
              </a:rPr>
              <a:t>Robot-assisted gait  [Tortora 2023]</a:t>
            </a:r>
          </a:p>
        </p:txBody>
      </p:sp>
      <p:sp>
        <p:nvSpPr>
          <p:cNvPr id="6" name="Rectangle 5"/>
          <p:cNvSpPr/>
          <p:nvPr/>
        </p:nvSpPr>
        <p:spPr>
          <a:xfrm>
            <a:off x="3395167" y="1508760"/>
            <a:ext cx="26517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9700" tIns="165100" rIns="114300" rtlCol="0" anchor="t"/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111111"/>
                </a:solidFill>
                <a:latin typeface="Times New Roman"/>
              </a:rPr>
              <a:t>EEG decoders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0" i="0">
                <a:solidFill>
                  <a:srgbClr val="555555"/>
                </a:solidFill>
                <a:latin typeface="Times New Roman"/>
              </a:rPr>
              <a:t>EEGNet  [Lawhern 2018]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0" i="0">
                <a:solidFill>
                  <a:srgbClr val="555555"/>
                </a:solidFill>
                <a:latin typeface="Times New Roman"/>
              </a:rPr>
              <a:t>ShallowFBCSPNet  [Schirrmeister 2017]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0" i="0">
                <a:solidFill>
                  <a:srgbClr val="555555"/>
                </a:solidFill>
                <a:latin typeface="Times New Roman"/>
              </a:rPr>
              <a:t>EEG-Conformer  [Song 2023]</a:t>
            </a:r>
          </a:p>
        </p:txBody>
      </p:sp>
      <p:sp>
        <p:nvSpPr>
          <p:cNvPr id="7" name="Rectangle 6"/>
          <p:cNvSpPr/>
          <p:nvPr/>
        </p:nvSpPr>
        <p:spPr>
          <a:xfrm>
            <a:off x="6150254" y="1508760"/>
            <a:ext cx="26517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9700" tIns="165100" rIns="114300" rtlCol="0" anchor="t"/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111111"/>
                </a:solidFill>
                <a:latin typeface="Times New Roman"/>
              </a:rPr>
              <a:t>Alignment and transfer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0" i="0">
                <a:solidFill>
                  <a:srgbClr val="555555"/>
                </a:solidFill>
                <a:latin typeface="Times New Roman"/>
              </a:rPr>
              <a:t>Euclidean alignment  [He 2020]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0" i="0">
                <a:solidFill>
                  <a:srgbClr val="555555"/>
                </a:solidFill>
                <a:latin typeface="Times New Roman"/>
              </a:rPr>
              <a:t>Riemannian Procrustes  [Rodrigues 2019]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0" i="0">
                <a:solidFill>
                  <a:srgbClr val="555555"/>
                </a:solidFill>
                <a:latin typeface="Times New Roman"/>
              </a:rPr>
              <a:t>Riemannian geom.  [Barachant 2012]</a:t>
            </a:r>
          </a:p>
        </p:txBody>
      </p:sp>
      <p:sp>
        <p:nvSpPr>
          <p:cNvPr id="8" name="Rectangle 7"/>
          <p:cNvSpPr/>
          <p:nvPr/>
        </p:nvSpPr>
        <p:spPr>
          <a:xfrm>
            <a:off x="8905341" y="1508760"/>
            <a:ext cx="26517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9700" tIns="165100" rIns="114300" rtlCol="0" anchor="t"/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111111"/>
                </a:solidFill>
                <a:latin typeface="Times New Roman"/>
              </a:rPr>
              <a:t>Test-time adaptation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0" i="0">
                <a:solidFill>
                  <a:srgbClr val="555555"/>
                </a:solidFill>
                <a:latin typeface="Times New Roman"/>
              </a:rPr>
              <a:t>Tent  [Wang 2021]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0" i="0">
                <a:solidFill>
                  <a:srgbClr val="555555"/>
                </a:solidFill>
                <a:latin typeface="Times New Roman"/>
              </a:rPr>
              <a:t>Correlated streams  [Gong 2022]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0" i="0">
                <a:solidFill>
                  <a:srgbClr val="555555"/>
                </a:solidFill>
                <a:latin typeface="Times New Roman"/>
              </a:rPr>
              <a:t>Reject option  [Geifman 2019]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343400"/>
            <a:ext cx="10908792" cy="1463040"/>
          </a:xfrm>
          <a:prstGeom prst="rect">
            <a:avLst/>
          </a:prstGeom>
          <a:solidFill>
            <a:srgbClr val="FFFFFF"/>
          </a:solidFill>
          <a:ln w="2032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0" rIns="254000" rtlCol="0" anchor="ctr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Times New Roman"/>
              </a:rPr>
              <a:t>RESEARCH GAP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900" b="0" i="0">
                <a:solidFill>
                  <a:srgbClr val="111111"/>
                </a:solidFill>
                <a:latin typeface="Times New Roman"/>
              </a:rPr>
              <a:t>Alignment corrects session drift offline, and test-time adaptation degrades on temporally correlated streams. No prior work states when a label-free alignment layer inside an EEG decoder helps or harms under a blocked recording protocol.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43600"/>
            <a:ext cx="109087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050" b="0" i="1">
                <a:solidFill>
                  <a:srgbClr val="555555"/>
                </a:solidFill>
                <a:latin typeface="Times New Roman"/>
              </a:rPr>
              <a:t>Citations shown as [first author, year]; full entries are on the References slide.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Decoder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58064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11111"/>
                </a:solidFill>
                <a:latin typeface="Times New Roman"/>
              </a:rPr>
              <a:t>Proposed configuration, align + gate, 24,181 parameters:  </a:t>
            </a:r>
            <a:r>
              <a:rPr sz="1600" b="0" i="0">
                <a:solidFill>
                  <a:srgbClr val="555555"/>
                </a:solidFill>
                <a:latin typeface="Times New Roman"/>
              </a:rPr>
              <a:t>a covariance alignment layer that keeps updating on unlabelled test data, a multi-scale power stem and a selective head. The cross-epoch context is optional and adds 594,816 parameters.</a:t>
            </a:r>
          </a:p>
        </p:txBody>
      </p:sp>
      <p:pic>
        <p:nvPicPr>
          <p:cNvPr id="7" name="Picture 6" descr="fig_arch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1921006"/>
            <a:ext cx="10607040" cy="319886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Core Idea and Hypothesis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1300"/>
              </a:spcAft>
            </a:pPr>
            <a:r>
              <a:rPr sz="1900" b="1" i="0">
                <a:solidFill>
                  <a:srgbClr val="111111"/>
                </a:solidFill>
                <a:latin typeface="Times New Roman"/>
              </a:rPr>
              <a:t>•  Align inside the network:</a:t>
            </a:r>
            <a:r>
              <a:rPr sz="1900" b="0" i="0">
                <a:solidFill>
                  <a:srgbClr val="555555"/>
                </a:solidFill>
                <a:latin typeface="Times New Roman"/>
              </a:rPr>
              <a:t> a running spatial covariance whitens every window and keeps updating on unlabelled test data.</a:t>
            </a:r>
          </a:p>
          <a:p>
            <a:pPr algn="l">
              <a:lnSpc>
                <a:spcPct val="118000"/>
              </a:lnSpc>
              <a:spcAft>
                <a:spcPts val="1300"/>
              </a:spcAft>
            </a:pPr>
            <a:r>
              <a:rPr sz="1900" b="1" i="0">
                <a:solidFill>
                  <a:srgbClr val="111111"/>
                </a:solidFill>
                <a:latin typeface="Times New Roman"/>
              </a:rPr>
              <a:t>•  Estimator memory:</a:t>
            </a:r>
            <a:r>
              <a:rPr sz="1900" b="0" i="0">
                <a:solidFill>
                  <a:srgbClr val="555555"/>
                </a:solidFill>
                <a:latin typeface="Times New Roman"/>
              </a:rPr>
              <a:t> the momentum m sets a memory of about 32/m windows, 160 at the default m = 0.2.</a:t>
            </a:r>
          </a:p>
          <a:p>
            <a:pPr algn="l">
              <a:lnSpc>
                <a:spcPct val="118000"/>
              </a:lnSpc>
              <a:spcAft>
                <a:spcPts val="1300"/>
              </a:spcAft>
            </a:pPr>
            <a:r>
              <a:rPr sz="1900" b="1" i="0">
                <a:solidFill>
                  <a:srgbClr val="111111"/>
                </a:solidFill>
                <a:latin typeface="Times New Roman"/>
              </a:rPr>
              <a:t>•  The failure mode:</a:t>
            </a:r>
            <a:r>
              <a:rPr sz="1900" b="0" i="0">
                <a:solidFill>
                  <a:srgbClr val="555555"/>
                </a:solidFill>
                <a:latin typeface="Times New Roman"/>
              </a:rPr>
              <a:t> when one class streams for longer than that memory, the estimate becomes that class and whitens the difference away.</a:t>
            </a:r>
          </a:p>
          <a:p>
            <a:pPr algn="l">
              <a:lnSpc>
                <a:spcPct val="118000"/>
              </a:lnSpc>
              <a:spcAft>
                <a:spcPts val="1300"/>
              </a:spcAft>
            </a:pPr>
            <a:r>
              <a:rPr sz="1900" b="1" i="0">
                <a:solidFill>
                  <a:srgbClr val="111111"/>
                </a:solidFill>
                <a:latin typeface="Times New Roman"/>
              </a:rPr>
              <a:t>•  A rule before training:</a:t>
            </a:r>
            <a:r>
              <a:rPr sz="1900" b="0" i="0">
                <a:solidFill>
                  <a:srgbClr val="555555"/>
                </a:solidFill>
                <a:latin typeface="Times New Roman"/>
              </a:rPr>
              <a:t> the memory must outlast a class block, which is read from the recording protocol.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892040"/>
            <a:ext cx="10908792" cy="1325880"/>
          </a:xfrm>
          <a:prstGeom prst="rect">
            <a:avLst/>
          </a:prstGeom>
          <a:solidFill>
            <a:srgbClr val="FFFFFF"/>
          </a:solidFill>
          <a:ln w="1651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 i="0">
                <a:solidFill>
                  <a:srgbClr val="111111"/>
                </a:solidFill>
                <a:latin typeface="Times New Roman"/>
              </a:rPr>
              <a:t>HYPOTHESIS   </a:t>
            </a:r>
            <a:r>
              <a:rPr sz="1800" b="0" i="1">
                <a:solidFill>
                  <a:srgbClr val="111111"/>
                </a:solidFill>
                <a:latin typeface="Times New Roman"/>
              </a:rPr>
              <a:t>Alignment helps where class blocks are shorter than the estimator's memory and harms where they are longer, and the protocol tells which case applies before training.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Three Cohorts, One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3602736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228600" rIns="203200" rtlCol="0" anchor="t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A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000" b="1" i="0">
                <a:solidFill>
                  <a:srgbClr val="111111"/>
                </a:solidFill>
                <a:latin typeface="Times New Roman"/>
              </a:rPr>
              <a:t>Exoskeleton  [Sarkar 2026]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600" b="0" i="0">
                <a:solidFill>
                  <a:srgbClr val="555555"/>
                </a:solidFill>
                <a:latin typeface="Times New Roman"/>
              </a:rPr>
              <a:t>7 participants, 9 sessions over weeks. Fitted on sessions 1 to 3, tested on 4 to 9. Class blocks of 18 windows.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4548" y="1691640"/>
            <a:ext cx="3602736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228600" rIns="203200" rtlCol="0" anchor="t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B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000" b="1" i="0">
                <a:solidFill>
                  <a:srgbClr val="111111"/>
                </a:solidFill>
                <a:latin typeface="Times New Roman"/>
              </a:rPr>
              <a:t>Treadmill  [Luu 2017]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600" b="0" i="0">
                <a:solidFill>
                  <a:srgbClr val="555555"/>
                </a:solidFill>
                <a:latin typeface="Times New Roman"/>
              </a:rPr>
              <a:t>8 participants, 3 trials, an independent laboratory. Class blocks of 309 windows, longer than the estimator's memory.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9016" y="1691640"/>
            <a:ext cx="3602736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228600" rIns="203200" rtlCol="0" anchor="t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C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000" b="1" i="0">
                <a:solidFill>
                  <a:srgbClr val="111111"/>
                </a:solidFill>
                <a:latin typeface="Times New Roman"/>
              </a:rPr>
              <a:t>Motor execution  [Schalk 2004]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600" b="0" i="0">
                <a:solidFill>
                  <a:srgbClr val="555555"/>
                </a:solidFill>
                <a:latin typeface="Times New Roman"/>
              </a:rPr>
              <a:t>20 participants of PhysioNet EEGMMIDB. Class blocks of 5 windows. Predictions committed before any model was trained.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3492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700" b="1" i="0">
                <a:solidFill>
                  <a:srgbClr val="111111"/>
                </a:solidFill>
                <a:latin typeface="Times New Roman"/>
              </a:rPr>
              <a:t>Same settings for every model:  </a:t>
            </a:r>
            <a:r>
              <a:rPr sz="1700" b="0" i="0">
                <a:solidFill>
                  <a:srgbClr val="555555"/>
                </a:solidFill>
                <a:latin typeface="Times New Roman"/>
              </a:rPr>
              <a:t>8 to 30 Hz, AdamW, early stopping, temperature scaling and three data-split seeds, with seven published decoders trained in the identical pipeline.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Session Drift Removed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58064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11111"/>
                </a:solidFill>
                <a:latin typeface="Times New Roman"/>
              </a:rPr>
              <a:t>15 of 15 participants:  </a:t>
            </a:r>
            <a:r>
              <a:rPr sz="1600" b="0" i="0">
                <a:solidFill>
                  <a:srgbClr val="555555"/>
                </a:solidFill>
                <a:latin typeface="Times New Roman"/>
              </a:rPr>
              <a:t>alignment reduces session-to-session covariance distance by 45.9 % on cohort A and 62.5 % on cohort B, while the no-op control leaves it unchanged.</a:t>
            </a:r>
          </a:p>
        </p:txBody>
      </p:sp>
      <p:pic>
        <p:nvPicPr>
          <p:cNvPr id="7" name="Picture 6" descr="fig_dr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511" y="1417320"/>
            <a:ext cx="9879072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Per-Participant Drift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5331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50" b="0" i="1">
                <a:solidFill>
                  <a:srgbClr val="555555"/>
                </a:solidFill>
                <a:latin typeface="Times New Roman"/>
              </a:rPr>
              <a:t>Riemannian distance between the fitting-session covariance and the held-out sessions, before and after alignment.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532120"/>
            <a:ext cx="1090879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500" b="1" i="0">
                <a:solidFill>
                  <a:srgbClr val="111111"/>
                </a:solidFill>
                <a:latin typeface="Times New Roman"/>
              </a:rPr>
              <a:t>Cohort A:  </a:t>
            </a:r>
            <a:r>
              <a:rPr sz="1500" b="0" i="0">
                <a:solidFill>
                  <a:srgbClr val="555555"/>
                </a:solidFill>
                <a:latin typeface="Times New Roman"/>
              </a:rPr>
              <a:t>a reduction of 38.7 to 51.2 % per participant, and no participant regresses.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500" b="1" i="0">
                <a:solidFill>
                  <a:srgbClr val="111111"/>
                </a:solidFill>
                <a:latin typeface="Times New Roman"/>
              </a:rPr>
              <a:t>Cohort B:  </a:t>
            </a:r>
            <a:r>
              <a:rPr sz="1500" b="0" i="0">
                <a:solidFill>
                  <a:srgbClr val="555555"/>
                </a:solidFill>
                <a:latin typeface="Times New Roman"/>
              </a:rPr>
              <a:t>43.8 to 82.1 %. The no-op control stays within 0.1 % of the raw distance for every participant.</a:t>
            </a:r>
          </a:p>
        </p:txBody>
      </p:sp>
      <p:pic>
        <p:nvPicPr>
          <p:cNvPr id="12" name="Picture 11" descr="tab_dr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3757" y="1783080"/>
            <a:ext cx="3741436" cy="36118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Comparison with Published Decoders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5331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50" b="0" i="1">
                <a:solidFill>
                  <a:srgbClr val="555555"/>
                </a:solidFill>
                <a:latin typeface="Times New Roman"/>
              </a:rPr>
              <a:t>Balanced accuracy (Acc) and calibration error (ECE), mean over three data-split seeds; every model trained in one pipeline.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46320"/>
            <a:ext cx="10908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150" b="0" i="1">
                <a:solidFill>
                  <a:srgbClr val="555555"/>
                </a:solidFill>
                <a:latin typeface="Times New Roman"/>
              </a:rPr>
              <a:t>† near chance for at least five of twenty participants, a training failure under the shared settings.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166360"/>
            <a:ext cx="10908792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1" i="0">
                <a:solidFill>
                  <a:srgbClr val="111111"/>
                </a:solidFill>
                <a:latin typeface="Times New Roman"/>
              </a:rPr>
              <a:t>Takeaway:  </a:t>
            </a:r>
            <a:r>
              <a:rPr sz="1600" b="0" i="0">
                <a:solidFill>
                  <a:srgbClr val="555555"/>
                </a:solidFill>
                <a:latin typeface="Times New Roman"/>
              </a:rPr>
              <a:t>level with the published decoders on cohort A (0.868 against 0.817 to 0.876), highest on cohort C (0.796), and level on cohort B once alignment is off (0.729 against 0.617 to 0.734).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1" i="0">
                <a:solidFill>
                  <a:srgbClr val="111111"/>
                </a:solidFill>
                <a:latin typeface="Times New Roman"/>
              </a:rPr>
              <a:t>No size advantage:  </a:t>
            </a:r>
            <a:r>
              <a:rPr sz="1600" b="0" i="0">
                <a:solidFill>
                  <a:srgbClr val="555555"/>
                </a:solidFill>
                <a:latin typeface="Times New Roman"/>
              </a:rPr>
              <a:t>FBLightConvNet has 23,760 parameters against 24,181. The contribution is the alignment layer and the rule that switches it.</a:t>
            </a:r>
          </a:p>
        </p:txBody>
      </p:sp>
      <p:pic>
        <p:nvPicPr>
          <p:cNvPr id="12" name="Picture 11" descr="tab_compare_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1315" y="1783080"/>
            <a:ext cx="7966320" cy="306324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The Estimator Tracks the Streaming Class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58064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11111"/>
                </a:solidFill>
                <a:latin typeface="Times New Roman"/>
              </a:rPr>
              <a:t>One participant per cohort:  </a:t>
            </a:r>
            <a:r>
              <a:rPr sz="1600" b="0" i="0">
                <a:solidFill>
                  <a:srgbClr val="555555"/>
                </a:solidFill>
                <a:latin typeface="Times New Roman"/>
              </a:rPr>
              <a:t>on cohort A the estimate stays between the classes; on cohort B it moves onto the class being streamed and follows it through the walk block. Slowing it slows the migration.</a:t>
            </a:r>
          </a:p>
        </p:txBody>
      </p:sp>
      <p:pic>
        <p:nvPicPr>
          <p:cNvPr id="7" name="Picture 6" descr="fig_class_trac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9349" y="1325880"/>
            <a:ext cx="6399396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Cost of Alignment on Cohort B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5331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50" b="0" i="1">
                <a:solidFill>
                  <a:srgbClr val="555555"/>
                </a:solidFill>
                <a:latin typeface="Times New Roman"/>
              </a:rPr>
              <a:t>Cohort B, three data-split seeds: align + gate minus gate only (0.729), paired within participant.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17720"/>
            <a:ext cx="10908792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1" i="0">
                <a:solidFill>
                  <a:srgbClr val="111111"/>
                </a:solidFill>
                <a:latin typeface="Times New Roman"/>
              </a:rPr>
              <a:t>Takeaway:  </a:t>
            </a:r>
            <a:r>
              <a:rPr sz="1600" b="0" i="0">
                <a:solidFill>
                  <a:srgbClr val="555555"/>
                </a:solidFill>
                <a:latin typeface="Times New Roman"/>
              </a:rPr>
              <a:t>alignment costs 0.149 at the default rate, lower in 8 of 8 participants. Slowing adaptation recovers 0.118, with no step at the 309-window block length.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1" i="0">
                <a:solidFill>
                  <a:srgbClr val="111111"/>
                </a:solidFill>
                <a:latin typeface="Times New Roman"/>
              </a:rPr>
              <a:t>At slow rates:  </a:t>
            </a:r>
            <a:r>
              <a:rPr sz="1600" b="0" i="0">
                <a:solidFill>
                  <a:srgbClr val="555555"/>
                </a:solidFill>
                <a:latin typeface="Times New Roman"/>
              </a:rPr>
              <a:t>the remaining cost of about 0.03 is not significant, and the layer never becomes beneficial on this cohort.</a:t>
            </a:r>
          </a:p>
        </p:txBody>
      </p:sp>
      <p:pic>
        <p:nvPicPr>
          <p:cNvPr id="12" name="Picture 11" descr="tab_rate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966631"/>
            <a:ext cx="8138160" cy="2284657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A Prediction Registered in Advance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5331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50" b="0" i="1">
                <a:solidFill>
                  <a:srgbClr val="555555"/>
                </a:solidFill>
                <a:latin typeface="Times New Roman"/>
              </a:rPr>
              <a:t>Cohort C, seed 0, exactly as committed to version control before any model was trained on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69080"/>
            <a:ext cx="10908792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1" i="0">
                <a:solidFill>
                  <a:srgbClr val="111111"/>
                </a:solidFill>
                <a:latin typeface="Times New Roman"/>
              </a:rPr>
              <a:t>Both predictions held:  </a:t>
            </a:r>
            <a:r>
              <a:rPr sz="1600" b="0" i="0">
                <a:solidFill>
                  <a:srgbClr val="555555"/>
                </a:solidFill>
                <a:latin typeface="Times New Roman"/>
              </a:rPr>
              <a:t>enabling alignment cost nothing (+0.002) and slowing it brought no gain (−0.006), where slowing had recovered 0.090 on cohort B.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1" i="0">
                <a:solidFill>
                  <a:srgbClr val="111111"/>
                </a:solidFill>
                <a:latin typeface="Times New Roman"/>
              </a:rPr>
              <a:t>Two further seeds agree:  </a:t>
            </a:r>
            <a:r>
              <a:rPr sz="1600" b="0" i="0">
                <a:solidFill>
                  <a:srgbClr val="555555"/>
                </a:solidFill>
                <a:latin typeface="Times New Roman"/>
              </a:rPr>
              <a:t>alignment +0.014 (p = 0.17); slowing costs 0.016, lower in 15 of 20 participants (p = 0.003).</a:t>
            </a:r>
          </a:p>
        </p:txBody>
      </p:sp>
      <p:pic>
        <p:nvPicPr>
          <p:cNvPr id="12" name="Picture 11" descr="tab_prere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85917"/>
            <a:ext cx="9966960" cy="160600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Slow Adaptation Has a Cost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1300"/>
              </a:spcAft>
            </a:pPr>
            <a:r>
              <a:rPr sz="1900" b="1" i="0">
                <a:solidFill>
                  <a:srgbClr val="111111"/>
                </a:solidFill>
                <a:latin typeface="Times New Roman"/>
              </a:rPr>
              <a:t>•  Cohort A:</a:t>
            </a:r>
            <a:r>
              <a:rPr sz="1900" b="0" i="0">
                <a:solidFill>
                  <a:srgbClr val="555555"/>
                </a:solidFill>
                <a:latin typeface="Times New Roman"/>
              </a:rPr>
              <a:t> slowing from m = 0.2 to 0.01 lowers accuracy from 0.868 to 0.819, lower in 7 of 7 participants (p = 0.016).</a:t>
            </a:r>
          </a:p>
          <a:p>
            <a:pPr algn="l">
              <a:lnSpc>
                <a:spcPct val="118000"/>
              </a:lnSpc>
              <a:spcAft>
                <a:spcPts val="1300"/>
              </a:spcAft>
            </a:pPr>
            <a:r>
              <a:rPr sz="1900" b="1" i="0">
                <a:solidFill>
                  <a:srgbClr val="111111"/>
                </a:solidFill>
                <a:latin typeface="Times New Roman"/>
              </a:rPr>
              <a:t>•  Drift removal falls with it:</a:t>
            </a:r>
            <a:r>
              <a:rPr sz="1900" b="0" i="0">
                <a:solidFill>
                  <a:srgbClr val="555555"/>
                </a:solidFill>
                <a:latin typeface="Times New Roman"/>
              </a:rPr>
              <a:t> from 45.9 % to 0.2 % on cohort A, and from 62.5 % to 11.1 % on cohort B.</a:t>
            </a:r>
          </a:p>
          <a:p>
            <a:pPr algn="l">
              <a:lnSpc>
                <a:spcPct val="118000"/>
              </a:lnSpc>
              <a:spcAft>
                <a:spcPts val="1300"/>
              </a:spcAft>
            </a:pPr>
            <a:r>
              <a:rPr sz="1900" b="1" i="0">
                <a:solidFill>
                  <a:srgbClr val="111111"/>
                </a:solidFill>
                <a:latin typeface="Times New Roman"/>
              </a:rPr>
              <a:t>•  Cohort C:</a:t>
            </a:r>
            <a:r>
              <a:rPr sz="1900" b="0" i="0">
                <a:solidFill>
                  <a:srgbClr val="555555"/>
                </a:solidFill>
                <a:latin typeface="Times New Roman"/>
              </a:rPr>
              <a:t> slowing costs 0.016 over two replication seeds (p = 0.003).</a:t>
            </a:r>
          </a:p>
          <a:p>
            <a:pPr algn="l">
              <a:lnSpc>
                <a:spcPct val="118000"/>
              </a:lnSpc>
              <a:spcAft>
                <a:spcPts val="1300"/>
              </a:spcAft>
            </a:pPr>
            <a:r>
              <a:rPr sz="1900" b="1" i="0">
                <a:solidFill>
                  <a:srgbClr val="111111"/>
                </a:solidFill>
                <a:latin typeface="Times New Roman"/>
              </a:rPr>
              <a:t>•  Cohort B:</a:t>
            </a:r>
            <a:r>
              <a:rPr sz="1900" b="0" i="0">
                <a:solidFill>
                  <a:srgbClr val="555555"/>
                </a:solidFill>
                <a:latin typeface="Times New Roman"/>
              </a:rPr>
              <a:t> slowing recovers 0.118, but the drift it still removes does not turn into accuracy.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892040"/>
            <a:ext cx="10908792" cy="1325880"/>
          </a:xfrm>
          <a:prstGeom prst="rect">
            <a:avLst/>
          </a:prstGeom>
          <a:solidFill>
            <a:srgbClr val="FFFFFF"/>
          </a:solidFill>
          <a:ln w="1651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 i="0">
                <a:solidFill>
                  <a:srgbClr val="111111"/>
                </a:solidFill>
                <a:latin typeface="Times New Roman"/>
              </a:rPr>
              <a:t>CONDITION   </a:t>
            </a:r>
            <a:r>
              <a:rPr sz="1800" b="0" i="1">
                <a:solidFill>
                  <a:srgbClr val="111111"/>
                </a:solidFill>
                <a:latin typeface="Times New Roman"/>
              </a:rPr>
              <a:t>The estimator's memory must outlast a class block. How much longer it can be before drift tracking is lost was not measured on these cohorts.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Limitations and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1300"/>
              </a:spcAft>
            </a:pPr>
            <a:r>
              <a:rPr sz="1900" b="1" i="0">
                <a:solidFill>
                  <a:srgbClr val="111111"/>
                </a:solidFill>
                <a:latin typeface="Times New Roman"/>
              </a:rPr>
              <a:t>•  Small cohorts:</a:t>
            </a:r>
            <a:r>
              <a:rPr sz="1900" b="0" i="0">
                <a:solidFill>
                  <a:srgbClr val="555555"/>
                </a:solidFill>
                <a:latin typeface="Times New Roman"/>
              </a:rPr>
              <a:t> seven, eight and twenty participants, so most paired tests have limited power.</a:t>
            </a:r>
          </a:p>
          <a:p>
            <a:pPr algn="l">
              <a:lnSpc>
                <a:spcPct val="118000"/>
              </a:lnSpc>
              <a:spcAft>
                <a:spcPts val="1300"/>
              </a:spcAft>
            </a:pPr>
            <a:r>
              <a:rPr sz="1900" b="1" i="0">
                <a:solidFill>
                  <a:srgbClr val="111111"/>
                </a:solidFill>
                <a:latin typeface="Times New Roman"/>
              </a:rPr>
              <a:t>•  Upper bound untested:</a:t>
            </a:r>
            <a:r>
              <a:rPr sz="1900" b="0" i="0">
                <a:solidFill>
                  <a:srgbClr val="555555"/>
                </a:solidFill>
                <a:latin typeface="Times New Roman"/>
              </a:rPr>
              <a:t> no cohort samples drift finely enough to measure the drift timescale.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892040"/>
            <a:ext cx="10908792" cy="1325880"/>
          </a:xfrm>
          <a:prstGeom prst="rect">
            <a:avLst/>
          </a:prstGeom>
          <a:solidFill>
            <a:srgbClr val="FFFFFF"/>
          </a:solidFill>
          <a:ln w="1651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 i="0">
                <a:solidFill>
                  <a:srgbClr val="111111"/>
                </a:solidFill>
                <a:latin typeface="Times New Roman"/>
              </a:rPr>
              <a:t>NEXT   </a:t>
            </a:r>
            <a:r>
              <a:rPr sz="1800" b="0" i="1">
                <a:solidFill>
                  <a:srgbClr val="111111"/>
                </a:solidFill>
                <a:latin typeface="Times New Roman"/>
              </a:rPr>
              <a:t>Pre-register a protocol with class blocks of 100 to 200 windows and closely spaced recordings, where both bounds of the rate condition can be tested.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2000" b="0" i="0">
                <a:solidFill>
                  <a:srgbClr val="111111"/>
                </a:solidFill>
                <a:latin typeface="Times New Roman"/>
              </a:rPr>
              <a:t>A label-free alignment layer inside an EEG decoder removes session drift and keeps accuracy level with published decoders. A running estimate, however, tracks whatever is being streamed.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429000"/>
            <a:ext cx="10908792" cy="1234440"/>
          </a:xfrm>
          <a:prstGeom prst="rect">
            <a:avLst/>
          </a:prstGeom>
          <a:solidFill>
            <a:srgbClr val="FFFFFF"/>
          </a:solidFill>
          <a:ln w="1651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tlCol="0" anchor="ctr"/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200" b="1" i="0">
                <a:solidFill>
                  <a:srgbClr val="111111"/>
                </a:solidFill>
                <a:latin typeface="Times New Roman"/>
              </a:rPr>
              <a:t>Its memory must outlast a class block, a rule read from the recording protocol before any model is trained.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93776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900" b="1" i="0">
                <a:solidFill>
                  <a:srgbClr val="111111"/>
                </a:solidFill>
                <a:latin typeface="Times New Roman"/>
              </a:rPr>
              <a:t>The rule predicted a new cohort in advance.  </a:t>
            </a:r>
            <a:r>
              <a:rPr sz="1900" b="0" i="0">
                <a:solidFill>
                  <a:srgbClr val="555555"/>
                </a:solidFill>
                <a:latin typeface="Times New Roman"/>
              </a:rPr>
              <a:t>Where it holds, alignment helps a little; where it fails, alignment costs 0.149.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0" i="1">
                <a:solidFill>
                  <a:srgbClr val="555555"/>
                </a:solidFill>
                <a:latin typeface="Times New Roman"/>
              </a:rPr>
              <a:t>Works cited on these slides, keyed to their [author, year] tags.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44068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00" b="1" i="0">
                <a:solidFill>
                  <a:srgbClr val="111111"/>
                </a:solidFill>
                <a:latin typeface="Times New Roman"/>
              </a:rPr>
              <a:t>[Sarkar 2026]  </a:t>
            </a:r>
            <a:r>
              <a:rPr sz="1050" b="0" i="0">
                <a:solidFill>
                  <a:srgbClr val="555555"/>
                </a:solidFill>
                <a:latin typeface="Times New Roman"/>
              </a:rPr>
              <a:t>S. Sarkar et al., “EEG-controlled exoskeleton for walking and standing: a longitudinal multimodal dataset,” Sci. Data, 2026. (OpenNeuro ds007788)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00" b="1" i="0">
                <a:solidFill>
                  <a:srgbClr val="111111"/>
                </a:solidFill>
                <a:latin typeface="Times New Roman"/>
              </a:rPr>
              <a:t>[Ferrero 2024]  </a:t>
            </a:r>
            <a:r>
              <a:rPr sz="1050" b="0" i="0">
                <a:solidFill>
                  <a:srgbClr val="555555"/>
                </a:solidFill>
                <a:latin typeface="Times New Roman"/>
              </a:rPr>
              <a:t>L. Ferrero et al., “Brain-machine interface based on deep learning to control a lower-limb robotic exoskeleton,” J. NeuroEng. Rehabil., 21(48), 2024.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00" b="1" i="0">
                <a:solidFill>
                  <a:srgbClr val="111111"/>
                </a:solidFill>
                <a:latin typeface="Times New Roman"/>
              </a:rPr>
              <a:t>[Soriano 2025]  </a:t>
            </a:r>
            <a:r>
              <a:rPr sz="1050" b="0" i="0">
                <a:solidFill>
                  <a:srgbClr val="555555"/>
                </a:solidFill>
                <a:latin typeface="Times New Roman"/>
              </a:rPr>
              <a:t>P. Soriano-Segura, M. Ortiz et al., “Characterization of error-related potentials during exoskeleton command via deep learning,” J. NeuroEng. Rehabil., 2025.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00" b="1" i="0">
                <a:solidFill>
                  <a:srgbClr val="111111"/>
                </a:solidFill>
                <a:latin typeface="Times New Roman"/>
              </a:rPr>
              <a:t>[Tortora 2023]  </a:t>
            </a:r>
            <a:r>
              <a:rPr sz="1050" b="0" i="0">
                <a:solidFill>
                  <a:srgbClr val="555555"/>
                </a:solidFill>
                <a:latin typeface="Times New Roman"/>
              </a:rPr>
              <a:t>S. Tortora et al., “Cortical and muscular activity under robot-assisted gait modes during exoskeleton walking,” 2023.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00" b="1" i="0">
                <a:solidFill>
                  <a:srgbClr val="111111"/>
                </a:solidFill>
                <a:latin typeface="Times New Roman"/>
              </a:rPr>
              <a:t>[Luu 2017]  </a:t>
            </a:r>
            <a:r>
              <a:rPr sz="1050" b="0" i="0">
                <a:solidFill>
                  <a:srgbClr val="555555"/>
                </a:solidFill>
                <a:latin typeface="Times New Roman"/>
              </a:rPr>
              <a:t>T. P. Luu et al., “Real-time EEG-based brain-computer interface to a virtual avatar enhances cortical involvement in human treadmill walking,” Sci. Rep., 7:8895, 2017.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00" b="1" i="0">
                <a:solidFill>
                  <a:srgbClr val="111111"/>
                </a:solidFill>
                <a:latin typeface="Times New Roman"/>
              </a:rPr>
              <a:t>[Schalk 2004]  </a:t>
            </a:r>
            <a:r>
              <a:rPr sz="1050" b="0" i="0">
                <a:solidFill>
                  <a:srgbClr val="555555"/>
                </a:solidFill>
                <a:latin typeface="Times New Roman"/>
              </a:rPr>
              <a:t>G. Schalk et al., “BCI2000: a general-purpose brain-computer interface (BCI) system,” IEEE TBME, 51(6):1034-1043, 2004.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00" b="1" i="0">
                <a:solidFill>
                  <a:srgbClr val="111111"/>
                </a:solidFill>
                <a:latin typeface="Times New Roman"/>
              </a:rPr>
              <a:t>[Lawhern 2018]  </a:t>
            </a:r>
            <a:r>
              <a:rPr sz="1050" b="0" i="0">
                <a:solidFill>
                  <a:srgbClr val="555555"/>
                </a:solidFill>
                <a:latin typeface="Times New Roman"/>
              </a:rPr>
              <a:t>V. J. Lawhern et al., “EEGNet: a compact CNN for EEG-based brain-computer interfaces,” J. Neural Eng., 15(5), 2018.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00" b="1" i="0">
                <a:solidFill>
                  <a:srgbClr val="111111"/>
                </a:solidFill>
                <a:latin typeface="Times New Roman"/>
              </a:rPr>
              <a:t>[Schirrmeister 2017]  </a:t>
            </a:r>
            <a:r>
              <a:rPr sz="1050" b="0" i="0">
                <a:solidFill>
                  <a:srgbClr val="555555"/>
                </a:solidFill>
                <a:latin typeface="Times New Roman"/>
              </a:rPr>
              <a:t>R. T. Schirrmeister et al., “Deep learning with convolutional neural networks for EEG decoding and visualization,” Hum. Brain Mapp., 38(11):5391-5420, 2017.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783080"/>
            <a:ext cx="525780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00" b="1" i="0">
                <a:solidFill>
                  <a:srgbClr val="111111"/>
                </a:solidFill>
                <a:latin typeface="Times New Roman"/>
              </a:rPr>
              <a:t>[Song 2023]  </a:t>
            </a:r>
            <a:r>
              <a:rPr sz="1050" b="0" i="0">
                <a:solidFill>
                  <a:srgbClr val="555555"/>
                </a:solidFill>
                <a:latin typeface="Times New Roman"/>
              </a:rPr>
              <a:t>Y. Song et al., “EEG Conformer: convolutional transformer for EEG decoding and visualization,” IEEE TNSRE, 31:710-719, 2023.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00" b="1" i="0">
                <a:solidFill>
                  <a:srgbClr val="111111"/>
                </a:solidFill>
                <a:latin typeface="Times New Roman"/>
              </a:rPr>
              <a:t>[He 2020]  </a:t>
            </a:r>
            <a:r>
              <a:rPr sz="1050" b="0" i="0">
                <a:solidFill>
                  <a:srgbClr val="555555"/>
                </a:solidFill>
                <a:latin typeface="Times New Roman"/>
              </a:rPr>
              <a:t>H. He and D. Wu, “Transfer learning for brain-computer interfaces: a Euclidean space data alignment approach,” IEEE TBME, 67(2):399-410, 2020.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00" b="1" i="0">
                <a:solidFill>
                  <a:srgbClr val="111111"/>
                </a:solidFill>
                <a:latin typeface="Times New Roman"/>
              </a:rPr>
              <a:t>[Rodrigues 2019]  </a:t>
            </a:r>
            <a:r>
              <a:rPr sz="1050" b="0" i="0">
                <a:solidFill>
                  <a:srgbClr val="555555"/>
                </a:solidFill>
                <a:latin typeface="Times New Roman"/>
              </a:rPr>
              <a:t>P. L. C. Rodrigues et al., “Riemannian Procrustes analysis: transfer learning for brain-computer interfaces,” IEEE TBME, 66(8):2390-2401, 2019.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00" b="1" i="0">
                <a:solidFill>
                  <a:srgbClr val="111111"/>
                </a:solidFill>
                <a:latin typeface="Times New Roman"/>
              </a:rPr>
              <a:t>[Barachant 2012]  </a:t>
            </a:r>
            <a:r>
              <a:rPr sz="1050" b="0" i="0">
                <a:solidFill>
                  <a:srgbClr val="555555"/>
                </a:solidFill>
                <a:latin typeface="Times New Roman"/>
              </a:rPr>
              <a:t>A. Barachant et al., “Multiclass brain-computer interface classification by Riemannian geometry,” IEEE TBME, 59(4), 2012.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00" b="1" i="0">
                <a:solidFill>
                  <a:srgbClr val="111111"/>
                </a:solidFill>
                <a:latin typeface="Times New Roman"/>
              </a:rPr>
              <a:t>[Wang 2021]  </a:t>
            </a:r>
            <a:r>
              <a:rPr sz="1050" b="0" i="0">
                <a:solidFill>
                  <a:srgbClr val="555555"/>
                </a:solidFill>
                <a:latin typeface="Times New Roman"/>
              </a:rPr>
              <a:t>D. Wang et al., “Tent: fully test-time adaptation by entropy minimization,” ICLR, 2021.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00" b="1" i="0">
                <a:solidFill>
                  <a:srgbClr val="111111"/>
                </a:solidFill>
                <a:latin typeface="Times New Roman"/>
              </a:rPr>
              <a:t>[Gong 2022]  </a:t>
            </a:r>
            <a:r>
              <a:rPr sz="1050" b="0" i="0">
                <a:solidFill>
                  <a:srgbClr val="555555"/>
                </a:solidFill>
                <a:latin typeface="Times New Roman"/>
              </a:rPr>
              <a:t>T. Gong et al., “NOTE: robust continual test-time adaptation against temporal correlation,” NeurIPS, 2022.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00" b="1" i="0">
                <a:solidFill>
                  <a:srgbClr val="111111"/>
                </a:solidFill>
                <a:latin typeface="Times New Roman"/>
              </a:rPr>
              <a:t>[Geifman 2019]  </a:t>
            </a:r>
            <a:r>
              <a:rPr sz="1050" b="0" i="0">
                <a:solidFill>
                  <a:srgbClr val="555555"/>
                </a:solidFill>
                <a:latin typeface="Times New Roman"/>
              </a:rPr>
              <a:t>Y. Geifman and R. El-Yaniv, “SelectiveNet: a deep neural network with an integrated reject option,” ICML, 2019.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1241</Words>
  <Application>Microsoft Office PowerPoint</Application>
  <PresentationFormat>Widescreen</PresentationFormat>
  <Paragraphs>159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Shuvo</dc:creator>
  <cp:keywords/>
  <dc:description>generated using python-pptx</dc:description>
  <cp:lastModifiedBy>Wahiduzzaman Suva</cp:lastModifiedBy>
  <cp:revision>1</cp:revision>
  <dcterms:created xsi:type="dcterms:W3CDTF">2013-01-27T09:14:16Z</dcterms:created>
  <dcterms:modified xsi:type="dcterms:W3CDTF">2026-09-17T13:50:22Z</dcterms:modified>
  <cp:category/>
</cp:coreProperties>
</file>