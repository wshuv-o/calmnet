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6A5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2000" b="0" i="0">
                <a:solidFill>
                  <a:srgbClr val="CEC9F7"/>
                </a:solidFill>
                <a:latin typeface="Segoe UI"/>
              </a:rPr>
              <a:t>Backup slides for Q&amp;A — evidence, method detail, evaluation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EVIDENCE · THE CONFOUND IS NOT AN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A motion sensor beats EEG on every subject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B1</a:t>
            </a:r>
          </a:p>
        </p:txBody>
      </p:sp>
      <p:pic>
        <p:nvPicPr>
          <p:cNvPr id="6" name="Picture 5" descr="bk_confoun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406640" cy="3525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103120"/>
            <a:ext cx="356616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0" i="0">
                <a:solidFill>
                  <a:srgbClr val="1A1830"/>
                </a:solidFill>
                <a:latin typeface="Segoe UI"/>
              </a:rPr>
              <a:t>IMU-only mean </a:t>
            </a:r>
            <a:r>
              <a:rPr sz="1800" b="1" i="0">
                <a:solidFill>
                  <a:srgbClr val="C0392B"/>
                </a:solidFill>
                <a:latin typeface="Segoe UI"/>
              </a:rPr>
              <a:t>0.92</a:t>
            </a:r>
            <a:r>
              <a:rPr sz="1800" b="0" i="0">
                <a:solidFill>
                  <a:srgbClr val="1A1830"/>
                </a:solidFill>
                <a:latin typeface="Segoe UI"/>
              </a:rPr>
              <a:t> vs EEG </a:t>
            </a:r>
            <a:r>
              <a:rPr sz="1800" b="1" i="0">
                <a:solidFill>
                  <a:srgbClr val="6A5AF9"/>
                </a:solidFill>
                <a:latin typeface="Segoe UI"/>
              </a:rPr>
              <a:t>0.84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55536B"/>
                </a:solidFill>
                <a:latin typeface="Segoe UI"/>
              </a:rPr>
              <a:t>Perfect (</a:t>
            </a:r>
            <a:r>
              <a:rPr sz="1700" b="1" i="0">
                <a:solidFill>
                  <a:srgbClr val="C0392B"/>
                </a:solidFill>
                <a:latin typeface="Segoe UI"/>
              </a:rPr>
              <a:t>1.00</a:t>
            </a:r>
            <a:r>
              <a:rPr sz="1700" b="0" i="0">
                <a:solidFill>
                  <a:srgbClr val="55536B"/>
                </a:solidFill>
                <a:latin typeface="Segoe UI"/>
              </a:rPr>
              <a:t>) for S4 and S7 — you cannot get 1.00 on a biological signal; that is the label read twice.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1A1830"/>
                </a:solidFill>
                <a:latin typeface="Segoe UI"/>
              </a:rPr>
              <a:t>The walk/stop label is a function of the exoskeleton's motion.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FAIR COMPARISON · ARE WE BEHIND EEGNET?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No — the gap was the confound, not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B2</a:t>
            </a:r>
          </a:p>
        </p:txBody>
      </p:sp>
      <p:pic>
        <p:nvPicPr>
          <p:cNvPr id="6" name="Picture 5" descr="bk_ap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6675120" cy="35179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2103120"/>
            <a:ext cx="420624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A1830"/>
                </a:solidFill>
                <a:latin typeface="Segoe UI"/>
              </a:rPr>
              <a:t>When EEGNet is put through the SAME movement-invariant test, it also falls to 0.65.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0" i="0">
                <a:solidFill>
                  <a:srgbClr val="55536B"/>
                </a:solidFill>
                <a:latin typeface="Segoe UI"/>
              </a:rPr>
              <a:t>The famous 13-point “gap” to EEGNet is entirely the confound: inflated-EEGNet vs invariant-us. On equal footing, honest decoding is tied.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1" i="0">
                <a:solidFill>
                  <a:srgbClr val="6A5AF9"/>
                </a:solidFill>
                <a:latin typeface="Segoe UI"/>
              </a:rPr>
              <a:t>Our edge is elsewhere: calibration, coverage guarantee, and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PROPOSED METHOD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CALM-Net, four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B3</a:t>
            </a:r>
          </a:p>
        </p:txBody>
      </p:sp>
      <p:pic>
        <p:nvPicPr>
          <p:cNvPr id="6" name="Picture 5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039" y="1737360"/>
            <a:ext cx="4325616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7200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Encoder — 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multi-band spatial features from EEG + head/exo IMU + EOG.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MID — 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adversarial + HSIC penalty force the intent code to be independent of the IMU.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LSC — 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temperature scaling + adaptive conformal → distribution-free coverage under drift.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SAS — 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commit only if confident, unambiguous, and uncontaminated; else safe STOP.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METHOD · MOTION-INVARIANT DISENTANGLEMENT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How we remove movement from the neural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Target φ(M):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a 12-D descriptor of head + exo IMU (accel/gyro magnitude, mean/std/max).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Split: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the representation is divided into an intent subspace and an artefact subspace.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Adversary (gradient reversal):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the encoder is trained so the intent code CANNOT predict φ(M).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HSIC penalty: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a nonlinear independence term drives intent ⟂ movement (beyond linear decorrelation).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Artefact head: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the other subspace is trained TO predict φ(M), absorbing the movement.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Result: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the classifier reads only the intent subspace → provably movement-invariant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METHOD · GUARANTEE +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How we stay calibrated, and how we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Longitudinal self-calibration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Temperature scaling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for honest confidence on a held-out split.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Split + adaptive conformal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updates the threshold online: q ← q + η(α − err).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Guarantee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prediction-set coverage tracks its target as the signal drifts.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949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Evaluation protocol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Longitudinal split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— train early sessions, test later ones (no leakage).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Balanced accuracy + ECE + Brier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— accuracy and calibration.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Coverage @ target + wrong-walk rate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— the safety metrics.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Movement-invariance probe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— intent→IMU R² confirms honesty.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600" b="1" i="0">
                <a:solidFill>
                  <a:srgbClr val="1A1830"/>
                </a:solidFill>
                <a:latin typeface="Segoe UI"/>
              </a:rPr>
              <a:t>Baselines</a:t>
            </a:r>
            <a:r>
              <a:rPr sz="1600" b="0" i="0">
                <a:solidFill>
                  <a:srgbClr val="55536B"/>
                </a:solidFill>
                <a:latin typeface="Segoe UI"/>
              </a:rPr>
              <a:t> — EEGNet, EEG-Conformer, and the IMU-only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DATASET &amp; KEY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NeuroRex (OpenNeuro ds007788)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800" b="1" i="0">
                <a:solidFill>
                  <a:srgbClr val="1A1830"/>
                </a:solidFill>
                <a:latin typeface="Segoe UI"/>
              </a:rPr>
              <a:t>7 healthy adults × 9 sessions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 over 14–80 days · 60-ch EEG + 4 EOG @ 100 Hz · head &amp; exoskeleton IMUs · exoskeleton feedback logs · Walk vs Stop motor imagery · BIDS, CC0.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 i="0">
                <a:solidFill>
                  <a:srgbClr val="6A5AF9"/>
                </a:solidFill>
                <a:latin typeface="Segoe UI"/>
              </a:rPr>
              <a:t>Selected references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Sarkar et al. (2026) — NeuroRex dataset. Scientific Data.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Lawhern et al. (2018) — EEGNet. J. Neural Eng.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Song et al. (2023) — EEG Conformer. IEEE TNSRE.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Ganin et al. (2016) — Domain-adversarial training (gradient reversal). JMLR.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Gibbs &amp; Candès (2021) — Adaptive conformal inference. NeurIPS.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5536B"/>
                </a:solidFill>
                <a:latin typeface="Segoe UI"/>
              </a:rPr>
              <a:t>Geifman &amp; El-Yaniv (2019) — SelectiveNet. ICML.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RESULT · ARCHITECTURE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We tried 5 architectures — none beats the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B7</a:t>
            </a:r>
          </a:p>
        </p:txBody>
      </p:sp>
      <p:pic>
        <p:nvPicPr>
          <p:cNvPr id="6" name="Picture 5" descr="bk_cei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7040880" cy="36130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2103120"/>
            <a:ext cx="3931920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 i="0">
                <a:solidFill>
                  <a:srgbClr val="1A1830"/>
                </a:solidFill>
                <a:latin typeface="Segoe UI"/>
              </a:rPr>
              <a:t>EEGNet, band-power, Riemannian + attention, and a graph net over the scalp geometry — all land at ~0.65 when made movement-invariant.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700" b="0" i="0">
                <a:solidFill>
                  <a:srgbClr val="55536B"/>
                </a:solidFill>
                <a:latin typeface="Segoe UI"/>
              </a:rPr>
              <a:t>The bottleneck is not the model. The movement-invariant neural signal is simply weak — and equal for every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RESULT · WE TRIED TO RAISE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Five independent attempts — all confirm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Stronger disentanglement (HSIC):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richer model’s accuracy collapses to 0.65 — its lead was leakage.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Pre-movement window: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the IMU still scores 0.94 at the transition — no movement-free window exists.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EEG + IMU fusion: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equals IMU-only (0.92); EEG adds nothing over the motion sensor.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5× more training data: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helps weak subjects reach the ceiling, but never exceeds it.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•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Graph over electrode geometry: 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a new prior, still ~0.65 invariant.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10908792" cy="868680"/>
          </a:xfrm>
          <a:prstGeom prst="rect">
            <a:avLst/>
          </a:prstGeom>
          <a:solidFill>
            <a:srgbClr val="1A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The ceiling is real: this is a movement benchmark, not a brain-decoding benchmark. That is the finding.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1" i="0">
                <a:solidFill>
                  <a:srgbClr val="6A5AF9"/>
                </a:solidFill>
                <a:latin typeface="Segoe UI"/>
              </a:rPr>
              <a:t>RESULT · WHAT CALM-NET ACTUALLY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000" b="1" i="0">
                <a:solidFill>
                  <a:srgbClr val="1A1830"/>
                </a:solidFill>
                <a:latin typeface="Segoe UI"/>
              </a:rPr>
              <a:t>The win is trustworthiness, not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00" b="0" i="0">
                <a:solidFill>
                  <a:srgbClr val="55536B"/>
                </a:solidFill>
                <a:latin typeface="Segoe UI"/>
              </a:rPr>
              <a:t>CALM-Net  ·  Appendix (backup)</a:t>
            </a:r>
            <a:r>
              <a:rPr sz="1100" b="0" i="0">
                <a:solidFill>
                  <a:srgbClr val="55536B"/>
                </a:solidFill>
                <a:latin typeface="Segoe UI"/>
              </a:rPr>
              <a:t>          B9</a:t>
            </a:r>
          </a:p>
        </p:txBody>
      </p:sp>
      <p:pic>
        <p:nvPicPr>
          <p:cNvPr id="6" name="Picture 5" descr="fig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7040880" cy="2422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2011680"/>
            <a:ext cx="393192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✓ 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Coverage guarantee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 held on all 7 subjects (0.90) as the signal drifts — static conformal fails.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✓ 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Calibration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 improved across the session gap (ECE 0.15 → 0.11).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800" b="1" i="0">
                <a:solidFill>
                  <a:srgbClr val="6A5AF9"/>
                </a:solidFill>
                <a:latin typeface="Segoe UI"/>
              </a:rPr>
              <a:t>✓  </a:t>
            </a:r>
            <a:r>
              <a:rPr sz="1800" b="1" i="0">
                <a:solidFill>
                  <a:srgbClr val="1A1830"/>
                </a:solidFill>
                <a:latin typeface="Segoe UI"/>
              </a:rPr>
              <a:t>Wrong-walk error</a:t>
            </a:r>
            <a:r>
              <a:rPr sz="1800" b="0" i="0">
                <a:solidFill>
                  <a:srgbClr val="55536B"/>
                </a:solidFill>
                <a:latin typeface="Segoe UI"/>
              </a:rPr>
              <a:t> cut 3× (0.14 → 0.05) — the dangerous error, controlled.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